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75" r:id="rId4"/>
    <p:sldId id="259" r:id="rId5"/>
    <p:sldId id="276" r:id="rId6"/>
    <p:sldId id="258" r:id="rId7"/>
    <p:sldId id="277" r:id="rId8"/>
    <p:sldId id="294" r:id="rId9"/>
    <p:sldId id="279" r:id="rId10"/>
    <p:sldId id="296" r:id="rId11"/>
    <p:sldId id="278" r:id="rId12"/>
    <p:sldId id="297" r:id="rId13"/>
    <p:sldId id="299" r:id="rId14"/>
    <p:sldId id="288" r:id="rId15"/>
    <p:sldId id="301" r:id="rId16"/>
    <p:sldId id="302" r:id="rId17"/>
    <p:sldId id="289" r:id="rId18"/>
    <p:sldId id="293" r:id="rId19"/>
    <p:sldId id="284" r:id="rId20"/>
    <p:sldId id="287" r:id="rId21"/>
    <p:sldId id="312" r:id="rId22"/>
    <p:sldId id="290" r:id="rId23"/>
    <p:sldId id="308" r:id="rId24"/>
    <p:sldId id="309" r:id="rId25"/>
    <p:sldId id="310" r:id="rId26"/>
    <p:sldId id="303" r:id="rId27"/>
    <p:sldId id="291" r:id="rId28"/>
    <p:sldId id="285" r:id="rId29"/>
    <p:sldId id="292" r:id="rId30"/>
    <p:sldId id="311" r:id="rId31"/>
    <p:sldId id="304" r:id="rId32"/>
    <p:sldId id="281" r:id="rId33"/>
    <p:sldId id="305" r:id="rId34"/>
    <p:sldId id="273" r:id="rId3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C4D8"/>
    <a:srgbClr val="33CCCC"/>
    <a:srgbClr val="8194A9"/>
    <a:srgbClr val="CC00FF"/>
    <a:srgbClr val="FFCC00"/>
    <a:srgbClr val="0099FF"/>
    <a:srgbClr val="AAFFAA"/>
    <a:srgbClr val="FF3300"/>
    <a:srgbClr val="FFFFFF"/>
    <a:srgbClr val="3A86B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ijl, gemiddeld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20" autoAdjust="0"/>
  </p:normalViewPr>
  <p:slideViewPr>
    <p:cSldViewPr snapToGrid="0" snapToObjects="1">
      <p:cViewPr varScale="1">
        <p:scale>
          <a:sx n="105" d="100"/>
          <a:sy n="105" d="100"/>
        </p:scale>
        <p:origin x="102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7DBD42-E37A-4441-A08F-F50F26AD8D2D}" type="datetimeFigureOut">
              <a:rPr lang="nl-BE" smtClean="0"/>
              <a:t>26/05/2026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4965FE-E126-49D4-817A-BFEF24427433}" type="slidenum">
              <a:rPr lang="nl-BE" smtClean="0"/>
              <a:t>‹nr.›</a:t>
            </a:fld>
            <a:endParaRPr lang="nl-BE"/>
          </a:p>
        </p:txBody>
      </p:sp>
    </p:spTree>
    <p:extLst>
      <p:ext uri="{BB962C8B-B14F-4D97-AF65-F5344CB8AC3E}">
        <p14:creationId xmlns:p14="http://schemas.microsoft.com/office/powerpoint/2010/main" val="2155528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5257BB2-6C6B-4C81-B0E7-03D5D6EA0F55}"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245613-CA84-426B-AF53-F1D278C2D8C8}"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B8AAEC-89F3-440A-A5BE-6CC266B1F68B}"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447D324-99A6-4ACF-8208-255BA66B7BD2}" type="datetime1">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901333-7C9A-42F8-A398-00D10ADBAF95}" type="datetime1">
              <a:rPr lang="en-US" smtClean="0"/>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DC9585-5D8B-4932-9C07-A4106421E230}" type="datetime1">
              <a:rPr lang="en-US" smtClean="0"/>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9DBB3E-5F8D-4053-AD48-6DDC3800140B}" type="datetime1">
              <a:rPr lang="en-US" smtClean="0"/>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C7BF1C-0923-4E13-A6D6-C267767810F9}" type="datetime1">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091A27-2924-4BA9-B775-6618722FEBE6}" type="datetime1">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C7CDE-87BF-4F80-A0F7-07224B50AC9F}"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BD54-9240-4E21-9CF2-D70B61E69CCE}"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BB2352-B4A7-44B3-A9DA-B0E30BC279C0}" type="datetime1">
              <a:rPr lang="en-US" smtClean="0"/>
              <a:t>5/26/2026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hyperlink" Target="http://localhost/"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5029200" cy="6858000"/>
          </a:xfrm>
          <a:prstGeom prst="rect">
            <a:avLst/>
          </a:prstGeom>
          <a:solidFill>
            <a:srgbClr val="0A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20040" y="320040"/>
            <a:ext cx="731520" cy="731520"/>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4572000" cy="1077218"/>
          </a:xfrm>
          <a:prstGeom prst="rect">
            <a:avLst/>
          </a:prstGeom>
          <a:noFill/>
        </p:spPr>
        <p:txBody>
          <a:bodyPr wrap="square">
            <a:spAutoFit/>
          </a:bodyPr>
          <a:lstStyle/>
          <a:p>
            <a:r>
              <a:rPr sz="6400" b="1" dirty="0">
                <a:solidFill>
                  <a:srgbClr val="0099FF"/>
                </a:solidFill>
              </a:rPr>
              <a:t>VROOM</a:t>
            </a:r>
          </a:p>
        </p:txBody>
      </p:sp>
      <p:sp>
        <p:nvSpPr>
          <p:cNvPr id="8" name="TextBox 7"/>
          <p:cNvSpPr txBox="1"/>
          <p:nvPr/>
        </p:nvSpPr>
        <p:spPr>
          <a:xfrm>
            <a:off x="457200" y="2697480"/>
            <a:ext cx="4572000" cy="1005840"/>
          </a:xfrm>
          <a:prstGeom prst="rect">
            <a:avLst/>
          </a:prstGeom>
          <a:noFill/>
        </p:spPr>
        <p:txBody>
          <a:bodyPr wrap="square">
            <a:spAutoFit/>
          </a:bodyPr>
          <a:lstStyle/>
          <a:p>
            <a:pPr algn="l"/>
            <a:r>
              <a:rPr sz="1400" b="0" i="0" dirty="0">
                <a:solidFill>
                  <a:srgbClr val="B0C4D8"/>
                </a:solidFill>
              </a:rPr>
              <a:t>Vehicle-aware Regulation for
Optimized Orchestration of urban Mobility</a:t>
            </a:r>
          </a:p>
        </p:txBody>
      </p:sp>
      <p:sp>
        <p:nvSpPr>
          <p:cNvPr id="9" name="Rectangle 8"/>
          <p:cNvSpPr/>
          <p:nvPr/>
        </p:nvSpPr>
        <p:spPr>
          <a:xfrm>
            <a:off x="457200" y="3794760"/>
            <a:ext cx="4023360"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886200"/>
            <a:ext cx="4206240" cy="430887"/>
          </a:xfrm>
          <a:prstGeom prst="rect">
            <a:avLst/>
          </a:prstGeom>
          <a:noFill/>
        </p:spPr>
        <p:txBody>
          <a:bodyPr wrap="square">
            <a:spAutoFit/>
          </a:bodyPr>
          <a:lstStyle/>
          <a:p>
            <a:pPr algn="l"/>
            <a:r>
              <a:rPr lang="nl-BE" sz="2200" b="1" dirty="0" err="1">
                <a:solidFill>
                  <a:srgbClr val="FFFFFF"/>
                </a:solidFill>
              </a:rPr>
              <a:t>Final</a:t>
            </a:r>
            <a:r>
              <a:rPr lang="nl-BE" sz="2200" b="1" dirty="0">
                <a:solidFill>
                  <a:srgbClr val="FFFFFF"/>
                </a:solidFill>
              </a:rPr>
              <a:t> Presentation</a:t>
            </a:r>
            <a:endParaRPr sz="2200" b="1" i="0" dirty="0">
              <a:solidFill>
                <a:srgbClr val="FFFFFF"/>
              </a:solidFill>
            </a:endParaRPr>
          </a:p>
        </p:txBody>
      </p:sp>
      <p:sp>
        <p:nvSpPr>
          <p:cNvPr id="11" name="Rectangle 10"/>
          <p:cNvSpPr/>
          <p:nvPr/>
        </p:nvSpPr>
        <p:spPr>
          <a:xfrm>
            <a:off x="457200" y="4480560"/>
            <a:ext cx="1417320" cy="292608"/>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4507992"/>
            <a:ext cx="1417320" cy="292608"/>
          </a:xfrm>
          <a:prstGeom prst="rect">
            <a:avLst/>
          </a:prstGeom>
          <a:noFill/>
        </p:spPr>
        <p:txBody>
          <a:bodyPr wrap="square">
            <a:spAutoFit/>
          </a:bodyPr>
          <a:lstStyle/>
          <a:p>
            <a:pPr algn="ctr"/>
            <a:r>
              <a:rPr sz="1000" b="1" i="0">
                <a:solidFill>
                  <a:srgbClr val="0D1B2A"/>
                </a:solidFill>
              </a:rPr>
              <a:t>Research Project AIN</a:t>
            </a:r>
          </a:p>
        </p:txBody>
      </p:sp>
      <p:sp>
        <p:nvSpPr>
          <p:cNvPr id="13" name="Rectangle 12"/>
          <p:cNvSpPr/>
          <p:nvPr/>
        </p:nvSpPr>
        <p:spPr>
          <a:xfrm>
            <a:off x="1965960" y="4480560"/>
            <a:ext cx="1417320" cy="292608"/>
          </a:xfrm>
          <a:prstGeom prst="round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965960" y="4507992"/>
            <a:ext cx="1417320" cy="292608"/>
          </a:xfrm>
          <a:prstGeom prst="rect">
            <a:avLst/>
          </a:prstGeom>
          <a:noFill/>
        </p:spPr>
        <p:txBody>
          <a:bodyPr wrap="square">
            <a:spAutoFit/>
          </a:bodyPr>
          <a:lstStyle/>
          <a:p>
            <a:pPr algn="ctr"/>
            <a:r>
              <a:rPr sz="1000" b="1" i="0">
                <a:solidFill>
                  <a:srgbClr val="0D1B2A"/>
                </a:solidFill>
              </a:rPr>
              <a:t>2025 – 2026</a:t>
            </a:r>
          </a:p>
        </p:txBody>
      </p:sp>
      <p:sp>
        <p:nvSpPr>
          <p:cNvPr id="15" name="Rectangle 14"/>
          <p:cNvSpPr/>
          <p:nvPr/>
        </p:nvSpPr>
        <p:spPr>
          <a:xfrm>
            <a:off x="3474720" y="4480560"/>
            <a:ext cx="1417320" cy="292608"/>
          </a:xfrm>
          <a:prstGeom prst="round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0" y="4507992"/>
            <a:ext cx="1417320" cy="246221"/>
          </a:xfrm>
          <a:prstGeom prst="rect">
            <a:avLst/>
          </a:prstGeom>
          <a:noFill/>
        </p:spPr>
        <p:txBody>
          <a:bodyPr wrap="square">
            <a:spAutoFit/>
          </a:bodyPr>
          <a:lstStyle/>
          <a:p>
            <a:pPr algn="ctr"/>
            <a:r>
              <a:rPr sz="1000" b="1" i="0" dirty="0">
                <a:solidFill>
                  <a:srgbClr val="0D1B2A"/>
                </a:solidFill>
              </a:rPr>
              <a:t>PXL </a:t>
            </a:r>
          </a:p>
        </p:txBody>
      </p:sp>
      <p:sp>
        <p:nvSpPr>
          <p:cNvPr id="17" name="TextBox 16"/>
          <p:cNvSpPr txBox="1"/>
          <p:nvPr/>
        </p:nvSpPr>
        <p:spPr>
          <a:xfrm>
            <a:off x="457200" y="4983480"/>
            <a:ext cx="4389120" cy="365760"/>
          </a:xfrm>
          <a:prstGeom prst="rect">
            <a:avLst/>
          </a:prstGeom>
          <a:noFill/>
        </p:spPr>
        <p:txBody>
          <a:bodyPr wrap="square">
            <a:spAutoFit/>
          </a:bodyPr>
          <a:lstStyle/>
          <a:p>
            <a:pPr algn="l"/>
            <a:r>
              <a:rPr sz="1600" b="0" i="1">
                <a:solidFill>
                  <a:srgbClr val="00E596"/>
                </a:solidFill>
              </a:rPr>
              <a:t>SAM – Smart &amp; Adaptive Mobility</a:t>
            </a:r>
          </a:p>
        </p:txBody>
      </p:sp>
      <p:sp>
        <p:nvSpPr>
          <p:cNvPr id="19" name="Rectangle 18"/>
          <p:cNvSpPr/>
          <p:nvPr/>
        </p:nvSpPr>
        <p:spPr>
          <a:solidFill>
            <a:srgbClr val="0D1B2A">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6126480"/>
            <a:ext cx="4572000" cy="365760"/>
          </a:xfrm>
          <a:prstGeom prst="rect">
            <a:avLst/>
          </a:prstGeom>
          <a:noFill/>
        </p:spPr>
        <p:txBody>
          <a:bodyPr wrap="square">
            <a:spAutoFit/>
          </a:bodyPr>
          <a:lstStyle/>
          <a:p>
            <a:pPr algn="l"/>
            <a:r>
              <a:rPr sz="1100" b="0" i="0" dirty="0">
                <a:solidFill>
                  <a:srgbClr val="B0C4D8"/>
                </a:solidFill>
              </a:rPr>
              <a:t>42TIN2150 – Research Project AIN</a:t>
            </a:r>
          </a:p>
        </p:txBody>
      </p:sp>
      <p:pic>
        <p:nvPicPr>
          <p:cNvPr id="25" name="Afbeelding 24" descr="Afbeelding met Lettertype, Graphics, logo, symbool&#10;&#10;Door AI gegenereerde inhoud is mogelijk onjuist.">
            <a:extLst>
              <a:ext uri="{FF2B5EF4-FFF2-40B4-BE49-F238E27FC236}">
                <a16:creationId xmlns:a16="http://schemas.microsoft.com/office/drawing/2014/main" id="{0E7F80AC-F5C1-24E2-7674-49DF3E443213}"/>
              </a:ext>
            </a:extLst>
          </p:cNvPr>
          <p:cNvPicPr>
            <a:picLocks noChangeAspect="1"/>
          </p:cNvPicPr>
          <p:nvPr/>
        </p:nvPicPr>
        <p:blipFill>
          <a:blip r:embed="rId2"/>
          <a:srcRect b="6231"/>
          <a:stretch>
            <a:fillRect/>
          </a:stretch>
        </p:blipFill>
        <p:spPr>
          <a:xfrm>
            <a:off x="320040" y="320040"/>
            <a:ext cx="731520" cy="7315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Tijdelijke aanduiding voor dianummer 25">
            <a:extLst>
              <a:ext uri="{FF2B5EF4-FFF2-40B4-BE49-F238E27FC236}">
                <a16:creationId xmlns:a16="http://schemas.microsoft.com/office/drawing/2014/main" id="{CE6FDA23-3A4C-854D-99B9-31B381E4C010}"/>
              </a:ext>
            </a:extLst>
          </p:cNvPr>
          <p:cNvSpPr>
            <a:spLocks noGrp="1"/>
          </p:cNvSpPr>
          <p:nvPr>
            <p:ph type="sldNum" sz="quarter" idx="12"/>
          </p:nvPr>
        </p:nvSpPr>
        <p:spPr>
          <a:xfrm>
            <a:off x="10055352" y="6438011"/>
            <a:ext cx="2133600" cy="365125"/>
          </a:xfrm>
        </p:spPr>
        <p:txBody>
          <a:bodyPr/>
          <a:lstStyle/>
          <a:p>
            <a:fld id="{C1FF6DA9-008F-8B48-92A6-B652298478BF}" type="slidenum">
              <a:rPr lang="en-US" smtClean="0"/>
              <a:t>1</a:t>
            </a:fld>
            <a:endParaRPr lang="en-US"/>
          </a:p>
        </p:txBody>
      </p:sp>
      <p:sp>
        <p:nvSpPr>
          <p:cNvPr id="28" name="Tekstvak 27">
            <a:extLst>
              <a:ext uri="{FF2B5EF4-FFF2-40B4-BE49-F238E27FC236}">
                <a16:creationId xmlns:a16="http://schemas.microsoft.com/office/drawing/2014/main" id="{0C1608D4-2ACF-0986-A340-8B2684819583}"/>
              </a:ext>
            </a:extLst>
          </p:cNvPr>
          <p:cNvSpPr txBox="1"/>
          <p:nvPr/>
        </p:nvSpPr>
        <p:spPr>
          <a:xfrm>
            <a:off x="5029200" y="4368582"/>
            <a:ext cx="7159752" cy="2123658"/>
          </a:xfrm>
          <a:prstGeom prst="rect">
            <a:avLst/>
          </a:prstGeom>
          <a:noFill/>
        </p:spPr>
        <p:txBody>
          <a:bodyPr wrap="square" rtlCol="0">
            <a:spAutoFit/>
          </a:bodyPr>
          <a:lstStyle/>
          <a:p>
            <a:r>
              <a:rPr lang="nl-BE" sz="4400" dirty="0">
                <a:solidFill>
                  <a:schemeClr val="bg1"/>
                </a:solidFill>
              </a:rPr>
              <a:t>Glenn Claes</a:t>
            </a:r>
          </a:p>
          <a:p>
            <a:r>
              <a:rPr lang="nl-BE" sz="4400" dirty="0" err="1">
                <a:solidFill>
                  <a:schemeClr val="bg1"/>
                </a:solidFill>
              </a:rPr>
              <a:t>Muhammed</a:t>
            </a:r>
            <a:r>
              <a:rPr lang="nl-BE" sz="4400" dirty="0">
                <a:solidFill>
                  <a:schemeClr val="bg1"/>
                </a:solidFill>
              </a:rPr>
              <a:t> </a:t>
            </a:r>
            <a:r>
              <a:rPr lang="nl-BE" sz="4400" dirty="0" err="1">
                <a:solidFill>
                  <a:schemeClr val="bg1"/>
                </a:solidFill>
              </a:rPr>
              <a:t>Kömürboga</a:t>
            </a:r>
            <a:endParaRPr lang="nl-BE" sz="4400" dirty="0">
              <a:solidFill>
                <a:schemeClr val="bg1"/>
              </a:solidFill>
            </a:endParaRPr>
          </a:p>
          <a:p>
            <a:r>
              <a:rPr lang="nl-BE" sz="4400" dirty="0">
                <a:solidFill>
                  <a:schemeClr val="bg1"/>
                </a:solidFill>
              </a:rPr>
              <a:t>Martijn </a:t>
            </a:r>
            <a:r>
              <a:rPr lang="nl-BE" sz="4400" dirty="0" err="1">
                <a:solidFill>
                  <a:schemeClr val="bg1"/>
                </a:solidFill>
              </a:rPr>
              <a:t>Vanhengel</a:t>
            </a:r>
            <a:endParaRPr lang="nl-BE" sz="4400" dirty="0">
              <a:solidFill>
                <a:schemeClr val="bg1"/>
              </a:solidFill>
            </a:endParaRPr>
          </a:p>
        </p:txBody>
      </p:sp>
      <p:sp>
        <p:nvSpPr>
          <p:cNvPr id="29" name="Tekstvak 28">
            <a:extLst>
              <a:ext uri="{FF2B5EF4-FFF2-40B4-BE49-F238E27FC236}">
                <a16:creationId xmlns:a16="http://schemas.microsoft.com/office/drawing/2014/main" id="{CFF21CFE-F438-8B16-97FA-7F7020B1E33D}"/>
              </a:ext>
            </a:extLst>
          </p:cNvPr>
          <p:cNvSpPr txBox="1"/>
          <p:nvPr/>
        </p:nvSpPr>
        <p:spPr>
          <a:xfrm>
            <a:off x="6768084" y="1051560"/>
            <a:ext cx="3681984" cy="2215991"/>
          </a:xfrm>
          <a:prstGeom prst="rect">
            <a:avLst/>
          </a:prstGeom>
          <a:noFill/>
        </p:spPr>
        <p:txBody>
          <a:bodyPr wrap="square" rtlCol="0">
            <a:spAutoFit/>
          </a:bodyPr>
          <a:lstStyle/>
          <a:p>
            <a:r>
              <a:rPr lang="nl-BE" sz="13800" dirty="0">
                <a:solidFill>
                  <a:schemeClr val="bg1"/>
                </a:solidFill>
              </a:rPr>
              <a:t>AIN3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73152"/>
            <a:ext cx="1321196" cy="553998"/>
          </a:xfrm>
          <a:prstGeom prst="rect">
            <a:avLst/>
          </a:prstGeom>
          <a:noFill/>
        </p:spPr>
        <p:txBody>
          <a:bodyPr wrap="none">
            <a:spAutoFit/>
          </a:bodyPr>
          <a:lstStyle/>
          <a:p>
            <a:r>
              <a:rPr lang="nl-BE" sz="3000" b="1" dirty="0">
                <a:solidFill>
                  <a:srgbClr val="FFFFFF"/>
                </a:solidFill>
              </a:rPr>
              <a:t>Inhoud</a:t>
            </a:r>
            <a:endParaRPr sz="3000" b="1" dirty="0">
              <a:solidFill>
                <a:srgbClr val="FFFFFF"/>
              </a:solidFill>
            </a:endParaRPr>
          </a:p>
        </p:txBody>
      </p:sp>
      <p:sp>
        <p:nvSpPr>
          <p:cNvPr id="6" name="Rectangle 5"/>
          <p:cNvSpPr/>
          <p:nvPr/>
        </p:nvSpPr>
        <p:spPr>
          <a:xfrm>
            <a:off x="320040" y="1188720"/>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188720"/>
            <a:ext cx="54864" cy="658368"/>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84632" y="1371600"/>
            <a:ext cx="310896" cy="310896"/>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4632" y="1362456"/>
            <a:ext cx="374904" cy="276999"/>
          </a:xfrm>
          <a:prstGeom prst="rect">
            <a:avLst/>
          </a:prstGeom>
          <a:noFill/>
        </p:spPr>
        <p:txBody>
          <a:bodyPr wrap="square">
            <a:spAutoFit/>
          </a:bodyPr>
          <a:lstStyle/>
          <a:p>
            <a:pPr algn="ctr"/>
            <a:r>
              <a:rPr sz="1200" b="1" i="0">
                <a:solidFill>
                  <a:srgbClr val="0D1B2A"/>
                </a:solidFill>
              </a:rPr>
              <a:t>01</a:t>
            </a:r>
          </a:p>
        </p:txBody>
      </p:sp>
      <p:sp>
        <p:nvSpPr>
          <p:cNvPr id="10" name="TextBox 9"/>
          <p:cNvSpPr txBox="1"/>
          <p:nvPr/>
        </p:nvSpPr>
        <p:spPr>
          <a:xfrm>
            <a:off x="914400" y="1371600"/>
            <a:ext cx="4389120" cy="347472"/>
          </a:xfrm>
          <a:prstGeom prst="rect">
            <a:avLst/>
          </a:prstGeom>
          <a:noFill/>
        </p:spPr>
        <p:txBody>
          <a:bodyPr wrap="square">
            <a:spAutoFit/>
          </a:bodyPr>
          <a:lstStyle/>
          <a:p>
            <a:pPr algn="l"/>
            <a:r>
              <a:rPr lang="nl-BE" sz="1600" b="1" dirty="0">
                <a:solidFill>
                  <a:srgbClr val="FFFFFF"/>
                </a:solidFill>
              </a:rPr>
              <a:t>Probleemstelling</a:t>
            </a:r>
            <a:endParaRPr sz="1600" b="1" i="0" dirty="0">
              <a:solidFill>
                <a:srgbClr val="FFFFFF"/>
              </a:solidFill>
            </a:endParaRPr>
          </a:p>
        </p:txBody>
      </p:sp>
      <p:sp>
        <p:nvSpPr>
          <p:cNvPr id="11" name="Rectangle 10"/>
          <p:cNvSpPr/>
          <p:nvPr/>
        </p:nvSpPr>
        <p:spPr>
          <a:xfrm>
            <a:off x="320040" y="1938528"/>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040" y="1938528"/>
            <a:ext cx="54864" cy="658368"/>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84632" y="2121408"/>
            <a:ext cx="310896" cy="310896"/>
          </a:xfrm>
          <a:prstGeom prst="round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4632" y="2112264"/>
            <a:ext cx="374904" cy="276999"/>
          </a:xfrm>
          <a:prstGeom prst="rect">
            <a:avLst/>
          </a:prstGeom>
          <a:noFill/>
        </p:spPr>
        <p:txBody>
          <a:bodyPr wrap="square">
            <a:spAutoFit/>
          </a:bodyPr>
          <a:lstStyle/>
          <a:p>
            <a:pPr algn="ctr"/>
            <a:r>
              <a:rPr sz="1200" b="1" i="0">
                <a:solidFill>
                  <a:srgbClr val="0D1B2A"/>
                </a:solidFill>
              </a:rPr>
              <a:t>02</a:t>
            </a:r>
          </a:p>
        </p:txBody>
      </p:sp>
      <p:sp>
        <p:nvSpPr>
          <p:cNvPr id="15" name="TextBox 14"/>
          <p:cNvSpPr txBox="1"/>
          <p:nvPr/>
        </p:nvSpPr>
        <p:spPr>
          <a:xfrm>
            <a:off x="914400" y="2121408"/>
            <a:ext cx="4389120" cy="347472"/>
          </a:xfrm>
          <a:prstGeom prst="rect">
            <a:avLst/>
          </a:prstGeom>
          <a:noFill/>
        </p:spPr>
        <p:txBody>
          <a:bodyPr wrap="square">
            <a:spAutoFit/>
          </a:bodyPr>
          <a:lstStyle/>
          <a:p>
            <a:pPr algn="l"/>
            <a:r>
              <a:rPr lang="nl-BE" sz="1600" b="1" dirty="0">
                <a:solidFill>
                  <a:srgbClr val="FFFFFF"/>
                </a:solidFill>
              </a:rPr>
              <a:t>Projectomschrijving</a:t>
            </a:r>
            <a:endParaRPr sz="1600" b="1" i="0" dirty="0">
              <a:solidFill>
                <a:srgbClr val="FFFFFF"/>
              </a:solidFill>
            </a:endParaRPr>
          </a:p>
        </p:txBody>
      </p:sp>
      <p:sp>
        <p:nvSpPr>
          <p:cNvPr id="16" name="Rectangle 15"/>
          <p:cNvSpPr/>
          <p:nvPr/>
        </p:nvSpPr>
        <p:spPr>
          <a:xfrm>
            <a:off x="320040" y="2688336"/>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2688336"/>
            <a:ext cx="54864" cy="658368"/>
          </a:xfrm>
          <a:prstGeom prst="rect">
            <a:avLst/>
          </a:prstGeom>
          <a:solidFill>
            <a:srgbClr val="FF6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84632" y="2871216"/>
            <a:ext cx="310896" cy="310896"/>
          </a:xfrm>
          <a:prstGeom prst="roundRect">
            <a:avLst/>
          </a:prstGeom>
          <a:solidFill>
            <a:srgbClr val="FF6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4632" y="2862072"/>
            <a:ext cx="402336" cy="276999"/>
          </a:xfrm>
          <a:prstGeom prst="rect">
            <a:avLst/>
          </a:prstGeom>
          <a:noFill/>
        </p:spPr>
        <p:txBody>
          <a:bodyPr wrap="square">
            <a:spAutoFit/>
          </a:bodyPr>
          <a:lstStyle/>
          <a:p>
            <a:pPr algn="ctr"/>
            <a:r>
              <a:rPr sz="1200" b="1" i="0" dirty="0">
                <a:solidFill>
                  <a:srgbClr val="0D1B2A"/>
                </a:solidFill>
              </a:rPr>
              <a:t>03</a:t>
            </a:r>
          </a:p>
        </p:txBody>
      </p:sp>
      <p:sp>
        <p:nvSpPr>
          <p:cNvPr id="20" name="TextBox 19"/>
          <p:cNvSpPr txBox="1"/>
          <p:nvPr/>
        </p:nvSpPr>
        <p:spPr>
          <a:xfrm>
            <a:off x="914400" y="2871216"/>
            <a:ext cx="4389120" cy="347472"/>
          </a:xfrm>
          <a:prstGeom prst="rect">
            <a:avLst/>
          </a:prstGeom>
          <a:noFill/>
        </p:spPr>
        <p:txBody>
          <a:bodyPr wrap="square">
            <a:spAutoFit/>
          </a:bodyPr>
          <a:lstStyle/>
          <a:p>
            <a:pPr algn="l"/>
            <a:r>
              <a:rPr lang="nl-BE" sz="1600" b="1" dirty="0">
                <a:solidFill>
                  <a:srgbClr val="FFFFFF"/>
                </a:solidFill>
              </a:rPr>
              <a:t>Onderzoeksvraag &amp; deelvragen</a:t>
            </a:r>
            <a:endParaRPr sz="1600" b="1" i="0" dirty="0">
              <a:solidFill>
                <a:srgbClr val="FFFFFF"/>
              </a:solidFill>
            </a:endParaRPr>
          </a:p>
        </p:txBody>
      </p:sp>
      <p:sp>
        <p:nvSpPr>
          <p:cNvPr id="21" name="Rectangle 20"/>
          <p:cNvSpPr/>
          <p:nvPr/>
        </p:nvSpPr>
        <p:spPr>
          <a:xfrm>
            <a:off x="320040" y="3438144"/>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3438144"/>
            <a:ext cx="54864" cy="658368"/>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84632" y="3621024"/>
            <a:ext cx="310896" cy="310896"/>
          </a:xfrm>
          <a:prstGeom prst="round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4632" y="3611880"/>
            <a:ext cx="374904" cy="276999"/>
          </a:xfrm>
          <a:prstGeom prst="rect">
            <a:avLst/>
          </a:prstGeom>
          <a:noFill/>
        </p:spPr>
        <p:txBody>
          <a:bodyPr wrap="square">
            <a:spAutoFit/>
          </a:bodyPr>
          <a:lstStyle/>
          <a:p>
            <a:pPr algn="ctr"/>
            <a:r>
              <a:rPr sz="1200" b="1" i="0" dirty="0">
                <a:solidFill>
                  <a:srgbClr val="0D1B2A"/>
                </a:solidFill>
              </a:rPr>
              <a:t>04</a:t>
            </a:r>
          </a:p>
        </p:txBody>
      </p:sp>
      <p:sp>
        <p:nvSpPr>
          <p:cNvPr id="25" name="TextBox 24"/>
          <p:cNvSpPr txBox="1"/>
          <p:nvPr/>
        </p:nvSpPr>
        <p:spPr>
          <a:xfrm>
            <a:off x="914400" y="3621024"/>
            <a:ext cx="4389120" cy="347472"/>
          </a:xfrm>
          <a:prstGeom prst="rect">
            <a:avLst/>
          </a:prstGeom>
          <a:noFill/>
        </p:spPr>
        <p:txBody>
          <a:bodyPr wrap="square">
            <a:spAutoFit/>
          </a:bodyPr>
          <a:lstStyle/>
          <a:p>
            <a:pPr algn="l"/>
            <a:r>
              <a:rPr lang="nl-BE" sz="1600" b="1" i="0" dirty="0">
                <a:solidFill>
                  <a:srgbClr val="FFFFFF"/>
                </a:solidFill>
              </a:rPr>
              <a:t>Research</a:t>
            </a:r>
            <a:endParaRPr sz="1600" b="1" i="0" dirty="0">
              <a:solidFill>
                <a:srgbClr val="FFFFFF"/>
              </a:solidFill>
            </a:endParaRPr>
          </a:p>
        </p:txBody>
      </p:sp>
      <p:sp>
        <p:nvSpPr>
          <p:cNvPr id="26" name="Rectangle 25"/>
          <p:cNvSpPr/>
          <p:nvPr/>
        </p:nvSpPr>
        <p:spPr>
          <a:xfrm>
            <a:off x="6263640" y="1188720"/>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63640" y="1188720"/>
            <a:ext cx="54864" cy="658368"/>
          </a:xfrm>
          <a:prstGeom prst="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28232" y="1371600"/>
            <a:ext cx="310896" cy="310896"/>
          </a:xfrm>
          <a:prstGeom prst="round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28232" y="1362456"/>
            <a:ext cx="374904" cy="276999"/>
          </a:xfrm>
          <a:prstGeom prst="rect">
            <a:avLst/>
          </a:prstGeom>
          <a:noFill/>
        </p:spPr>
        <p:txBody>
          <a:bodyPr wrap="square">
            <a:spAutoFit/>
          </a:bodyPr>
          <a:lstStyle/>
          <a:p>
            <a:pPr algn="ctr"/>
            <a:r>
              <a:rPr sz="1200" b="1" i="0" dirty="0">
                <a:solidFill>
                  <a:srgbClr val="0D1B2A"/>
                </a:solidFill>
              </a:rPr>
              <a:t>0</a:t>
            </a:r>
            <a:r>
              <a:rPr lang="nl-BE" sz="1200" b="1" i="0" dirty="0">
                <a:solidFill>
                  <a:srgbClr val="0D1B2A"/>
                </a:solidFill>
              </a:rPr>
              <a:t>7</a:t>
            </a:r>
            <a:endParaRPr sz="1200" b="1" i="0" dirty="0">
              <a:solidFill>
                <a:srgbClr val="0D1B2A"/>
              </a:solidFill>
            </a:endParaRPr>
          </a:p>
        </p:txBody>
      </p:sp>
      <p:sp>
        <p:nvSpPr>
          <p:cNvPr id="30" name="TextBox 29"/>
          <p:cNvSpPr txBox="1"/>
          <p:nvPr/>
        </p:nvSpPr>
        <p:spPr>
          <a:xfrm>
            <a:off x="6858000" y="1371600"/>
            <a:ext cx="4389120" cy="347472"/>
          </a:xfrm>
          <a:prstGeom prst="rect">
            <a:avLst/>
          </a:prstGeom>
          <a:noFill/>
        </p:spPr>
        <p:txBody>
          <a:bodyPr wrap="square">
            <a:spAutoFit/>
          </a:bodyPr>
          <a:lstStyle/>
          <a:p>
            <a:pPr algn="l"/>
            <a:r>
              <a:rPr lang="nl-BE" sz="1600" b="1" i="0" dirty="0">
                <a:solidFill>
                  <a:srgbClr val="FFFFFF"/>
                </a:solidFill>
              </a:rPr>
              <a:t>Ar</a:t>
            </a:r>
            <a:r>
              <a:rPr lang="nl-BE" sz="1600" b="1" dirty="0">
                <a:solidFill>
                  <a:srgbClr val="FFFFFF"/>
                </a:solidFill>
              </a:rPr>
              <a:t>chitectuurdiagram</a:t>
            </a:r>
            <a:endParaRPr sz="1600" b="1" i="0" dirty="0">
              <a:solidFill>
                <a:srgbClr val="FFFFFF"/>
              </a:solidFill>
            </a:endParaRPr>
          </a:p>
        </p:txBody>
      </p:sp>
      <p:sp>
        <p:nvSpPr>
          <p:cNvPr id="36" name="Rectangle 35"/>
          <p:cNvSpPr/>
          <p:nvPr/>
        </p:nvSpPr>
        <p:spPr>
          <a:xfrm>
            <a:off x="6263640" y="1938528"/>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63640" y="1935734"/>
            <a:ext cx="54864" cy="658368"/>
          </a:xfrm>
          <a:prstGeom prst="rect">
            <a:avLst/>
          </a:prstGeom>
          <a:solidFill>
            <a:srgbClr val="F451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428232" y="2121408"/>
            <a:ext cx="310896" cy="310896"/>
          </a:xfrm>
          <a:prstGeom prst="roundRect">
            <a:avLst/>
          </a:prstGeom>
          <a:solidFill>
            <a:srgbClr val="F451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28232" y="2112264"/>
            <a:ext cx="374904" cy="276999"/>
          </a:xfrm>
          <a:prstGeom prst="rect">
            <a:avLst/>
          </a:prstGeom>
          <a:noFill/>
        </p:spPr>
        <p:txBody>
          <a:bodyPr wrap="square">
            <a:spAutoFit/>
          </a:bodyPr>
          <a:lstStyle/>
          <a:p>
            <a:pPr algn="ctr"/>
            <a:r>
              <a:rPr sz="1200" b="1" i="0" dirty="0">
                <a:solidFill>
                  <a:srgbClr val="0D1B2A"/>
                </a:solidFill>
              </a:rPr>
              <a:t>0</a:t>
            </a:r>
            <a:r>
              <a:rPr lang="nl-BE" sz="1200" b="1" dirty="0">
                <a:solidFill>
                  <a:srgbClr val="0D1B2A"/>
                </a:solidFill>
              </a:rPr>
              <a:t>8</a:t>
            </a:r>
            <a:endParaRPr sz="1200" b="1" i="0" dirty="0">
              <a:solidFill>
                <a:srgbClr val="0D1B2A"/>
              </a:solidFill>
            </a:endParaRPr>
          </a:p>
        </p:txBody>
      </p:sp>
      <p:sp>
        <p:nvSpPr>
          <p:cNvPr id="40" name="TextBox 39"/>
          <p:cNvSpPr txBox="1"/>
          <p:nvPr/>
        </p:nvSpPr>
        <p:spPr>
          <a:xfrm>
            <a:off x="6858000" y="2121408"/>
            <a:ext cx="4389120" cy="347472"/>
          </a:xfrm>
          <a:prstGeom prst="rect">
            <a:avLst/>
          </a:prstGeom>
          <a:noFill/>
        </p:spPr>
        <p:txBody>
          <a:bodyPr wrap="square">
            <a:spAutoFit/>
          </a:bodyPr>
          <a:lstStyle/>
          <a:p>
            <a:pPr algn="l"/>
            <a:r>
              <a:rPr lang="nl-BE" sz="1600" b="1" i="0" dirty="0">
                <a:solidFill>
                  <a:srgbClr val="FFFFFF"/>
                </a:solidFill>
              </a:rPr>
              <a:t>Ontwikkeling &amp; Sprints</a:t>
            </a:r>
            <a:endParaRPr sz="1600" b="1" i="0" dirty="0">
              <a:solidFill>
                <a:srgbClr val="FFFFFF"/>
              </a:solidFill>
            </a:endParaRPr>
          </a:p>
        </p:txBody>
      </p:sp>
      <p:sp>
        <p:nvSpPr>
          <p:cNvPr id="41" name="Rectangle 40"/>
          <p:cNvSpPr/>
          <p:nvPr/>
        </p:nvSpPr>
        <p:spPr>
          <a:xfrm>
            <a:off x="6263640" y="2688336"/>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263640" y="2694794"/>
            <a:ext cx="54864" cy="658368"/>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428232" y="2871216"/>
            <a:ext cx="310896" cy="310896"/>
          </a:xfrm>
          <a:prstGeom prst="round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28232" y="2862072"/>
            <a:ext cx="374904" cy="276999"/>
          </a:xfrm>
          <a:prstGeom prst="rect">
            <a:avLst/>
          </a:prstGeom>
          <a:noFill/>
        </p:spPr>
        <p:txBody>
          <a:bodyPr wrap="square">
            <a:spAutoFit/>
          </a:bodyPr>
          <a:lstStyle/>
          <a:p>
            <a:pPr algn="ctr"/>
            <a:r>
              <a:rPr sz="1200" b="1" i="0" dirty="0">
                <a:solidFill>
                  <a:srgbClr val="0D1B2A"/>
                </a:solidFill>
              </a:rPr>
              <a:t>0</a:t>
            </a:r>
            <a:r>
              <a:rPr lang="nl-BE" sz="1200" b="1" i="0" dirty="0">
                <a:solidFill>
                  <a:srgbClr val="0D1B2A"/>
                </a:solidFill>
              </a:rPr>
              <a:t>9</a:t>
            </a:r>
            <a:endParaRPr sz="1200" b="1" i="0" dirty="0">
              <a:solidFill>
                <a:srgbClr val="0D1B2A"/>
              </a:solidFill>
            </a:endParaRPr>
          </a:p>
        </p:txBody>
      </p:sp>
      <p:sp>
        <p:nvSpPr>
          <p:cNvPr id="45" name="TextBox 44"/>
          <p:cNvSpPr txBox="1"/>
          <p:nvPr/>
        </p:nvSpPr>
        <p:spPr>
          <a:xfrm>
            <a:off x="6858000" y="2871216"/>
            <a:ext cx="4389120" cy="347472"/>
          </a:xfrm>
          <a:prstGeom prst="rect">
            <a:avLst/>
          </a:prstGeom>
          <a:noFill/>
        </p:spPr>
        <p:txBody>
          <a:bodyPr wrap="square">
            <a:spAutoFit/>
          </a:bodyPr>
          <a:lstStyle/>
          <a:p>
            <a:pPr algn="l"/>
            <a:r>
              <a:rPr lang="nl-BE" sz="1600" b="1" dirty="0">
                <a:solidFill>
                  <a:srgbClr val="FFFFFF"/>
                </a:solidFill>
              </a:rPr>
              <a:t>Demo</a:t>
            </a:r>
            <a:endParaRPr sz="1600" b="1" i="0" dirty="0">
              <a:solidFill>
                <a:srgbClr val="FFFFFF"/>
              </a:solidFill>
            </a:endParaRPr>
          </a:p>
        </p:txBody>
      </p:sp>
      <p:sp>
        <p:nvSpPr>
          <p:cNvPr id="46" name="Tijdelijke aanduiding voor dianummer 45">
            <a:extLst>
              <a:ext uri="{FF2B5EF4-FFF2-40B4-BE49-F238E27FC236}">
                <a16:creationId xmlns:a16="http://schemas.microsoft.com/office/drawing/2014/main" id="{326632E6-B0F6-B356-C51F-0274B2E71409}"/>
              </a:ext>
            </a:extLst>
          </p:cNvPr>
          <p:cNvSpPr>
            <a:spLocks noGrp="1"/>
          </p:cNvSpPr>
          <p:nvPr>
            <p:ph type="sldNum" sz="quarter" idx="12"/>
          </p:nvPr>
        </p:nvSpPr>
        <p:spPr>
          <a:xfrm>
            <a:off x="10055225" y="6485001"/>
            <a:ext cx="2133600" cy="365125"/>
          </a:xfrm>
        </p:spPr>
        <p:txBody>
          <a:bodyPr/>
          <a:lstStyle/>
          <a:p>
            <a:fld id="{C1FF6DA9-008F-8B48-92A6-B652298478BF}" type="slidenum">
              <a:rPr lang="en-US" smtClean="0"/>
              <a:t>2</a:t>
            </a:fld>
            <a:endParaRPr lang="en-US"/>
          </a:p>
        </p:txBody>
      </p:sp>
      <p:sp>
        <p:nvSpPr>
          <p:cNvPr id="5" name="Rectangle 20">
            <a:extLst>
              <a:ext uri="{FF2B5EF4-FFF2-40B4-BE49-F238E27FC236}">
                <a16:creationId xmlns:a16="http://schemas.microsoft.com/office/drawing/2014/main" id="{E3E88F35-3A04-8763-426A-00B027FDE810}"/>
              </a:ext>
            </a:extLst>
          </p:cNvPr>
          <p:cNvSpPr/>
          <p:nvPr/>
        </p:nvSpPr>
        <p:spPr>
          <a:xfrm>
            <a:off x="320040" y="4187952"/>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21">
            <a:extLst>
              <a:ext uri="{FF2B5EF4-FFF2-40B4-BE49-F238E27FC236}">
                <a16:creationId xmlns:a16="http://schemas.microsoft.com/office/drawing/2014/main" id="{C8206A94-8FB3-FC97-1DB1-71C4D84E2E3C}"/>
              </a:ext>
            </a:extLst>
          </p:cNvPr>
          <p:cNvSpPr/>
          <p:nvPr/>
        </p:nvSpPr>
        <p:spPr>
          <a:xfrm>
            <a:off x="320040" y="4187952"/>
            <a:ext cx="54864" cy="658368"/>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22">
            <a:extLst>
              <a:ext uri="{FF2B5EF4-FFF2-40B4-BE49-F238E27FC236}">
                <a16:creationId xmlns:a16="http://schemas.microsoft.com/office/drawing/2014/main" id="{A572FC7A-B342-7136-7A43-3A7A0CA7EF3F}"/>
              </a:ext>
            </a:extLst>
          </p:cNvPr>
          <p:cNvSpPr/>
          <p:nvPr/>
        </p:nvSpPr>
        <p:spPr>
          <a:xfrm>
            <a:off x="484632" y="4370832"/>
            <a:ext cx="310896" cy="310896"/>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23">
            <a:extLst>
              <a:ext uri="{FF2B5EF4-FFF2-40B4-BE49-F238E27FC236}">
                <a16:creationId xmlns:a16="http://schemas.microsoft.com/office/drawing/2014/main" id="{D990A0AB-CF21-2153-7E6F-B54F40A2A821}"/>
              </a:ext>
            </a:extLst>
          </p:cNvPr>
          <p:cNvSpPr txBox="1"/>
          <p:nvPr/>
        </p:nvSpPr>
        <p:spPr>
          <a:xfrm>
            <a:off x="484632" y="4361688"/>
            <a:ext cx="374904" cy="276999"/>
          </a:xfrm>
          <a:prstGeom prst="rect">
            <a:avLst/>
          </a:prstGeom>
          <a:noFill/>
        </p:spPr>
        <p:txBody>
          <a:bodyPr wrap="square">
            <a:spAutoFit/>
          </a:bodyPr>
          <a:lstStyle/>
          <a:p>
            <a:pPr algn="ctr"/>
            <a:r>
              <a:rPr sz="1200" b="1" i="0" dirty="0">
                <a:solidFill>
                  <a:srgbClr val="0D1B2A"/>
                </a:solidFill>
              </a:rPr>
              <a:t>0</a:t>
            </a:r>
            <a:r>
              <a:rPr lang="nl-BE" sz="1200" b="1" i="0" dirty="0">
                <a:solidFill>
                  <a:srgbClr val="0D1B2A"/>
                </a:solidFill>
              </a:rPr>
              <a:t>5</a:t>
            </a:r>
            <a:endParaRPr sz="1200" b="1" i="0" dirty="0">
              <a:solidFill>
                <a:srgbClr val="0D1B2A"/>
              </a:solidFill>
            </a:endParaRPr>
          </a:p>
        </p:txBody>
      </p:sp>
      <p:sp>
        <p:nvSpPr>
          <p:cNvPr id="34" name="TextBox 24">
            <a:extLst>
              <a:ext uri="{FF2B5EF4-FFF2-40B4-BE49-F238E27FC236}">
                <a16:creationId xmlns:a16="http://schemas.microsoft.com/office/drawing/2014/main" id="{5C2BD0CD-F397-FB5C-A10A-10BAE942BC15}"/>
              </a:ext>
            </a:extLst>
          </p:cNvPr>
          <p:cNvSpPr txBox="1"/>
          <p:nvPr/>
        </p:nvSpPr>
        <p:spPr>
          <a:xfrm>
            <a:off x="914400" y="4370832"/>
            <a:ext cx="4389120" cy="347472"/>
          </a:xfrm>
          <a:prstGeom prst="rect">
            <a:avLst/>
          </a:prstGeom>
          <a:noFill/>
        </p:spPr>
        <p:txBody>
          <a:bodyPr wrap="square">
            <a:spAutoFit/>
          </a:bodyPr>
          <a:lstStyle/>
          <a:p>
            <a:pPr algn="l"/>
            <a:r>
              <a:rPr lang="nl-BE" sz="1600" b="1" i="0" dirty="0">
                <a:solidFill>
                  <a:srgbClr val="FFFFFF"/>
                </a:solidFill>
              </a:rPr>
              <a:t>Onderzochte oplossingen</a:t>
            </a:r>
            <a:endParaRPr sz="1600" b="1" i="0" dirty="0">
              <a:solidFill>
                <a:srgbClr val="FFFFFF"/>
              </a:solidFill>
            </a:endParaRPr>
          </a:p>
        </p:txBody>
      </p:sp>
      <p:sp>
        <p:nvSpPr>
          <p:cNvPr id="35" name="Rectangle 20">
            <a:extLst>
              <a:ext uri="{FF2B5EF4-FFF2-40B4-BE49-F238E27FC236}">
                <a16:creationId xmlns:a16="http://schemas.microsoft.com/office/drawing/2014/main" id="{AEB8E257-805B-7288-361C-C28F255738A2}"/>
              </a:ext>
            </a:extLst>
          </p:cNvPr>
          <p:cNvSpPr/>
          <p:nvPr/>
        </p:nvSpPr>
        <p:spPr>
          <a:xfrm>
            <a:off x="320040" y="4937760"/>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21">
            <a:extLst>
              <a:ext uri="{FF2B5EF4-FFF2-40B4-BE49-F238E27FC236}">
                <a16:creationId xmlns:a16="http://schemas.microsoft.com/office/drawing/2014/main" id="{97001914-7C71-781B-A1EF-44FD8D007C8E}"/>
              </a:ext>
            </a:extLst>
          </p:cNvPr>
          <p:cNvSpPr/>
          <p:nvPr/>
        </p:nvSpPr>
        <p:spPr>
          <a:xfrm>
            <a:off x="320040" y="4937760"/>
            <a:ext cx="54864" cy="658368"/>
          </a:xfrm>
          <a:prstGeom prst="rect">
            <a:avLst/>
          </a:prstGeom>
          <a:solidFill>
            <a:schemeClr val="accent5">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22">
            <a:extLst>
              <a:ext uri="{FF2B5EF4-FFF2-40B4-BE49-F238E27FC236}">
                <a16:creationId xmlns:a16="http://schemas.microsoft.com/office/drawing/2014/main" id="{416AAF68-43B3-D16D-698F-633AA4F4075E}"/>
              </a:ext>
            </a:extLst>
          </p:cNvPr>
          <p:cNvSpPr/>
          <p:nvPr/>
        </p:nvSpPr>
        <p:spPr>
          <a:xfrm>
            <a:off x="484632" y="5120640"/>
            <a:ext cx="310896" cy="310896"/>
          </a:xfrm>
          <a:prstGeom prst="roundRect">
            <a:avLst/>
          </a:prstGeom>
          <a:solidFill>
            <a:srgbClr val="B0C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23">
            <a:extLst>
              <a:ext uri="{FF2B5EF4-FFF2-40B4-BE49-F238E27FC236}">
                <a16:creationId xmlns:a16="http://schemas.microsoft.com/office/drawing/2014/main" id="{387BEAA9-6331-FB62-6EE4-FCC9DF03FC24}"/>
              </a:ext>
            </a:extLst>
          </p:cNvPr>
          <p:cNvSpPr txBox="1"/>
          <p:nvPr/>
        </p:nvSpPr>
        <p:spPr>
          <a:xfrm>
            <a:off x="484632" y="5111496"/>
            <a:ext cx="374904" cy="276999"/>
          </a:xfrm>
          <a:prstGeom prst="rect">
            <a:avLst/>
          </a:prstGeom>
          <a:noFill/>
        </p:spPr>
        <p:txBody>
          <a:bodyPr wrap="square">
            <a:spAutoFit/>
          </a:bodyPr>
          <a:lstStyle/>
          <a:p>
            <a:pPr algn="ctr"/>
            <a:r>
              <a:rPr sz="1200" b="1" i="0" dirty="0">
                <a:solidFill>
                  <a:srgbClr val="0D1B2A"/>
                </a:solidFill>
              </a:rPr>
              <a:t>0</a:t>
            </a:r>
            <a:r>
              <a:rPr lang="nl-BE" sz="1200" b="1" i="0" dirty="0">
                <a:solidFill>
                  <a:srgbClr val="0D1B2A"/>
                </a:solidFill>
              </a:rPr>
              <a:t>6</a:t>
            </a:r>
            <a:endParaRPr sz="1200" b="1" i="0" dirty="0">
              <a:solidFill>
                <a:srgbClr val="0D1B2A"/>
              </a:solidFill>
            </a:endParaRPr>
          </a:p>
        </p:txBody>
      </p:sp>
      <p:sp>
        <p:nvSpPr>
          <p:cNvPr id="50" name="TextBox 24">
            <a:extLst>
              <a:ext uri="{FF2B5EF4-FFF2-40B4-BE49-F238E27FC236}">
                <a16:creationId xmlns:a16="http://schemas.microsoft.com/office/drawing/2014/main" id="{2E74332B-AFF2-BBA2-F2C2-EE72C3B58A01}"/>
              </a:ext>
            </a:extLst>
          </p:cNvPr>
          <p:cNvSpPr txBox="1"/>
          <p:nvPr/>
        </p:nvSpPr>
        <p:spPr>
          <a:xfrm>
            <a:off x="914400" y="5120640"/>
            <a:ext cx="4389120" cy="347472"/>
          </a:xfrm>
          <a:prstGeom prst="rect">
            <a:avLst/>
          </a:prstGeom>
          <a:noFill/>
        </p:spPr>
        <p:txBody>
          <a:bodyPr wrap="square">
            <a:spAutoFit/>
          </a:bodyPr>
          <a:lstStyle/>
          <a:p>
            <a:pPr algn="l"/>
            <a:r>
              <a:rPr lang="nl-BE" sz="1600" b="1" dirty="0">
                <a:solidFill>
                  <a:srgbClr val="FFFFFF"/>
                </a:solidFill>
              </a:rPr>
              <a:t>Oplossing</a:t>
            </a:r>
            <a:endParaRPr sz="1600" b="1" i="0" dirty="0">
              <a:solidFill>
                <a:srgbClr val="FFFFFF"/>
              </a:solidFill>
            </a:endParaRPr>
          </a:p>
        </p:txBody>
      </p:sp>
      <p:sp>
        <p:nvSpPr>
          <p:cNvPr id="51" name="Rectangle 25">
            <a:extLst>
              <a:ext uri="{FF2B5EF4-FFF2-40B4-BE49-F238E27FC236}">
                <a16:creationId xmlns:a16="http://schemas.microsoft.com/office/drawing/2014/main" id="{E36FB3B1-6FDC-011C-CCD4-50CC569E13CC}"/>
              </a:ext>
            </a:extLst>
          </p:cNvPr>
          <p:cNvSpPr/>
          <p:nvPr/>
        </p:nvSpPr>
        <p:spPr>
          <a:xfrm>
            <a:off x="6263640" y="3440440"/>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26">
            <a:extLst>
              <a:ext uri="{FF2B5EF4-FFF2-40B4-BE49-F238E27FC236}">
                <a16:creationId xmlns:a16="http://schemas.microsoft.com/office/drawing/2014/main" id="{82BCB4CD-BA74-50C6-D1C2-75CE74F2B082}"/>
              </a:ext>
            </a:extLst>
          </p:cNvPr>
          <p:cNvSpPr/>
          <p:nvPr/>
        </p:nvSpPr>
        <p:spPr>
          <a:xfrm>
            <a:off x="6263640" y="3440440"/>
            <a:ext cx="54864" cy="658368"/>
          </a:xfrm>
          <a:prstGeom prst="rect">
            <a:avLst/>
          </a:prstGeom>
          <a:solidFill>
            <a:srgbClr val="33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27">
            <a:extLst>
              <a:ext uri="{FF2B5EF4-FFF2-40B4-BE49-F238E27FC236}">
                <a16:creationId xmlns:a16="http://schemas.microsoft.com/office/drawing/2014/main" id="{71CBB346-1448-47D2-E49C-9611AF7522F1}"/>
              </a:ext>
            </a:extLst>
          </p:cNvPr>
          <p:cNvSpPr/>
          <p:nvPr/>
        </p:nvSpPr>
        <p:spPr>
          <a:xfrm>
            <a:off x="6428232" y="3623320"/>
            <a:ext cx="310896" cy="310896"/>
          </a:xfrm>
          <a:prstGeom prst="roundRect">
            <a:avLst/>
          </a:prstGeom>
          <a:solidFill>
            <a:srgbClr val="33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28">
            <a:extLst>
              <a:ext uri="{FF2B5EF4-FFF2-40B4-BE49-F238E27FC236}">
                <a16:creationId xmlns:a16="http://schemas.microsoft.com/office/drawing/2014/main" id="{E6914748-FD92-AEED-8C69-33246D98125E}"/>
              </a:ext>
            </a:extLst>
          </p:cNvPr>
          <p:cNvSpPr txBox="1"/>
          <p:nvPr/>
        </p:nvSpPr>
        <p:spPr>
          <a:xfrm>
            <a:off x="6428232" y="3614176"/>
            <a:ext cx="374904" cy="276999"/>
          </a:xfrm>
          <a:prstGeom prst="rect">
            <a:avLst/>
          </a:prstGeom>
          <a:noFill/>
        </p:spPr>
        <p:txBody>
          <a:bodyPr wrap="square">
            <a:spAutoFit/>
          </a:bodyPr>
          <a:lstStyle/>
          <a:p>
            <a:pPr algn="ctr"/>
            <a:r>
              <a:rPr lang="nl-BE" sz="1200" b="1" dirty="0">
                <a:solidFill>
                  <a:srgbClr val="0D1B2A"/>
                </a:solidFill>
              </a:rPr>
              <a:t>10</a:t>
            </a:r>
            <a:endParaRPr sz="1200" b="1" i="0" dirty="0">
              <a:solidFill>
                <a:srgbClr val="0D1B2A"/>
              </a:solidFill>
            </a:endParaRPr>
          </a:p>
        </p:txBody>
      </p:sp>
      <p:sp>
        <p:nvSpPr>
          <p:cNvPr id="55" name="TextBox 29">
            <a:extLst>
              <a:ext uri="{FF2B5EF4-FFF2-40B4-BE49-F238E27FC236}">
                <a16:creationId xmlns:a16="http://schemas.microsoft.com/office/drawing/2014/main" id="{86AC95D4-4F1B-A022-7CD1-DE210977A86F}"/>
              </a:ext>
            </a:extLst>
          </p:cNvPr>
          <p:cNvSpPr txBox="1"/>
          <p:nvPr/>
        </p:nvSpPr>
        <p:spPr>
          <a:xfrm>
            <a:off x="6858000" y="3623320"/>
            <a:ext cx="4389120" cy="347472"/>
          </a:xfrm>
          <a:prstGeom prst="rect">
            <a:avLst/>
          </a:prstGeom>
          <a:noFill/>
        </p:spPr>
        <p:txBody>
          <a:bodyPr wrap="square">
            <a:spAutoFit/>
          </a:bodyPr>
          <a:lstStyle/>
          <a:p>
            <a:pPr algn="l"/>
            <a:r>
              <a:rPr lang="nl-BE" sz="1600" b="1" i="0" dirty="0">
                <a:solidFill>
                  <a:srgbClr val="FFFFFF"/>
                </a:solidFill>
              </a:rPr>
              <a:t>Conclusie</a:t>
            </a:r>
            <a:endParaRPr sz="1600" b="1" i="0" dirty="0">
              <a:solidFill>
                <a:srgbClr val="FFFFFF"/>
              </a:solidFill>
            </a:endParaRPr>
          </a:p>
        </p:txBody>
      </p:sp>
      <p:sp>
        <p:nvSpPr>
          <p:cNvPr id="56" name="Rectangle 35">
            <a:extLst>
              <a:ext uri="{FF2B5EF4-FFF2-40B4-BE49-F238E27FC236}">
                <a16:creationId xmlns:a16="http://schemas.microsoft.com/office/drawing/2014/main" id="{4D96B6B5-EC53-F2D5-C137-1936B17F09A6}"/>
              </a:ext>
            </a:extLst>
          </p:cNvPr>
          <p:cNvSpPr/>
          <p:nvPr/>
        </p:nvSpPr>
        <p:spPr>
          <a:xfrm>
            <a:off x="6263640" y="4190248"/>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36">
            <a:extLst>
              <a:ext uri="{FF2B5EF4-FFF2-40B4-BE49-F238E27FC236}">
                <a16:creationId xmlns:a16="http://schemas.microsoft.com/office/drawing/2014/main" id="{130A861D-5697-C4FC-251A-EB7528551159}"/>
              </a:ext>
            </a:extLst>
          </p:cNvPr>
          <p:cNvSpPr/>
          <p:nvPr/>
        </p:nvSpPr>
        <p:spPr>
          <a:xfrm>
            <a:off x="6263640" y="4187454"/>
            <a:ext cx="54864" cy="658368"/>
          </a:xfrm>
          <a:prstGeom prst="rect">
            <a:avLst/>
          </a:prstGeom>
          <a:solidFill>
            <a:srgbClr val="92D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37">
            <a:extLst>
              <a:ext uri="{FF2B5EF4-FFF2-40B4-BE49-F238E27FC236}">
                <a16:creationId xmlns:a16="http://schemas.microsoft.com/office/drawing/2014/main" id="{ED16834B-705C-7D00-A1EA-C0785E33BFD5}"/>
              </a:ext>
            </a:extLst>
          </p:cNvPr>
          <p:cNvSpPr/>
          <p:nvPr/>
        </p:nvSpPr>
        <p:spPr>
          <a:xfrm>
            <a:off x="6428232" y="4373128"/>
            <a:ext cx="310896" cy="310896"/>
          </a:xfrm>
          <a:prstGeom prst="roundRect">
            <a:avLst/>
          </a:prstGeom>
          <a:solidFill>
            <a:srgbClr val="92D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38">
            <a:extLst>
              <a:ext uri="{FF2B5EF4-FFF2-40B4-BE49-F238E27FC236}">
                <a16:creationId xmlns:a16="http://schemas.microsoft.com/office/drawing/2014/main" id="{28F75CF3-862C-F55B-B2AF-9FB23C0D8397}"/>
              </a:ext>
            </a:extLst>
          </p:cNvPr>
          <p:cNvSpPr txBox="1"/>
          <p:nvPr/>
        </p:nvSpPr>
        <p:spPr>
          <a:xfrm>
            <a:off x="6428232" y="4363984"/>
            <a:ext cx="374904" cy="276999"/>
          </a:xfrm>
          <a:prstGeom prst="rect">
            <a:avLst/>
          </a:prstGeom>
          <a:noFill/>
        </p:spPr>
        <p:txBody>
          <a:bodyPr wrap="square">
            <a:spAutoFit/>
          </a:bodyPr>
          <a:lstStyle/>
          <a:p>
            <a:pPr algn="ctr"/>
            <a:r>
              <a:rPr lang="nl-BE" sz="1200" b="1" dirty="0">
                <a:solidFill>
                  <a:srgbClr val="0D1B2A"/>
                </a:solidFill>
              </a:rPr>
              <a:t>11</a:t>
            </a:r>
            <a:endParaRPr sz="1200" b="1" i="0" dirty="0">
              <a:solidFill>
                <a:srgbClr val="0D1B2A"/>
              </a:solidFill>
            </a:endParaRPr>
          </a:p>
        </p:txBody>
      </p:sp>
      <p:sp>
        <p:nvSpPr>
          <p:cNvPr id="60" name="TextBox 39">
            <a:extLst>
              <a:ext uri="{FF2B5EF4-FFF2-40B4-BE49-F238E27FC236}">
                <a16:creationId xmlns:a16="http://schemas.microsoft.com/office/drawing/2014/main" id="{7A086B83-0B9E-9459-6EF1-B6AB251B755C}"/>
              </a:ext>
            </a:extLst>
          </p:cNvPr>
          <p:cNvSpPr txBox="1"/>
          <p:nvPr/>
        </p:nvSpPr>
        <p:spPr>
          <a:xfrm>
            <a:off x="6858000" y="4373128"/>
            <a:ext cx="4389120" cy="347472"/>
          </a:xfrm>
          <a:prstGeom prst="rect">
            <a:avLst/>
          </a:prstGeom>
          <a:noFill/>
        </p:spPr>
        <p:txBody>
          <a:bodyPr wrap="square">
            <a:spAutoFit/>
          </a:bodyPr>
          <a:lstStyle/>
          <a:p>
            <a:pPr algn="l"/>
            <a:r>
              <a:rPr lang="nl-BE" sz="1600" b="1" i="0" dirty="0">
                <a:solidFill>
                  <a:srgbClr val="FFFFFF"/>
                </a:solidFill>
              </a:rPr>
              <a:t>Reflectie</a:t>
            </a:r>
            <a:endParaRPr sz="1600" b="1" i="0" dirty="0">
              <a:solidFill>
                <a:srgbClr val="FFFFFF"/>
              </a:solidFill>
            </a:endParaRPr>
          </a:p>
        </p:txBody>
      </p:sp>
      <p:sp>
        <p:nvSpPr>
          <p:cNvPr id="61" name="Rectangle 40">
            <a:extLst>
              <a:ext uri="{FF2B5EF4-FFF2-40B4-BE49-F238E27FC236}">
                <a16:creationId xmlns:a16="http://schemas.microsoft.com/office/drawing/2014/main" id="{18015467-6C33-E646-7798-8C194CB9AE86}"/>
              </a:ext>
            </a:extLst>
          </p:cNvPr>
          <p:cNvSpPr/>
          <p:nvPr/>
        </p:nvSpPr>
        <p:spPr>
          <a:xfrm>
            <a:off x="6263640" y="4940056"/>
            <a:ext cx="5303520" cy="658368"/>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41">
            <a:extLst>
              <a:ext uri="{FF2B5EF4-FFF2-40B4-BE49-F238E27FC236}">
                <a16:creationId xmlns:a16="http://schemas.microsoft.com/office/drawing/2014/main" id="{6264159D-94FC-9A62-2DC2-D9C01201EF7B}"/>
              </a:ext>
            </a:extLst>
          </p:cNvPr>
          <p:cNvSpPr/>
          <p:nvPr/>
        </p:nvSpPr>
        <p:spPr>
          <a:xfrm>
            <a:off x="6263640" y="4946514"/>
            <a:ext cx="54864" cy="65836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42">
            <a:extLst>
              <a:ext uri="{FF2B5EF4-FFF2-40B4-BE49-F238E27FC236}">
                <a16:creationId xmlns:a16="http://schemas.microsoft.com/office/drawing/2014/main" id="{FE9C8147-90A0-EEF3-8C11-424EF8BCC4AF}"/>
              </a:ext>
            </a:extLst>
          </p:cNvPr>
          <p:cNvSpPr/>
          <p:nvPr/>
        </p:nvSpPr>
        <p:spPr>
          <a:xfrm>
            <a:off x="6428232" y="5122936"/>
            <a:ext cx="310896" cy="310896"/>
          </a:xfrm>
          <a:prstGeom prst="round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43">
            <a:extLst>
              <a:ext uri="{FF2B5EF4-FFF2-40B4-BE49-F238E27FC236}">
                <a16:creationId xmlns:a16="http://schemas.microsoft.com/office/drawing/2014/main" id="{04846BA1-68AC-06F2-4CCC-6E80F728F2FF}"/>
              </a:ext>
            </a:extLst>
          </p:cNvPr>
          <p:cNvSpPr txBox="1"/>
          <p:nvPr/>
        </p:nvSpPr>
        <p:spPr>
          <a:xfrm>
            <a:off x="6428232" y="5113792"/>
            <a:ext cx="374904" cy="276999"/>
          </a:xfrm>
          <a:prstGeom prst="rect">
            <a:avLst/>
          </a:prstGeom>
          <a:noFill/>
        </p:spPr>
        <p:txBody>
          <a:bodyPr wrap="square">
            <a:spAutoFit/>
          </a:bodyPr>
          <a:lstStyle/>
          <a:p>
            <a:pPr algn="ctr"/>
            <a:r>
              <a:rPr lang="nl-BE" sz="1200" b="1" i="0" dirty="0">
                <a:solidFill>
                  <a:srgbClr val="0D1B2A"/>
                </a:solidFill>
              </a:rPr>
              <a:t>12</a:t>
            </a:r>
            <a:endParaRPr sz="1200" b="1" i="0" dirty="0">
              <a:solidFill>
                <a:srgbClr val="0D1B2A"/>
              </a:solidFill>
            </a:endParaRPr>
          </a:p>
        </p:txBody>
      </p:sp>
      <p:sp>
        <p:nvSpPr>
          <p:cNvPr id="65" name="TextBox 44">
            <a:extLst>
              <a:ext uri="{FF2B5EF4-FFF2-40B4-BE49-F238E27FC236}">
                <a16:creationId xmlns:a16="http://schemas.microsoft.com/office/drawing/2014/main" id="{3E911571-83A7-97D2-F413-6A1253A98AB2}"/>
              </a:ext>
            </a:extLst>
          </p:cNvPr>
          <p:cNvSpPr txBox="1"/>
          <p:nvPr/>
        </p:nvSpPr>
        <p:spPr>
          <a:xfrm>
            <a:off x="6858000" y="5122936"/>
            <a:ext cx="4389120" cy="347472"/>
          </a:xfrm>
          <a:prstGeom prst="rect">
            <a:avLst/>
          </a:prstGeom>
          <a:noFill/>
        </p:spPr>
        <p:txBody>
          <a:bodyPr wrap="square">
            <a:spAutoFit/>
          </a:bodyPr>
          <a:lstStyle/>
          <a:p>
            <a:pPr algn="l"/>
            <a:r>
              <a:rPr lang="nl-BE" sz="1600" b="1" dirty="0">
                <a:solidFill>
                  <a:srgbClr val="FFFFFF"/>
                </a:solidFill>
              </a:rPr>
              <a:t>Q&amp;A</a:t>
            </a:r>
            <a:endParaRPr sz="1600" b="1" i="0"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F7FF38DA-2C80-89F5-17B0-C23D09912F2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5B9C85-3283-87A4-77C6-015FBB7AA281}"/>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CB40F9B1-36AB-E88E-EE7E-967CBBA70D92}"/>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7D51F1FA-8C37-EA26-33E2-27BE635A132D}"/>
              </a:ext>
            </a:extLst>
          </p:cNvPr>
          <p:cNvSpPr txBox="1"/>
          <p:nvPr/>
        </p:nvSpPr>
        <p:spPr>
          <a:xfrm>
            <a:off x="1371600" y="1645920"/>
            <a:ext cx="9144000" cy="2308324"/>
          </a:xfrm>
          <a:prstGeom prst="rect">
            <a:avLst/>
          </a:prstGeom>
          <a:noFill/>
        </p:spPr>
        <p:txBody>
          <a:bodyPr wrap="square">
            <a:spAutoFit/>
          </a:bodyPr>
          <a:lstStyle/>
          <a:p>
            <a:pPr algn="ctr"/>
            <a:r>
              <a:rPr lang="nl-BE" sz="7200" b="1" dirty="0">
                <a:solidFill>
                  <a:srgbClr val="0099FF"/>
                </a:solidFill>
              </a:rPr>
              <a:t>Probleemstelling</a:t>
            </a:r>
          </a:p>
          <a:p>
            <a:pPr algn="ctr"/>
            <a:endParaRPr lang="nl-BE" sz="7200" b="1" dirty="0">
              <a:solidFill>
                <a:srgbClr val="0099FF"/>
              </a:solidFill>
            </a:endParaRPr>
          </a:p>
        </p:txBody>
      </p:sp>
      <p:sp>
        <p:nvSpPr>
          <p:cNvPr id="6" name="Rectangle 5">
            <a:extLst>
              <a:ext uri="{FF2B5EF4-FFF2-40B4-BE49-F238E27FC236}">
                <a16:creationId xmlns:a16="http://schemas.microsoft.com/office/drawing/2014/main" id="{AD9C0EBE-72AA-C156-760F-AA2F4FF90EEB}"/>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740EF57D-C928-56B5-B789-D984233404B8}"/>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87494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73152"/>
            <a:ext cx="2875274" cy="553998"/>
          </a:xfrm>
          <a:prstGeom prst="rect">
            <a:avLst/>
          </a:prstGeom>
          <a:noFill/>
        </p:spPr>
        <p:txBody>
          <a:bodyPr wrap="none">
            <a:spAutoFit/>
          </a:bodyPr>
          <a:lstStyle/>
          <a:p>
            <a:r>
              <a:rPr lang="nl-BE" sz="3000" b="1" dirty="0">
                <a:solidFill>
                  <a:srgbClr val="FFFFFF"/>
                </a:solidFill>
              </a:rPr>
              <a:t>Probleemstelling</a:t>
            </a:r>
            <a:endParaRPr sz="3000" b="1" dirty="0">
              <a:solidFill>
                <a:srgbClr val="FFFFFF"/>
              </a:solidFill>
            </a:endParaRPr>
          </a:p>
        </p:txBody>
      </p:sp>
      <p:sp>
        <p:nvSpPr>
          <p:cNvPr id="6" name="Rectangle 5"/>
          <p:cNvSpPr/>
          <p:nvPr/>
        </p:nvSpPr>
        <p:spPr>
          <a:xfrm>
            <a:off x="274320" y="1188720"/>
            <a:ext cx="11640312" cy="2377440"/>
          </a:xfrm>
          <a:prstGeom prst="rect">
            <a:avLst/>
          </a:prstGeom>
          <a:solidFill>
            <a:srgbClr val="122238"/>
          </a:solidFill>
          <a:ln w="25400">
            <a:solidFill>
              <a:srgbClr val="FFB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88720"/>
            <a:ext cx="109728" cy="237744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34440"/>
            <a:ext cx="11064240" cy="2677656"/>
          </a:xfrm>
          <a:prstGeom prst="rect">
            <a:avLst/>
          </a:prstGeom>
          <a:noFill/>
        </p:spPr>
        <p:txBody>
          <a:bodyPr wrap="square">
            <a:spAutoFit/>
          </a:bodyPr>
          <a:lstStyle/>
          <a:p>
            <a:r>
              <a:rPr lang="nl-BE" sz="2800" i="1" dirty="0">
                <a:solidFill>
                  <a:srgbClr val="FFFFFF"/>
                </a:solidFill>
              </a:rPr>
              <a:t>Traditionele verkeerslichtsystemen gebruiken vaste tijdschema's of eenvoudige detectiemechanismen, waardoor zij onvoldoende kunnen inspelen op dynamische en onvoorspelbare verkeersstromen. Dit resulteert in inefficiënte doorstroming, langere wachttijden en suboptimale benutting van stedelijke infrastructuur</a:t>
            </a:r>
            <a:r>
              <a:rPr lang="nl-BE" i="1" dirty="0">
                <a:solidFill>
                  <a:srgbClr val="FFFFFF"/>
                </a:solidFill>
              </a:rPr>
              <a:t>.</a:t>
            </a:r>
          </a:p>
          <a:p>
            <a:endParaRPr sz="2800" i="1" dirty="0">
              <a:solidFill>
                <a:schemeClr val="bg1"/>
              </a:solidFill>
            </a:endParaRPr>
          </a:p>
        </p:txBody>
      </p:sp>
      <p:sp>
        <p:nvSpPr>
          <p:cNvPr id="9" name="Rectangle 8"/>
          <p:cNvSpPr/>
          <p:nvPr/>
        </p:nvSpPr>
        <p:spPr>
          <a:xfrm>
            <a:off x="274320" y="3794760"/>
            <a:ext cx="3749039" cy="2606040"/>
          </a:xfrm>
          <a:prstGeom prst="rect">
            <a:avLst/>
          </a:prstGeom>
          <a:solidFill>
            <a:srgbClr val="16283E"/>
          </a:solidFill>
          <a:ln w="25400">
            <a:solidFill>
              <a:srgbClr val="FF4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3794760"/>
            <a:ext cx="3749039" cy="45720"/>
          </a:xfrm>
          <a:prstGeom prst="rect">
            <a:avLst/>
          </a:prstGeom>
          <a:solidFill>
            <a:srgbClr val="FF4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199" y="3977005"/>
            <a:ext cx="3383281" cy="830997"/>
          </a:xfrm>
          <a:prstGeom prst="rect">
            <a:avLst/>
          </a:prstGeom>
          <a:noFill/>
        </p:spPr>
        <p:txBody>
          <a:bodyPr wrap="square">
            <a:spAutoFit/>
          </a:bodyPr>
          <a:lstStyle/>
          <a:p>
            <a:pPr algn="ctr"/>
            <a:r>
              <a:rPr lang="nl-BE" sz="2400" b="1" dirty="0">
                <a:solidFill>
                  <a:srgbClr val="FF4500"/>
                </a:solidFill>
              </a:rPr>
              <a:t>Inefficiëntie</a:t>
            </a:r>
          </a:p>
          <a:p>
            <a:pPr algn="ctr"/>
            <a:endParaRPr sz="2400" b="1" i="0" dirty="0">
              <a:solidFill>
                <a:srgbClr val="FF4500"/>
              </a:solidFill>
            </a:endParaRPr>
          </a:p>
        </p:txBody>
      </p:sp>
      <p:sp>
        <p:nvSpPr>
          <p:cNvPr id="13" name="TextBox 12"/>
          <p:cNvSpPr txBox="1"/>
          <p:nvPr/>
        </p:nvSpPr>
        <p:spPr>
          <a:xfrm>
            <a:off x="457200" y="4526280"/>
            <a:ext cx="3383280" cy="1384995"/>
          </a:xfrm>
          <a:prstGeom prst="rect">
            <a:avLst/>
          </a:prstGeom>
          <a:noFill/>
        </p:spPr>
        <p:txBody>
          <a:bodyPr wrap="square">
            <a:spAutoFit/>
          </a:bodyPr>
          <a:lstStyle/>
          <a:p>
            <a:pPr algn="ctr"/>
            <a:r>
              <a:rPr lang="nl-BE" sz="2000" dirty="0">
                <a:solidFill>
                  <a:srgbClr val="B0C4D8"/>
                </a:solidFill>
              </a:rPr>
              <a:t>Vaste schema's reageren niet
op fluctuerende verkeersdrukte</a:t>
            </a:r>
          </a:p>
          <a:p>
            <a:pPr algn="ctr"/>
            <a:endParaRPr sz="2400" b="0" i="0" dirty="0">
              <a:solidFill>
                <a:srgbClr val="B0C4D8"/>
              </a:solidFill>
            </a:endParaRPr>
          </a:p>
        </p:txBody>
      </p:sp>
      <p:sp>
        <p:nvSpPr>
          <p:cNvPr id="14" name="Rectangle 13"/>
          <p:cNvSpPr/>
          <p:nvPr/>
        </p:nvSpPr>
        <p:spPr>
          <a:xfrm>
            <a:off x="4169664" y="3794760"/>
            <a:ext cx="3749039" cy="2606040"/>
          </a:xfrm>
          <a:prstGeom prst="rect">
            <a:avLst/>
          </a:prstGeom>
          <a:solidFill>
            <a:srgbClr val="16283E"/>
          </a:solidFill>
          <a:ln w="25400">
            <a:solidFill>
              <a:srgbClr val="FF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69664" y="3794760"/>
            <a:ext cx="3749039" cy="45720"/>
          </a:xfrm>
          <a:prstGeom prst="rect">
            <a:avLst/>
          </a:prstGeom>
          <a:solidFill>
            <a:srgbClr val="FF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52544" y="3959352"/>
            <a:ext cx="3419856" cy="830997"/>
          </a:xfrm>
          <a:prstGeom prst="rect">
            <a:avLst/>
          </a:prstGeom>
          <a:noFill/>
        </p:spPr>
        <p:txBody>
          <a:bodyPr wrap="square">
            <a:spAutoFit/>
          </a:bodyPr>
          <a:lstStyle/>
          <a:p>
            <a:pPr algn="ctr"/>
            <a:r>
              <a:rPr lang="nl-BE" sz="2400" b="1" dirty="0">
                <a:solidFill>
                  <a:srgbClr val="FF9F00"/>
                </a:solidFill>
              </a:rPr>
              <a:t>Wachttijden</a:t>
            </a:r>
          </a:p>
          <a:p>
            <a:pPr algn="ctr"/>
            <a:endParaRPr sz="2400" b="1" i="0" dirty="0">
              <a:solidFill>
                <a:srgbClr val="FF9F00"/>
              </a:solidFill>
            </a:endParaRPr>
          </a:p>
        </p:txBody>
      </p:sp>
      <p:sp>
        <p:nvSpPr>
          <p:cNvPr id="18" name="TextBox 17"/>
          <p:cNvSpPr txBox="1"/>
          <p:nvPr/>
        </p:nvSpPr>
        <p:spPr>
          <a:xfrm>
            <a:off x="4352544" y="4527697"/>
            <a:ext cx="3675891" cy="1031051"/>
          </a:xfrm>
          <a:prstGeom prst="rect">
            <a:avLst/>
          </a:prstGeom>
          <a:noFill/>
        </p:spPr>
        <p:txBody>
          <a:bodyPr wrap="square">
            <a:spAutoFit/>
          </a:bodyPr>
          <a:lstStyle/>
          <a:p>
            <a:pPr algn="ctr"/>
            <a:r>
              <a:rPr lang="nl-BE" sz="2000" dirty="0">
                <a:solidFill>
                  <a:srgbClr val="B0C4D8"/>
                </a:solidFill>
              </a:rPr>
              <a:t>Lange rijen bij kruispunten
tijdens spitsuur</a:t>
            </a:r>
          </a:p>
          <a:p>
            <a:pPr algn="ctr"/>
            <a:endParaRPr sz="2100" b="0" i="0" dirty="0">
              <a:solidFill>
                <a:srgbClr val="B0C4D8"/>
              </a:solidFill>
            </a:endParaRPr>
          </a:p>
        </p:txBody>
      </p:sp>
      <p:sp>
        <p:nvSpPr>
          <p:cNvPr id="19" name="Rectangle 18"/>
          <p:cNvSpPr/>
          <p:nvPr/>
        </p:nvSpPr>
        <p:spPr>
          <a:xfrm>
            <a:off x="8065008" y="3794760"/>
            <a:ext cx="3749039" cy="2606040"/>
          </a:xfrm>
          <a:prstGeom prst="rect">
            <a:avLst/>
          </a:prstGeom>
          <a:solidFill>
            <a:srgbClr val="16283E"/>
          </a:solidFill>
          <a:ln w="25400">
            <a:solidFill>
              <a:srgbClr val="00C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65008" y="3794760"/>
            <a:ext cx="3749039" cy="45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47888" y="3977640"/>
            <a:ext cx="3383280" cy="830997"/>
          </a:xfrm>
          <a:prstGeom prst="rect">
            <a:avLst/>
          </a:prstGeom>
          <a:noFill/>
        </p:spPr>
        <p:txBody>
          <a:bodyPr wrap="square">
            <a:spAutoFit/>
          </a:bodyPr>
          <a:lstStyle/>
          <a:p>
            <a:pPr algn="ctr"/>
            <a:r>
              <a:rPr lang="nl-BE" sz="2400" b="1" dirty="0">
                <a:solidFill>
                  <a:srgbClr val="00C853"/>
                </a:solidFill>
              </a:rPr>
              <a:t>Duurzaamheid</a:t>
            </a:r>
          </a:p>
          <a:p>
            <a:pPr algn="ctr"/>
            <a:endParaRPr sz="2400" b="1" i="0" dirty="0">
              <a:solidFill>
                <a:srgbClr val="00C853"/>
              </a:solidFill>
            </a:endParaRPr>
          </a:p>
        </p:txBody>
      </p:sp>
      <p:sp>
        <p:nvSpPr>
          <p:cNvPr id="23" name="TextBox 22"/>
          <p:cNvSpPr txBox="1"/>
          <p:nvPr/>
        </p:nvSpPr>
        <p:spPr>
          <a:xfrm>
            <a:off x="8247888" y="4526280"/>
            <a:ext cx="3383280" cy="1077218"/>
          </a:xfrm>
          <a:prstGeom prst="rect">
            <a:avLst/>
          </a:prstGeom>
          <a:noFill/>
        </p:spPr>
        <p:txBody>
          <a:bodyPr wrap="square">
            <a:spAutoFit/>
          </a:bodyPr>
          <a:lstStyle/>
          <a:p>
            <a:pPr algn="ctr"/>
            <a:r>
              <a:rPr lang="nl-BE" sz="2000" dirty="0">
                <a:solidFill>
                  <a:srgbClr val="B0C4D8"/>
                </a:solidFill>
              </a:rPr>
              <a:t>Meer brandstofverbruik &amp;
CO₂-uitstoot door stilstand</a:t>
            </a:r>
          </a:p>
          <a:p>
            <a:pPr algn="ctr"/>
            <a:endParaRPr sz="2400" b="0" i="0" dirty="0">
              <a:solidFill>
                <a:srgbClr val="B0C4D8"/>
              </a:solidFill>
            </a:endParaRPr>
          </a:p>
        </p:txBody>
      </p:sp>
      <p:sp>
        <p:nvSpPr>
          <p:cNvPr id="26" name="Tijdelijke aanduiding voor dianummer 25">
            <a:extLst>
              <a:ext uri="{FF2B5EF4-FFF2-40B4-BE49-F238E27FC236}">
                <a16:creationId xmlns:a16="http://schemas.microsoft.com/office/drawing/2014/main" id="{438CA4F7-919D-2DB6-6036-68C3C89BA8CE}"/>
              </a:ext>
            </a:extLst>
          </p:cNvPr>
          <p:cNvSpPr>
            <a:spLocks noGrp="1"/>
          </p:cNvSpPr>
          <p:nvPr>
            <p:ph type="sldNum" sz="quarter" idx="12"/>
          </p:nvPr>
        </p:nvSpPr>
        <p:spPr>
          <a:xfrm>
            <a:off x="10055225" y="6484366"/>
            <a:ext cx="2133600" cy="365125"/>
          </a:xfrm>
        </p:spPr>
        <p:txBody>
          <a:bodyPr/>
          <a:lstStyle/>
          <a:p>
            <a:fld id="{C1FF6DA9-008F-8B48-92A6-B652298478BF}" type="slidenum">
              <a:rPr lang="en-US" smtClean="0"/>
              <a:t>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animBg="1"/>
      <p:bldP spid="10" grpId="0" animBg="1"/>
      <p:bldP spid="12" grpId="0"/>
      <p:bldP spid="13" grpId="0"/>
      <p:bldP spid="14" grpId="0" animBg="1"/>
      <p:bldP spid="15" grpId="0" animBg="1"/>
      <p:bldP spid="17" grpId="0"/>
      <p:bldP spid="18" grpId="0"/>
      <p:bldP spid="19" grpId="0" animBg="1"/>
      <p:bldP spid="20" grpId="0" animBg="1"/>
      <p:bldP spid="22"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D558AFA-D231-29B0-3728-D0E8534A3AA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5178840-74C9-1F82-CA4B-C63B807A898B}"/>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33C6975B-CCF8-652C-A489-D675D5690448}"/>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BBA240C6-BEBE-765E-C33A-59E784C60EB8}"/>
              </a:ext>
            </a:extLst>
          </p:cNvPr>
          <p:cNvSpPr txBox="1"/>
          <p:nvPr/>
        </p:nvSpPr>
        <p:spPr>
          <a:xfrm>
            <a:off x="1371600" y="1645920"/>
            <a:ext cx="9144000" cy="2308324"/>
          </a:xfrm>
          <a:prstGeom prst="rect">
            <a:avLst/>
          </a:prstGeom>
          <a:noFill/>
        </p:spPr>
        <p:txBody>
          <a:bodyPr wrap="square">
            <a:spAutoFit/>
          </a:bodyPr>
          <a:lstStyle/>
          <a:p>
            <a:pPr algn="ctr">
              <a:defRPr/>
            </a:pPr>
            <a:r>
              <a:rPr lang="nl-BE" sz="7200" b="1" dirty="0">
                <a:solidFill>
                  <a:srgbClr val="0099FF"/>
                </a:solidFill>
              </a:rPr>
              <a:t>Projectomschrijving</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30EF316A-11FD-4290-C45E-7E937487B0C3}"/>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30824791-2875-6FAB-0127-D7E6CF84522B}"/>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73725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73152"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73152"/>
            <a:ext cx="3345339" cy="553998"/>
          </a:xfrm>
          <a:prstGeom prst="rect">
            <a:avLst/>
          </a:prstGeom>
          <a:noFill/>
        </p:spPr>
        <p:txBody>
          <a:bodyPr wrap="none">
            <a:spAutoFit/>
          </a:bodyPr>
          <a:lstStyle/>
          <a:p>
            <a:r>
              <a:rPr lang="nl-BE" sz="3000" b="1" dirty="0">
                <a:solidFill>
                  <a:srgbClr val="FFFFFF"/>
                </a:solidFill>
              </a:rPr>
              <a:t>Projectomschrijving</a:t>
            </a:r>
            <a:endParaRPr sz="3000" b="1" dirty="0">
              <a:solidFill>
                <a:srgbClr val="FFFFFF"/>
              </a:solidFill>
            </a:endParaRPr>
          </a:p>
        </p:txBody>
      </p:sp>
      <p:sp>
        <p:nvSpPr>
          <p:cNvPr id="6" name="Rectangle 5"/>
          <p:cNvSpPr/>
          <p:nvPr/>
        </p:nvSpPr>
        <p:spPr>
          <a:xfrm>
            <a:off x="274320" y="1188720"/>
            <a:ext cx="5577840" cy="534924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88720"/>
            <a:ext cx="5577840" cy="36576"/>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261872"/>
            <a:ext cx="2209259" cy="307777"/>
          </a:xfrm>
          <a:prstGeom prst="rect">
            <a:avLst/>
          </a:prstGeom>
          <a:noFill/>
        </p:spPr>
        <p:txBody>
          <a:bodyPr wrap="none">
            <a:spAutoFit/>
          </a:bodyPr>
          <a:lstStyle/>
          <a:p>
            <a:r>
              <a:rPr sz="1400" b="1" dirty="0">
                <a:solidFill>
                  <a:srgbClr val="0099FF"/>
                </a:solidFill>
              </a:rPr>
              <a:t>Wat </a:t>
            </a:r>
            <a:r>
              <a:rPr lang="nl-BE" sz="1400" b="1" dirty="0">
                <a:solidFill>
                  <a:srgbClr val="0099FF"/>
                </a:solidFill>
              </a:rPr>
              <a:t>hebben we </a:t>
            </a:r>
            <a:r>
              <a:rPr lang="nl-BE" sz="1400" b="1" dirty="0" err="1">
                <a:solidFill>
                  <a:srgbClr val="0099FF"/>
                </a:solidFill>
              </a:rPr>
              <a:t>geb</a:t>
            </a:r>
            <a:r>
              <a:rPr sz="1400" b="1" dirty="0" err="1">
                <a:solidFill>
                  <a:srgbClr val="0099FF"/>
                </a:solidFill>
              </a:rPr>
              <a:t>ouw</a:t>
            </a:r>
            <a:r>
              <a:rPr lang="nl-BE" sz="1400" b="1" dirty="0">
                <a:solidFill>
                  <a:srgbClr val="0099FF"/>
                </a:solidFill>
              </a:rPr>
              <a:t>d</a:t>
            </a:r>
            <a:r>
              <a:rPr sz="1400" b="1" dirty="0">
                <a:solidFill>
                  <a:srgbClr val="0099FF"/>
                </a:solidFill>
              </a:rPr>
              <a:t>?</a:t>
            </a:r>
          </a:p>
        </p:txBody>
      </p:sp>
      <p:sp>
        <p:nvSpPr>
          <p:cNvPr id="9" name="TextBox 8"/>
          <p:cNvSpPr txBox="1"/>
          <p:nvPr/>
        </p:nvSpPr>
        <p:spPr>
          <a:xfrm>
            <a:off x="468471" y="1691640"/>
            <a:ext cx="5550535" cy="3839513"/>
          </a:xfrm>
          <a:prstGeom prst="rect">
            <a:avLst/>
          </a:prstGeom>
          <a:noFill/>
        </p:spPr>
        <p:txBody>
          <a:bodyPr wrap="square">
            <a:spAutoFit/>
          </a:bodyPr>
          <a:lstStyle/>
          <a:p>
            <a:pPr>
              <a:spcBef>
                <a:spcPts val="300"/>
              </a:spcBef>
            </a:pPr>
            <a:r>
              <a:rPr lang="nl-BE" b="1" dirty="0">
                <a:solidFill>
                  <a:srgbClr val="FFFFFF"/>
                </a:solidFill>
              </a:rPr>
              <a:t>VROOM combineert simulatie, AI en visualisatie
in één eindgebruikersapplicatie.</a:t>
            </a:r>
          </a:p>
          <a:p>
            <a:pPr>
              <a:spcBef>
                <a:spcPts val="300"/>
              </a:spcBef>
            </a:pPr>
            <a:endParaRPr lang="nl-BE" b="1" dirty="0">
              <a:solidFill>
                <a:srgbClr val="FFFFFF"/>
              </a:solidFill>
            </a:endParaRPr>
          </a:p>
          <a:p>
            <a:pPr>
              <a:spcBef>
                <a:spcPts val="300"/>
              </a:spcBef>
            </a:pPr>
            <a:r>
              <a:rPr lang="nl-BE" dirty="0">
                <a:solidFill>
                  <a:srgbClr val="B0C4D8"/>
                </a:solidFill>
              </a:rPr>
              <a:t>🔹 SUMO verkeerssimulator</a:t>
            </a:r>
          </a:p>
          <a:p>
            <a:pPr>
              <a:spcBef>
                <a:spcPts val="300"/>
              </a:spcBef>
            </a:pPr>
            <a:endParaRPr lang="nl-BE" dirty="0">
              <a:solidFill>
                <a:srgbClr val="B0C4D8"/>
              </a:solidFill>
            </a:endParaRPr>
          </a:p>
          <a:p>
            <a:pPr>
              <a:spcBef>
                <a:spcPts val="300"/>
              </a:spcBef>
            </a:pPr>
            <a:r>
              <a:rPr lang="nl-BE" dirty="0">
                <a:solidFill>
                  <a:srgbClr val="B0C4D8"/>
                </a:solidFill>
              </a:rPr>
              <a:t>🔹 SAM – AI-component</a:t>
            </a:r>
          </a:p>
          <a:p>
            <a:pPr>
              <a:spcBef>
                <a:spcPts val="300"/>
              </a:spcBef>
            </a:pPr>
            <a:endParaRPr lang="nl-BE" dirty="0">
              <a:solidFill>
                <a:srgbClr val="B0C4D8"/>
              </a:solidFill>
            </a:endParaRPr>
          </a:p>
          <a:p>
            <a:pPr>
              <a:spcBef>
                <a:spcPts val="300"/>
              </a:spcBef>
            </a:pPr>
            <a:r>
              <a:rPr lang="nl-BE" dirty="0">
                <a:solidFill>
                  <a:srgbClr val="B0C4D8"/>
                </a:solidFill>
              </a:rPr>
              <a:t>🔹 Web Interface</a:t>
            </a:r>
          </a:p>
          <a:p>
            <a:pPr>
              <a:spcBef>
                <a:spcPts val="300"/>
              </a:spcBef>
            </a:pPr>
            <a:endParaRPr lang="nl-BE" dirty="0">
              <a:solidFill>
                <a:srgbClr val="B0C4D8"/>
              </a:solidFill>
            </a:endParaRPr>
          </a:p>
          <a:p>
            <a:pPr>
              <a:spcBef>
                <a:spcPts val="300"/>
              </a:spcBef>
            </a:pPr>
            <a:r>
              <a:rPr lang="nl-BE" dirty="0">
                <a:solidFill>
                  <a:srgbClr val="B0C4D8"/>
                </a:solidFill>
              </a:rPr>
              <a:t>🔹 Backend component: AI </a:t>
            </a:r>
            <a:r>
              <a:rPr lang="nl-BE" dirty="0">
                <a:solidFill>
                  <a:srgbClr val="B0C4D8"/>
                </a:solidFill>
                <a:sym typeface="Wingdings" panose="05000000000000000000" pitchFamily="2" charset="2"/>
              </a:rPr>
              <a:t> SUMO  Web</a:t>
            </a:r>
            <a:endParaRPr lang="nl-BE" dirty="0">
              <a:solidFill>
                <a:srgbClr val="B0C4D8"/>
              </a:solidFill>
            </a:endParaRPr>
          </a:p>
          <a:p>
            <a:pPr>
              <a:spcBef>
                <a:spcPts val="300"/>
              </a:spcBef>
            </a:pPr>
            <a:endParaRPr lang="nl-BE" dirty="0">
              <a:solidFill>
                <a:srgbClr val="B0C4D8"/>
              </a:solidFill>
            </a:endParaRPr>
          </a:p>
          <a:p>
            <a:pPr>
              <a:spcBef>
                <a:spcPts val="300"/>
              </a:spcBef>
            </a:pPr>
            <a:endParaRPr b="0" dirty="0">
              <a:solidFill>
                <a:srgbClr val="B0C4D8"/>
              </a:solidFill>
            </a:endParaRPr>
          </a:p>
        </p:txBody>
      </p:sp>
      <p:sp>
        <p:nvSpPr>
          <p:cNvPr id="10" name="Rectangle 9"/>
          <p:cNvSpPr/>
          <p:nvPr/>
        </p:nvSpPr>
        <p:spPr>
          <a:xfrm>
            <a:off x="6080760" y="1188720"/>
            <a:ext cx="5806440" cy="242316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80760" y="1188720"/>
            <a:ext cx="5806440"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261872"/>
            <a:ext cx="1069524" cy="307777"/>
          </a:xfrm>
          <a:prstGeom prst="rect">
            <a:avLst/>
          </a:prstGeom>
          <a:noFill/>
        </p:spPr>
        <p:txBody>
          <a:bodyPr wrap="none">
            <a:spAutoFit/>
          </a:bodyPr>
          <a:lstStyle/>
          <a:p>
            <a:r>
              <a:rPr sz="1400" b="1" dirty="0" err="1">
                <a:solidFill>
                  <a:srgbClr val="00E596"/>
                </a:solidFill>
              </a:rPr>
              <a:t>Doelstelling</a:t>
            </a:r>
            <a:endParaRPr sz="1400" b="1" dirty="0">
              <a:solidFill>
                <a:srgbClr val="00E596"/>
              </a:solidFill>
            </a:endParaRPr>
          </a:p>
        </p:txBody>
      </p:sp>
      <p:sp>
        <p:nvSpPr>
          <p:cNvPr id="13" name="TextBox 12"/>
          <p:cNvSpPr txBox="1"/>
          <p:nvPr/>
        </p:nvSpPr>
        <p:spPr>
          <a:xfrm>
            <a:off x="6263640" y="1691640"/>
            <a:ext cx="5440680" cy="1269578"/>
          </a:xfrm>
          <a:prstGeom prst="rect">
            <a:avLst/>
          </a:prstGeom>
          <a:noFill/>
        </p:spPr>
        <p:txBody>
          <a:bodyPr wrap="square">
            <a:spAutoFit/>
          </a:bodyPr>
          <a:lstStyle/>
          <a:p>
            <a:pPr>
              <a:spcBef>
                <a:spcPts val="500"/>
              </a:spcBef>
            </a:pPr>
            <a:r>
              <a:rPr lang="nl-BE" sz="1600" dirty="0">
                <a:solidFill>
                  <a:srgbClr val="FFFFFF"/>
                </a:solidFill>
              </a:rPr>
              <a:t>✓  Vergelijk RL-controller met vaste tijdsregeling</a:t>
            </a:r>
          </a:p>
          <a:p>
            <a:pPr>
              <a:spcBef>
                <a:spcPts val="500"/>
              </a:spcBef>
            </a:pPr>
            <a:r>
              <a:rPr lang="nl-BE" sz="1600" dirty="0">
                <a:solidFill>
                  <a:srgbClr val="FFFFFF"/>
                </a:solidFill>
              </a:rPr>
              <a:t>✓  Meet verbetering in wachttijd &amp; doorstroming</a:t>
            </a:r>
          </a:p>
          <a:p>
            <a:pPr>
              <a:spcBef>
                <a:spcPts val="500"/>
              </a:spcBef>
            </a:pPr>
            <a:r>
              <a:rPr lang="nl-BE" sz="1600" dirty="0">
                <a:solidFill>
                  <a:srgbClr val="FFFFFF"/>
                </a:solidFill>
              </a:rPr>
              <a:t>✓  Bied een interactief dashboard aan gebruikers</a:t>
            </a:r>
          </a:p>
          <a:p>
            <a:pPr>
              <a:spcBef>
                <a:spcPts val="500"/>
              </a:spcBef>
            </a:pPr>
            <a:endParaRPr sz="1600" dirty="0">
              <a:solidFill>
                <a:srgbClr val="FFFFFF"/>
              </a:solidFill>
            </a:endParaRPr>
          </a:p>
        </p:txBody>
      </p:sp>
      <p:sp>
        <p:nvSpPr>
          <p:cNvPr id="14" name="Rectangle 13"/>
          <p:cNvSpPr/>
          <p:nvPr/>
        </p:nvSpPr>
        <p:spPr>
          <a:xfrm>
            <a:off x="6094412" y="3794760"/>
            <a:ext cx="5806440" cy="274320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80760" y="3794760"/>
            <a:ext cx="5806440" cy="36576"/>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3867912"/>
            <a:ext cx="1471878" cy="307777"/>
          </a:xfrm>
          <a:prstGeom prst="rect">
            <a:avLst/>
          </a:prstGeom>
          <a:noFill/>
        </p:spPr>
        <p:txBody>
          <a:bodyPr wrap="none">
            <a:spAutoFit/>
          </a:bodyPr>
          <a:lstStyle/>
          <a:p>
            <a:r>
              <a:rPr sz="1400" b="1" dirty="0" err="1">
                <a:solidFill>
                  <a:srgbClr val="FFBF00"/>
                </a:solidFill>
              </a:rPr>
              <a:t>Technologiestack</a:t>
            </a:r>
            <a:endParaRPr sz="1400" b="1" dirty="0">
              <a:solidFill>
                <a:srgbClr val="FFBF00"/>
              </a:solidFill>
            </a:endParaRPr>
          </a:p>
        </p:txBody>
      </p:sp>
      <p:sp>
        <p:nvSpPr>
          <p:cNvPr id="17" name="Rectangle 16"/>
          <p:cNvSpPr/>
          <p:nvPr/>
        </p:nvSpPr>
        <p:spPr>
          <a:xfrm>
            <a:off x="6263640" y="4297680"/>
            <a:ext cx="1298448" cy="27432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4325112"/>
            <a:ext cx="1298448" cy="256032"/>
          </a:xfrm>
          <a:prstGeom prst="rect">
            <a:avLst/>
          </a:prstGeom>
          <a:noFill/>
        </p:spPr>
        <p:txBody>
          <a:bodyPr wrap="square">
            <a:spAutoFit/>
          </a:bodyPr>
          <a:lstStyle/>
          <a:p>
            <a:pPr algn="ctr"/>
            <a:r>
              <a:rPr sz="1000" b="1" i="0">
                <a:solidFill>
                  <a:srgbClr val="0D1B2A"/>
                </a:solidFill>
              </a:rPr>
              <a:t>SUMO</a:t>
            </a:r>
          </a:p>
        </p:txBody>
      </p:sp>
      <p:sp>
        <p:nvSpPr>
          <p:cNvPr id="25" name="Rectangle 24"/>
          <p:cNvSpPr/>
          <p:nvPr/>
        </p:nvSpPr>
        <p:spPr>
          <a:xfrm>
            <a:off x="6263640" y="4663440"/>
            <a:ext cx="1298448" cy="274320"/>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63640" y="4690872"/>
            <a:ext cx="1298448" cy="256032"/>
          </a:xfrm>
          <a:prstGeom prst="rect">
            <a:avLst/>
          </a:prstGeom>
          <a:noFill/>
        </p:spPr>
        <p:txBody>
          <a:bodyPr wrap="square">
            <a:spAutoFit/>
          </a:bodyPr>
          <a:lstStyle/>
          <a:p>
            <a:pPr algn="ctr"/>
            <a:r>
              <a:rPr sz="1000" b="1" i="0">
                <a:solidFill>
                  <a:srgbClr val="0D1B2A"/>
                </a:solidFill>
              </a:rPr>
              <a:t>FastAPI</a:t>
            </a:r>
          </a:p>
        </p:txBody>
      </p:sp>
      <p:sp>
        <p:nvSpPr>
          <p:cNvPr id="27" name="Rectangle 26"/>
          <p:cNvSpPr/>
          <p:nvPr/>
        </p:nvSpPr>
        <p:spPr>
          <a:xfrm>
            <a:off x="7653528" y="4663440"/>
            <a:ext cx="1298448" cy="274320"/>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53528" y="4690872"/>
            <a:ext cx="1298448" cy="256032"/>
          </a:xfrm>
          <a:prstGeom prst="rect">
            <a:avLst/>
          </a:prstGeom>
          <a:noFill/>
        </p:spPr>
        <p:txBody>
          <a:bodyPr wrap="square">
            <a:spAutoFit/>
          </a:bodyPr>
          <a:lstStyle/>
          <a:p>
            <a:pPr algn="ctr"/>
            <a:r>
              <a:rPr sz="1000" b="1" i="0" dirty="0">
                <a:solidFill>
                  <a:srgbClr val="0D1B2A"/>
                </a:solidFill>
              </a:rPr>
              <a:t>Python</a:t>
            </a:r>
          </a:p>
        </p:txBody>
      </p:sp>
      <p:sp>
        <p:nvSpPr>
          <p:cNvPr id="29" name="Rectangle 28"/>
          <p:cNvSpPr/>
          <p:nvPr/>
        </p:nvSpPr>
        <p:spPr>
          <a:xfrm>
            <a:off x="10445496" y="4297680"/>
            <a:ext cx="1298448" cy="274320"/>
          </a:xfrm>
          <a:prstGeom prst="round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405872" y="4309872"/>
            <a:ext cx="1298448" cy="256032"/>
          </a:xfrm>
          <a:prstGeom prst="rect">
            <a:avLst/>
          </a:prstGeom>
          <a:noFill/>
        </p:spPr>
        <p:txBody>
          <a:bodyPr wrap="square">
            <a:spAutoFit/>
          </a:bodyPr>
          <a:lstStyle/>
          <a:p>
            <a:pPr algn="ctr"/>
            <a:r>
              <a:rPr sz="1000" b="1" i="0" dirty="0">
                <a:solidFill>
                  <a:srgbClr val="0D1B2A"/>
                </a:solidFill>
              </a:rPr>
              <a:t>MySQL</a:t>
            </a:r>
          </a:p>
        </p:txBody>
      </p:sp>
      <p:sp>
        <p:nvSpPr>
          <p:cNvPr id="33" name="Rectangle 32"/>
          <p:cNvSpPr/>
          <p:nvPr/>
        </p:nvSpPr>
        <p:spPr>
          <a:xfrm>
            <a:off x="6263640" y="5029200"/>
            <a:ext cx="1298448" cy="274320"/>
          </a:xfrm>
          <a:prstGeom prst="roundRect">
            <a:avLst/>
          </a:prstGeom>
          <a:solidFill>
            <a:srgbClr val="00B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63640" y="5056632"/>
            <a:ext cx="1298448" cy="256032"/>
          </a:xfrm>
          <a:prstGeom prst="rect">
            <a:avLst/>
          </a:prstGeom>
          <a:noFill/>
        </p:spPr>
        <p:txBody>
          <a:bodyPr wrap="square">
            <a:spAutoFit/>
          </a:bodyPr>
          <a:lstStyle/>
          <a:p>
            <a:pPr algn="ctr"/>
            <a:r>
              <a:rPr sz="1000" b="1" i="0" dirty="0">
                <a:solidFill>
                  <a:srgbClr val="0D1B2A"/>
                </a:solidFill>
              </a:rPr>
              <a:t>Vue.js</a:t>
            </a:r>
          </a:p>
        </p:txBody>
      </p:sp>
      <p:sp>
        <p:nvSpPr>
          <p:cNvPr id="37" name="Rectangle 36"/>
          <p:cNvSpPr/>
          <p:nvPr/>
        </p:nvSpPr>
        <p:spPr>
          <a:xfrm>
            <a:off x="9043416" y="5029200"/>
            <a:ext cx="1298448" cy="27432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043416" y="5056632"/>
            <a:ext cx="1298448" cy="256032"/>
          </a:xfrm>
          <a:prstGeom prst="rect">
            <a:avLst/>
          </a:prstGeom>
          <a:noFill/>
        </p:spPr>
        <p:txBody>
          <a:bodyPr wrap="square">
            <a:spAutoFit/>
          </a:bodyPr>
          <a:lstStyle/>
          <a:p>
            <a:pPr algn="ctr"/>
            <a:r>
              <a:rPr sz="1000" b="1" i="0" dirty="0">
                <a:solidFill>
                  <a:srgbClr val="0D1B2A"/>
                </a:solidFill>
              </a:rPr>
              <a:t>Docker</a:t>
            </a:r>
          </a:p>
        </p:txBody>
      </p:sp>
      <p:sp>
        <p:nvSpPr>
          <p:cNvPr id="39" name="Rectangle 38"/>
          <p:cNvSpPr/>
          <p:nvPr/>
        </p:nvSpPr>
        <p:spPr>
          <a:xfrm>
            <a:off x="9043416" y="4663440"/>
            <a:ext cx="1298448" cy="27432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043416" y="4690872"/>
            <a:ext cx="1298448" cy="256032"/>
          </a:xfrm>
          <a:prstGeom prst="rect">
            <a:avLst/>
          </a:prstGeom>
          <a:noFill/>
        </p:spPr>
        <p:txBody>
          <a:bodyPr wrap="square">
            <a:spAutoFit/>
          </a:bodyPr>
          <a:lstStyle/>
          <a:p>
            <a:pPr algn="ctr"/>
            <a:r>
              <a:rPr sz="1000" b="1" i="0" dirty="0">
                <a:solidFill>
                  <a:srgbClr val="0D1B2A"/>
                </a:solidFill>
              </a:rPr>
              <a:t>GitHub Actions</a:t>
            </a:r>
          </a:p>
        </p:txBody>
      </p:sp>
      <p:sp>
        <p:nvSpPr>
          <p:cNvPr id="41" name="Tijdelijke aanduiding voor dianummer 40">
            <a:extLst>
              <a:ext uri="{FF2B5EF4-FFF2-40B4-BE49-F238E27FC236}">
                <a16:creationId xmlns:a16="http://schemas.microsoft.com/office/drawing/2014/main" id="{82323D50-E7CB-5B5B-A5FC-FB6FA8673A78}"/>
              </a:ext>
            </a:extLst>
          </p:cNvPr>
          <p:cNvSpPr>
            <a:spLocks noGrp="1"/>
          </p:cNvSpPr>
          <p:nvPr>
            <p:ph type="sldNum" sz="quarter" idx="12"/>
          </p:nvPr>
        </p:nvSpPr>
        <p:spPr>
          <a:xfrm>
            <a:off x="10055352" y="6492875"/>
            <a:ext cx="2133600" cy="365125"/>
          </a:xfrm>
        </p:spPr>
        <p:txBody>
          <a:bodyPr/>
          <a:lstStyle/>
          <a:p>
            <a:fld id="{C1FF6DA9-008F-8B48-92A6-B652298478BF}" type="slidenum">
              <a:rPr lang="en-US" smtClean="0"/>
              <a:t>6</a:t>
            </a:fld>
            <a:endParaRPr lang="en-US"/>
          </a:p>
        </p:txBody>
      </p:sp>
      <p:sp>
        <p:nvSpPr>
          <p:cNvPr id="44" name="Rectangle 32">
            <a:extLst>
              <a:ext uri="{FF2B5EF4-FFF2-40B4-BE49-F238E27FC236}">
                <a16:creationId xmlns:a16="http://schemas.microsoft.com/office/drawing/2014/main" id="{4C04F5F2-8D95-819E-C4F1-FB77D60BAC74}"/>
              </a:ext>
            </a:extLst>
          </p:cNvPr>
          <p:cNvSpPr/>
          <p:nvPr/>
        </p:nvSpPr>
        <p:spPr>
          <a:xfrm>
            <a:off x="7653528" y="5032946"/>
            <a:ext cx="1298448" cy="274320"/>
          </a:xfrm>
          <a:prstGeom prst="roundRect">
            <a:avLst/>
          </a:prstGeom>
          <a:solidFill>
            <a:srgbClr val="00BF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33">
            <a:extLst>
              <a:ext uri="{FF2B5EF4-FFF2-40B4-BE49-F238E27FC236}">
                <a16:creationId xmlns:a16="http://schemas.microsoft.com/office/drawing/2014/main" id="{DCDD5F29-B8B6-AB42-31B8-53DB035221A6}"/>
              </a:ext>
            </a:extLst>
          </p:cNvPr>
          <p:cNvSpPr txBox="1"/>
          <p:nvPr/>
        </p:nvSpPr>
        <p:spPr>
          <a:xfrm>
            <a:off x="7616190" y="5060378"/>
            <a:ext cx="1298448" cy="256032"/>
          </a:xfrm>
          <a:prstGeom prst="rect">
            <a:avLst/>
          </a:prstGeom>
          <a:noFill/>
        </p:spPr>
        <p:txBody>
          <a:bodyPr wrap="square">
            <a:spAutoFit/>
          </a:bodyPr>
          <a:lstStyle/>
          <a:p>
            <a:pPr algn="ctr"/>
            <a:r>
              <a:rPr lang="nl-BE" sz="1000" b="1" dirty="0">
                <a:solidFill>
                  <a:srgbClr val="0D1B2A"/>
                </a:solidFill>
              </a:rPr>
              <a:t>Bootstrap</a:t>
            </a:r>
            <a:endParaRPr sz="1000" b="1" i="0" dirty="0">
              <a:solidFill>
                <a:srgbClr val="0D1B2A"/>
              </a:solidFill>
            </a:endParaRPr>
          </a:p>
        </p:txBody>
      </p:sp>
      <p:sp>
        <p:nvSpPr>
          <p:cNvPr id="5" name="Rectangle 36">
            <a:extLst>
              <a:ext uri="{FF2B5EF4-FFF2-40B4-BE49-F238E27FC236}">
                <a16:creationId xmlns:a16="http://schemas.microsoft.com/office/drawing/2014/main" id="{DC093F4B-B662-3DFB-B3BF-DC10BF7504CA}"/>
              </a:ext>
            </a:extLst>
          </p:cNvPr>
          <p:cNvSpPr/>
          <p:nvPr/>
        </p:nvSpPr>
        <p:spPr>
          <a:xfrm>
            <a:off x="10433304" y="5029200"/>
            <a:ext cx="1298448" cy="27432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37">
            <a:extLst>
              <a:ext uri="{FF2B5EF4-FFF2-40B4-BE49-F238E27FC236}">
                <a16:creationId xmlns:a16="http://schemas.microsoft.com/office/drawing/2014/main" id="{4A0C4494-DC3B-8FD2-873A-36962A17E355}"/>
              </a:ext>
            </a:extLst>
          </p:cNvPr>
          <p:cNvSpPr txBox="1"/>
          <p:nvPr/>
        </p:nvSpPr>
        <p:spPr>
          <a:xfrm>
            <a:off x="10433304" y="5056632"/>
            <a:ext cx="1298448" cy="256032"/>
          </a:xfrm>
          <a:prstGeom prst="rect">
            <a:avLst/>
          </a:prstGeom>
          <a:noFill/>
        </p:spPr>
        <p:txBody>
          <a:bodyPr wrap="square">
            <a:spAutoFit/>
          </a:bodyPr>
          <a:lstStyle/>
          <a:p>
            <a:pPr algn="ctr"/>
            <a:r>
              <a:rPr lang="nl-BE" sz="1000" b="1" i="0" dirty="0" err="1">
                <a:solidFill>
                  <a:srgbClr val="0D1B2A"/>
                </a:solidFill>
              </a:rPr>
              <a:t>Nginx</a:t>
            </a:r>
            <a:endParaRPr sz="1000" b="1" i="0" dirty="0">
              <a:solidFill>
                <a:srgbClr val="0D1B2A"/>
              </a:solidFill>
            </a:endParaRPr>
          </a:p>
        </p:txBody>
      </p:sp>
      <p:sp>
        <p:nvSpPr>
          <p:cNvPr id="20" name="Rectangle 28">
            <a:extLst>
              <a:ext uri="{FF2B5EF4-FFF2-40B4-BE49-F238E27FC236}">
                <a16:creationId xmlns:a16="http://schemas.microsoft.com/office/drawing/2014/main" id="{7713B70E-D33F-AD42-E5B6-6B6CBF26463E}"/>
              </a:ext>
            </a:extLst>
          </p:cNvPr>
          <p:cNvSpPr/>
          <p:nvPr/>
        </p:nvSpPr>
        <p:spPr>
          <a:xfrm>
            <a:off x="7653528" y="4297680"/>
            <a:ext cx="1298448" cy="274320"/>
          </a:xfrm>
          <a:prstGeom prst="roundRect">
            <a:avLst/>
          </a:prstGeom>
          <a:solidFill>
            <a:srgbClr val="FF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9">
            <a:extLst>
              <a:ext uri="{FF2B5EF4-FFF2-40B4-BE49-F238E27FC236}">
                <a16:creationId xmlns:a16="http://schemas.microsoft.com/office/drawing/2014/main" id="{23F5CA66-7BF6-A929-CE81-AA831CA3B53E}"/>
              </a:ext>
            </a:extLst>
          </p:cNvPr>
          <p:cNvSpPr txBox="1"/>
          <p:nvPr/>
        </p:nvSpPr>
        <p:spPr>
          <a:xfrm>
            <a:off x="7623842" y="4325112"/>
            <a:ext cx="1298448" cy="256032"/>
          </a:xfrm>
          <a:prstGeom prst="rect">
            <a:avLst/>
          </a:prstGeom>
          <a:noFill/>
        </p:spPr>
        <p:txBody>
          <a:bodyPr wrap="square">
            <a:spAutoFit/>
          </a:bodyPr>
          <a:lstStyle/>
          <a:p>
            <a:pPr algn="ctr"/>
            <a:r>
              <a:rPr lang="nl-BE" sz="1000" b="1" dirty="0">
                <a:solidFill>
                  <a:srgbClr val="0D1B2A"/>
                </a:solidFill>
              </a:rPr>
              <a:t>Gymnasium</a:t>
            </a:r>
            <a:endParaRPr sz="1000" b="1" i="0" dirty="0">
              <a:solidFill>
                <a:srgbClr val="0D1B2A"/>
              </a:solidFill>
            </a:endParaRPr>
          </a:p>
        </p:txBody>
      </p:sp>
      <p:sp>
        <p:nvSpPr>
          <p:cNvPr id="22" name="Rectangle 36">
            <a:extLst>
              <a:ext uri="{FF2B5EF4-FFF2-40B4-BE49-F238E27FC236}">
                <a16:creationId xmlns:a16="http://schemas.microsoft.com/office/drawing/2014/main" id="{9B3DDDCA-B955-D862-C3B0-9F00EEADFB14}"/>
              </a:ext>
            </a:extLst>
          </p:cNvPr>
          <p:cNvSpPr/>
          <p:nvPr/>
        </p:nvSpPr>
        <p:spPr>
          <a:xfrm>
            <a:off x="10433304" y="4681728"/>
            <a:ext cx="1298448" cy="27432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37">
            <a:extLst>
              <a:ext uri="{FF2B5EF4-FFF2-40B4-BE49-F238E27FC236}">
                <a16:creationId xmlns:a16="http://schemas.microsoft.com/office/drawing/2014/main" id="{7690251F-16FC-4CEF-21EA-4D8A627B25DC}"/>
              </a:ext>
            </a:extLst>
          </p:cNvPr>
          <p:cNvSpPr txBox="1"/>
          <p:nvPr/>
        </p:nvSpPr>
        <p:spPr>
          <a:xfrm>
            <a:off x="10405872" y="4700016"/>
            <a:ext cx="1298448" cy="256032"/>
          </a:xfrm>
          <a:prstGeom prst="rect">
            <a:avLst/>
          </a:prstGeom>
          <a:noFill/>
        </p:spPr>
        <p:txBody>
          <a:bodyPr wrap="square">
            <a:spAutoFit/>
          </a:bodyPr>
          <a:lstStyle/>
          <a:p>
            <a:pPr algn="ctr"/>
            <a:r>
              <a:rPr lang="nl-BE" sz="1000" b="1" dirty="0" err="1">
                <a:solidFill>
                  <a:srgbClr val="0D1B2A"/>
                </a:solidFill>
              </a:rPr>
              <a:t>Redis</a:t>
            </a:r>
            <a:endParaRPr sz="1000" b="1" i="0" dirty="0">
              <a:solidFill>
                <a:srgbClr val="0D1B2A"/>
              </a:solidFill>
            </a:endParaRPr>
          </a:p>
        </p:txBody>
      </p:sp>
      <p:sp>
        <p:nvSpPr>
          <p:cNvPr id="24" name="Rectangle 28">
            <a:extLst>
              <a:ext uri="{FF2B5EF4-FFF2-40B4-BE49-F238E27FC236}">
                <a16:creationId xmlns:a16="http://schemas.microsoft.com/office/drawing/2014/main" id="{F3747E6A-0A75-E157-A694-EA5432BFC8EB}"/>
              </a:ext>
            </a:extLst>
          </p:cNvPr>
          <p:cNvSpPr/>
          <p:nvPr/>
        </p:nvSpPr>
        <p:spPr>
          <a:xfrm>
            <a:off x="9044178" y="4297680"/>
            <a:ext cx="1298448" cy="274320"/>
          </a:xfrm>
          <a:prstGeom prst="roundRect">
            <a:avLst/>
          </a:prstGeom>
          <a:solidFill>
            <a:srgbClr val="FF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29">
            <a:extLst>
              <a:ext uri="{FF2B5EF4-FFF2-40B4-BE49-F238E27FC236}">
                <a16:creationId xmlns:a16="http://schemas.microsoft.com/office/drawing/2014/main" id="{8F471B5B-2443-FA25-A992-2A78ED410067}"/>
              </a:ext>
            </a:extLst>
          </p:cNvPr>
          <p:cNvSpPr txBox="1"/>
          <p:nvPr/>
        </p:nvSpPr>
        <p:spPr>
          <a:xfrm>
            <a:off x="9014492" y="4325112"/>
            <a:ext cx="1298448" cy="256032"/>
          </a:xfrm>
          <a:prstGeom prst="rect">
            <a:avLst/>
          </a:prstGeom>
          <a:noFill/>
        </p:spPr>
        <p:txBody>
          <a:bodyPr wrap="square">
            <a:spAutoFit/>
          </a:bodyPr>
          <a:lstStyle/>
          <a:p>
            <a:pPr algn="ctr"/>
            <a:r>
              <a:rPr lang="nl-BE" sz="1000" b="1" dirty="0">
                <a:solidFill>
                  <a:srgbClr val="0D1B2A"/>
                </a:solidFill>
              </a:rPr>
              <a:t>RL</a:t>
            </a:r>
            <a:endParaRPr sz="1000" b="1" i="0" dirty="0">
              <a:solidFill>
                <a:srgbClr val="0D1B2A"/>
              </a:solidFill>
            </a:endParaRPr>
          </a:p>
        </p:txBody>
      </p:sp>
      <p:sp>
        <p:nvSpPr>
          <p:cNvPr id="32" name="Rectangle 36">
            <a:extLst>
              <a:ext uri="{FF2B5EF4-FFF2-40B4-BE49-F238E27FC236}">
                <a16:creationId xmlns:a16="http://schemas.microsoft.com/office/drawing/2014/main" id="{154ADFC4-2F45-7C25-CB45-23E443F76A82}"/>
              </a:ext>
            </a:extLst>
          </p:cNvPr>
          <p:cNvSpPr/>
          <p:nvPr/>
        </p:nvSpPr>
        <p:spPr>
          <a:xfrm>
            <a:off x="9043416" y="5381244"/>
            <a:ext cx="1298448" cy="27432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7">
            <a:extLst>
              <a:ext uri="{FF2B5EF4-FFF2-40B4-BE49-F238E27FC236}">
                <a16:creationId xmlns:a16="http://schemas.microsoft.com/office/drawing/2014/main" id="{7A8D2FC1-7976-356C-E239-8AB997FE7ABC}"/>
              </a:ext>
            </a:extLst>
          </p:cNvPr>
          <p:cNvSpPr txBox="1"/>
          <p:nvPr/>
        </p:nvSpPr>
        <p:spPr>
          <a:xfrm>
            <a:off x="9043416" y="5408676"/>
            <a:ext cx="1298448" cy="256032"/>
          </a:xfrm>
          <a:prstGeom prst="rect">
            <a:avLst/>
          </a:prstGeom>
          <a:noFill/>
        </p:spPr>
        <p:txBody>
          <a:bodyPr wrap="square">
            <a:spAutoFit/>
          </a:bodyPr>
          <a:lstStyle/>
          <a:p>
            <a:pPr algn="ctr"/>
            <a:r>
              <a:rPr lang="nl-BE" sz="1000" b="1" dirty="0">
                <a:solidFill>
                  <a:srgbClr val="0D1B2A"/>
                </a:solidFill>
              </a:rPr>
              <a:t>Shell</a:t>
            </a:r>
            <a:endParaRPr sz="1000" b="1" i="0" dirty="0">
              <a:solidFill>
                <a:srgbClr val="0D1B2A"/>
              </a:solidFill>
            </a:endParaRPr>
          </a:p>
        </p:txBody>
      </p:sp>
      <p:sp>
        <p:nvSpPr>
          <p:cNvPr id="36" name="Rectangle 36">
            <a:extLst>
              <a:ext uri="{FF2B5EF4-FFF2-40B4-BE49-F238E27FC236}">
                <a16:creationId xmlns:a16="http://schemas.microsoft.com/office/drawing/2014/main" id="{DCFB4456-AA01-164E-8D2F-BBC795B2BE62}"/>
              </a:ext>
            </a:extLst>
          </p:cNvPr>
          <p:cNvSpPr/>
          <p:nvPr/>
        </p:nvSpPr>
        <p:spPr>
          <a:xfrm>
            <a:off x="10445496" y="5381244"/>
            <a:ext cx="1298448" cy="27432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37">
            <a:extLst>
              <a:ext uri="{FF2B5EF4-FFF2-40B4-BE49-F238E27FC236}">
                <a16:creationId xmlns:a16="http://schemas.microsoft.com/office/drawing/2014/main" id="{0AEA8FAF-6230-30A4-7749-C6D3F11B5222}"/>
              </a:ext>
            </a:extLst>
          </p:cNvPr>
          <p:cNvSpPr txBox="1"/>
          <p:nvPr/>
        </p:nvSpPr>
        <p:spPr>
          <a:xfrm>
            <a:off x="10445496" y="5408676"/>
            <a:ext cx="1298448" cy="256032"/>
          </a:xfrm>
          <a:prstGeom prst="rect">
            <a:avLst/>
          </a:prstGeom>
          <a:noFill/>
        </p:spPr>
        <p:txBody>
          <a:bodyPr wrap="square">
            <a:spAutoFit/>
          </a:bodyPr>
          <a:lstStyle/>
          <a:p>
            <a:pPr algn="ctr"/>
            <a:r>
              <a:rPr lang="nl-BE" sz="1000" b="1" dirty="0" err="1">
                <a:solidFill>
                  <a:srgbClr val="0D1B2A"/>
                </a:solidFill>
              </a:rPr>
              <a:t>Makefile</a:t>
            </a:r>
            <a:endParaRPr sz="1000" b="1" i="0" dirty="0">
              <a:solidFill>
                <a:srgbClr val="0D1B2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p:bldP spid="14" grpId="0" animBg="1"/>
      <p:bldP spid="15" grpId="0" animBg="1"/>
      <p:bldP spid="16" grpId="0"/>
      <p:bldP spid="17" grpId="0" animBg="1"/>
      <p:bldP spid="18" grpId="0"/>
      <p:bldP spid="25" grpId="0" animBg="1"/>
      <p:bldP spid="26" grpId="0"/>
      <p:bldP spid="27" grpId="0" animBg="1"/>
      <p:bldP spid="28" grpId="0"/>
      <p:bldP spid="29" grpId="0" animBg="1"/>
      <p:bldP spid="30" grpId="0"/>
      <p:bldP spid="33" grpId="0" animBg="1"/>
      <p:bldP spid="34" grpId="0"/>
      <p:bldP spid="37" grpId="0" animBg="1"/>
      <p:bldP spid="38" grpId="0"/>
      <p:bldP spid="39" grpId="0" animBg="1"/>
      <p:bldP spid="40" grpId="0"/>
      <p:bldP spid="44" grpId="0" animBg="1"/>
      <p:bldP spid="45" grpId="0"/>
      <p:bldP spid="5" grpId="0" animBg="1"/>
      <p:bldP spid="19" grpId="0"/>
      <p:bldP spid="20" grpId="0" animBg="1"/>
      <p:bldP spid="21" grpId="0"/>
      <p:bldP spid="22" grpId="0" animBg="1"/>
      <p:bldP spid="23" grpId="0"/>
      <p:bldP spid="24" grpId="0" animBg="1"/>
      <p:bldP spid="31" grpId="0"/>
      <p:bldP spid="32" grpId="0" animBg="1"/>
      <p:bldP spid="35" grpId="0"/>
      <p:bldP spid="36" grpId="0" animBg="1"/>
      <p:bldP spid="4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C1F6D684-7DBE-C976-D72A-7B363EDCD36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764938-A53A-49CD-D626-686A5AD95BE2}"/>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374AEEEF-E37E-B070-32CC-6EDD6D68FC5F}"/>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CF35359F-75D4-32B9-0D24-0DC3C5DBF32F}"/>
              </a:ext>
            </a:extLst>
          </p:cNvPr>
          <p:cNvSpPr txBox="1"/>
          <p:nvPr/>
        </p:nvSpPr>
        <p:spPr>
          <a:xfrm>
            <a:off x="1522412" y="473516"/>
            <a:ext cx="9144000" cy="4524315"/>
          </a:xfrm>
          <a:prstGeom prst="rect">
            <a:avLst/>
          </a:prstGeom>
          <a:noFill/>
        </p:spPr>
        <p:txBody>
          <a:bodyPr wrap="square">
            <a:spAutoFit/>
          </a:bodyPr>
          <a:lstStyle/>
          <a:p>
            <a:pPr algn="ctr">
              <a:defRPr/>
            </a:pPr>
            <a:r>
              <a:rPr lang="nl-BE" sz="7200" b="1" dirty="0">
                <a:solidFill>
                  <a:srgbClr val="0099FF"/>
                </a:solidFill>
              </a:rPr>
              <a:t>Onderzoeksvraag </a:t>
            </a:r>
          </a:p>
          <a:p>
            <a:pPr algn="ctr">
              <a:defRPr/>
            </a:pPr>
            <a:r>
              <a:rPr lang="nl-BE" sz="7200" b="1" dirty="0">
                <a:solidFill>
                  <a:srgbClr val="0099FF"/>
                </a:solidFill>
              </a:rPr>
              <a:t>&amp; </a:t>
            </a:r>
          </a:p>
          <a:p>
            <a:pPr algn="ctr">
              <a:defRPr/>
            </a:pPr>
            <a:r>
              <a:rPr lang="nl-BE" sz="7200" b="1" dirty="0">
                <a:solidFill>
                  <a:srgbClr val="0099FF"/>
                </a:solidFill>
              </a:rPr>
              <a:t>deelvragen</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4F55075F-AEAE-E4E7-DC21-5685424D1C2A}"/>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4503E777-2693-4C77-58A2-E118A9DB7D66}"/>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13962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0" y="0"/>
            <a:ext cx="73152" cy="1005840"/>
          </a:xfrm>
          <a:prstGeom prst="rect">
            <a:avLst/>
          </a:prstGeom>
          <a:solidFill>
            <a:srgbClr val="FF6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201168" y="73152"/>
            <a:ext cx="5148332"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dirty="0" err="1">
                <a:ln>
                  <a:noFill/>
                </a:ln>
                <a:solidFill>
                  <a:srgbClr val="FFFFFF"/>
                </a:solidFill>
                <a:effectLst/>
                <a:uLnTx/>
                <a:uFillTx/>
                <a:latin typeface="Calibri"/>
                <a:ea typeface="+mn-ea"/>
                <a:cs typeface="+mn-cs"/>
              </a:rPr>
              <a:t>Onderzoeksvraag</a:t>
            </a:r>
            <a:r>
              <a:rPr kumimoji="0" lang="nl-BE" sz="3000" b="1" i="0" u="none" strike="noStrike" kern="1200" cap="none" spc="0" normalizeH="0" baseline="0" noProof="0" dirty="0">
                <a:ln>
                  <a:noFill/>
                </a:ln>
                <a:solidFill>
                  <a:srgbClr val="FFFFFF"/>
                </a:solidFill>
                <a:effectLst/>
                <a:uLnTx/>
                <a:uFillTx/>
                <a:latin typeface="Calibri"/>
                <a:ea typeface="+mn-ea"/>
                <a:cs typeface="+mn-cs"/>
              </a:rPr>
              <a:t> &amp; deelvragen</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ectangle 5"/>
          <p:cNvSpPr/>
          <p:nvPr/>
        </p:nvSpPr>
        <p:spPr>
          <a:xfrm>
            <a:off x="274320" y="1188720"/>
            <a:ext cx="11640312" cy="1417320"/>
          </a:xfrm>
          <a:prstGeom prst="rect">
            <a:avLst/>
          </a:prstGeom>
          <a:solidFill>
            <a:srgbClr val="0A1E35"/>
          </a:solidFill>
          <a:ln w="31750">
            <a:solidFill>
              <a:srgbClr val="FF65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274320" y="1188720"/>
            <a:ext cx="128016" cy="1417320"/>
          </a:xfrm>
          <a:prstGeom prst="rect">
            <a:avLst/>
          </a:prstGeom>
          <a:solidFill>
            <a:srgbClr val="FF6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548640" y="1207008"/>
            <a:ext cx="2743200"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err="1">
                <a:ln>
                  <a:noFill/>
                </a:ln>
                <a:solidFill>
                  <a:srgbClr val="FF6500"/>
                </a:solidFill>
                <a:effectLst/>
                <a:uLnTx/>
                <a:uFillTx/>
                <a:latin typeface="Calibri"/>
                <a:ea typeface="+mn-ea"/>
                <a:cs typeface="+mn-cs"/>
              </a:rPr>
              <a:t>Hoofdvraag</a:t>
            </a:r>
            <a:endParaRPr kumimoji="0" sz="1300" b="1" i="0" u="none" strike="noStrike" kern="1200" cap="none" spc="0" normalizeH="0" baseline="0" noProof="0" dirty="0">
              <a:ln>
                <a:noFill/>
              </a:ln>
              <a:solidFill>
                <a:srgbClr val="FF6500"/>
              </a:solidFill>
              <a:effectLst/>
              <a:uLnTx/>
              <a:uFillTx/>
              <a:latin typeface="Calibri"/>
              <a:ea typeface="+mn-ea"/>
              <a:cs typeface="+mn-cs"/>
            </a:endParaRPr>
          </a:p>
        </p:txBody>
      </p:sp>
      <p:sp>
        <p:nvSpPr>
          <p:cNvPr id="9" name="TextBox 8"/>
          <p:cNvSpPr txBox="1"/>
          <p:nvPr/>
        </p:nvSpPr>
        <p:spPr>
          <a:xfrm>
            <a:off x="562292" y="1386641"/>
            <a:ext cx="11064240" cy="143885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2400" b="0" i="1" u="none" strike="noStrike" kern="1200" cap="none" spc="0" normalizeH="0" baseline="0" noProof="0" dirty="0">
                <a:ln>
                  <a:noFill/>
                </a:ln>
                <a:solidFill>
                  <a:prstClr val="white"/>
                </a:solidFill>
                <a:effectLst/>
                <a:uLnTx/>
                <a:uFillTx/>
                <a:latin typeface="Calibri"/>
                <a:ea typeface="+mn-ea"/>
                <a:cs typeface="+mn-cs"/>
              </a:rPr>
              <a:t>Wat is het effect van de SAM </a:t>
            </a:r>
            <a:r>
              <a:rPr kumimoji="0" lang="nl-BE" sz="2400" b="0" i="1" u="none" strike="noStrike" kern="1200" cap="none" spc="0" normalizeH="0" baseline="0" noProof="0" dirty="0" err="1">
                <a:ln>
                  <a:noFill/>
                </a:ln>
                <a:solidFill>
                  <a:prstClr val="white"/>
                </a:solidFill>
                <a:effectLst/>
                <a:uLnTx/>
                <a:uFillTx/>
                <a:latin typeface="Calibri"/>
                <a:ea typeface="+mn-ea"/>
                <a:cs typeface="+mn-cs"/>
              </a:rPr>
              <a:t>reinforcement</a:t>
            </a:r>
            <a:r>
              <a:rPr kumimoji="0" lang="nl-BE" sz="2400" b="0" i="1" u="none" strike="noStrike" kern="1200" cap="none" spc="0" normalizeH="0" baseline="0" noProof="0" dirty="0">
                <a:ln>
                  <a:noFill/>
                </a:ln>
                <a:solidFill>
                  <a:prstClr val="white"/>
                </a:solidFill>
                <a:effectLst/>
                <a:uLnTx/>
                <a:uFillTx/>
                <a:latin typeface="Calibri"/>
                <a:ea typeface="+mn-ea"/>
                <a:cs typeface="+mn-cs"/>
              </a:rPr>
              <a:t> </a:t>
            </a:r>
            <a:r>
              <a:rPr kumimoji="0" lang="nl-BE" sz="2400" b="0" i="1" u="none" strike="noStrike" kern="1200" cap="none" spc="0" normalizeH="0" baseline="0" noProof="0" dirty="0" err="1">
                <a:ln>
                  <a:noFill/>
                </a:ln>
                <a:solidFill>
                  <a:prstClr val="white"/>
                </a:solidFill>
                <a:effectLst/>
                <a:uLnTx/>
                <a:uFillTx/>
                <a:latin typeface="Calibri"/>
                <a:ea typeface="+mn-ea"/>
                <a:cs typeface="+mn-cs"/>
              </a:rPr>
              <a:t>learning</a:t>
            </a:r>
            <a:r>
              <a:rPr kumimoji="0" lang="nl-BE" sz="2400" b="0" i="1" u="none" strike="noStrike" kern="1200" cap="none" spc="0" normalizeH="0" baseline="0" noProof="0" dirty="0">
                <a:ln>
                  <a:noFill/>
                </a:ln>
                <a:solidFill>
                  <a:prstClr val="white"/>
                </a:solidFill>
                <a:effectLst/>
                <a:uLnTx/>
                <a:uFillTx/>
                <a:latin typeface="Calibri"/>
                <a:ea typeface="+mn-ea"/>
                <a:cs typeface="+mn-cs"/>
              </a:rPr>
              <a:t>-controller op de verkeersprestatie in vergelijking met een vaste tijdsregeling binnen vooraf gedefinieerde SUMO-scenario’s met variërende verkeersintensiteit?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sz="1550" b="1" i="0" u="none" strike="noStrike" kern="1200" cap="none" spc="0" normalizeH="0" baseline="0" noProof="0" dirty="0">
              <a:ln>
                <a:noFill/>
              </a:ln>
              <a:solidFill>
                <a:srgbClr val="FFFFFF"/>
              </a:solidFill>
              <a:effectLst/>
              <a:uLnTx/>
              <a:uFillTx/>
              <a:latin typeface="Calibri"/>
              <a:ea typeface="+mn-ea"/>
              <a:cs typeface="+mn-cs"/>
            </a:endParaRPr>
          </a:p>
        </p:txBody>
      </p:sp>
      <p:sp>
        <p:nvSpPr>
          <p:cNvPr id="10" name="Rectangle 9"/>
          <p:cNvSpPr/>
          <p:nvPr/>
        </p:nvSpPr>
        <p:spPr>
          <a:xfrm>
            <a:off x="274320" y="2834640"/>
            <a:ext cx="3813048" cy="1691640"/>
          </a:xfrm>
          <a:prstGeom prst="rect">
            <a:avLst/>
          </a:prstGeom>
          <a:solidFill>
            <a:srgbClr val="16283E"/>
          </a:solidFill>
          <a:ln w="19050">
            <a:solidFill>
              <a:srgbClr val="009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274320" y="2834640"/>
            <a:ext cx="3813048" cy="4572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384048" y="2944368"/>
            <a:ext cx="457200" cy="274320"/>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384048" y="2944368"/>
            <a:ext cx="457200" cy="2743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D1B2A"/>
                </a:solidFill>
                <a:effectLst/>
                <a:uLnTx/>
                <a:uFillTx/>
                <a:latin typeface="Calibri"/>
                <a:ea typeface="+mn-ea"/>
                <a:cs typeface="+mn-cs"/>
              </a:rPr>
              <a:t>SQ1</a:t>
            </a:r>
          </a:p>
        </p:txBody>
      </p:sp>
      <p:sp>
        <p:nvSpPr>
          <p:cNvPr id="14" name="TextBox 13"/>
          <p:cNvSpPr txBox="1"/>
          <p:nvPr/>
        </p:nvSpPr>
        <p:spPr>
          <a:xfrm>
            <a:off x="932688" y="2944368"/>
            <a:ext cx="3017520" cy="29260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099FF"/>
                </a:solidFill>
                <a:effectLst/>
                <a:uLnTx/>
                <a:uFillTx/>
                <a:latin typeface="Calibri"/>
                <a:ea typeface="+mn-ea"/>
                <a:cs typeface="+mn-cs"/>
              </a:rPr>
              <a:t>RL-</a:t>
            </a:r>
            <a:r>
              <a:rPr kumimoji="0" sz="1300" b="1" i="0" u="none" strike="noStrike" kern="1200" cap="none" spc="0" normalizeH="0" baseline="0" noProof="0" dirty="0" err="1">
                <a:ln>
                  <a:noFill/>
                </a:ln>
                <a:solidFill>
                  <a:srgbClr val="0099FF"/>
                </a:solidFill>
                <a:effectLst/>
                <a:uLnTx/>
                <a:uFillTx/>
                <a:latin typeface="Calibri"/>
                <a:ea typeface="+mn-ea"/>
                <a:cs typeface="+mn-cs"/>
              </a:rPr>
              <a:t>Techniek</a:t>
            </a:r>
            <a:endParaRPr kumimoji="0" sz="1300" b="1" i="0" u="none" strike="noStrike" kern="1200" cap="none" spc="0" normalizeH="0" baseline="0" noProof="0" dirty="0">
              <a:ln>
                <a:noFill/>
              </a:ln>
              <a:solidFill>
                <a:srgbClr val="0099FF"/>
              </a:solidFill>
              <a:effectLst/>
              <a:uLnTx/>
              <a:uFillTx/>
              <a:latin typeface="Calibri"/>
              <a:ea typeface="+mn-ea"/>
              <a:cs typeface="+mn-cs"/>
            </a:endParaRPr>
          </a:p>
        </p:txBody>
      </p:sp>
      <p:sp>
        <p:nvSpPr>
          <p:cNvPr id="15" name="TextBox 14"/>
          <p:cNvSpPr txBox="1"/>
          <p:nvPr/>
        </p:nvSpPr>
        <p:spPr>
          <a:xfrm>
            <a:off x="411480" y="3310128"/>
            <a:ext cx="3538728" cy="95410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B0C4D8"/>
                </a:solidFill>
                <a:effectLst/>
                <a:uLnTx/>
                <a:uFillTx/>
                <a:latin typeface="Calibri"/>
                <a:ea typeface="+mn-ea"/>
                <a:cs typeface="+mn-cs"/>
              </a:rPr>
              <a:t>Welke reinforcement learning-</a:t>
            </a:r>
            <a:r>
              <a:rPr kumimoji="0" sz="1400" b="0" i="0" u="none" strike="noStrike" kern="1200" cap="none" spc="0" normalizeH="0" baseline="0" noProof="0" dirty="0" err="1">
                <a:ln>
                  <a:noFill/>
                </a:ln>
                <a:solidFill>
                  <a:srgbClr val="B0C4D8"/>
                </a:solidFill>
                <a:effectLst/>
                <a:uLnTx/>
                <a:uFillTx/>
                <a:latin typeface="Calibri"/>
                <a:ea typeface="+mn-ea"/>
                <a:cs typeface="+mn-cs"/>
              </a:rPr>
              <a:t>techniek</a:t>
            </a:r>
            <a:r>
              <a:rPr kumimoji="0" sz="1400" b="0" i="0" u="none" strike="noStrike" kern="1200" cap="none" spc="0" normalizeH="0" baseline="0" noProof="0" dirty="0">
                <a:ln>
                  <a:noFill/>
                </a:ln>
                <a:solidFill>
                  <a:srgbClr val="B0C4D8"/>
                </a:solidFill>
                <a:effectLst/>
                <a:uLnTx/>
                <a:uFillTx/>
                <a:latin typeface="Calibri"/>
                <a:ea typeface="+mn-ea"/>
                <a:cs typeface="+mn-cs"/>
              </a:rPr>
              <a:t> is het </a:t>
            </a:r>
            <a:r>
              <a:rPr kumimoji="0" sz="1400" b="0" i="0" u="none" strike="noStrike" kern="1200" cap="none" spc="0" normalizeH="0" baseline="0" noProof="0" dirty="0" err="1">
                <a:ln>
                  <a:noFill/>
                </a:ln>
                <a:solidFill>
                  <a:srgbClr val="B0C4D8"/>
                </a:solidFill>
                <a:effectLst/>
                <a:uLnTx/>
                <a:uFillTx/>
                <a:latin typeface="Calibri"/>
                <a:ea typeface="+mn-ea"/>
                <a:cs typeface="+mn-cs"/>
              </a:rPr>
              <a:t>meest</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geschikt</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voor</a:t>
            </a:r>
            <a:r>
              <a:rPr kumimoji="0" sz="1400" b="0" i="0" u="none" strike="noStrike" kern="1200" cap="none" spc="0" normalizeH="0" baseline="0" noProof="0" dirty="0">
                <a:ln>
                  <a:noFill/>
                </a:ln>
                <a:solidFill>
                  <a:srgbClr val="B0C4D8"/>
                </a:solidFill>
                <a:effectLst/>
                <a:uLnTx/>
                <a:uFillTx/>
                <a:latin typeface="Calibri"/>
                <a:ea typeface="+mn-ea"/>
                <a:cs typeface="+mn-cs"/>
              </a:rPr>
              <a:t> de </a:t>
            </a:r>
            <a:r>
              <a:rPr kumimoji="0" sz="1400" b="0" i="0" u="none" strike="noStrike" kern="1200" cap="none" spc="0" normalizeH="0" baseline="0" noProof="0" dirty="0" err="1">
                <a:ln>
                  <a:noFill/>
                </a:ln>
                <a:solidFill>
                  <a:srgbClr val="B0C4D8"/>
                </a:solidFill>
                <a:effectLst/>
                <a:uLnTx/>
                <a:uFillTx/>
                <a:latin typeface="Calibri"/>
                <a:ea typeface="+mn-ea"/>
                <a:cs typeface="+mn-cs"/>
              </a:rPr>
              <a:t>implementatie</a:t>
            </a:r>
            <a:r>
              <a:rPr kumimoji="0" sz="1400" b="0" i="0" u="none" strike="noStrike" kern="1200" cap="none" spc="0" normalizeH="0" baseline="0" noProof="0" dirty="0">
                <a:ln>
                  <a:noFill/>
                </a:ln>
                <a:solidFill>
                  <a:srgbClr val="B0C4D8"/>
                </a:solidFill>
                <a:effectLst/>
                <a:uLnTx/>
                <a:uFillTx/>
                <a:latin typeface="Calibri"/>
                <a:ea typeface="+mn-ea"/>
                <a:cs typeface="+mn-cs"/>
              </a:rPr>
              <a:t> van de SAM-controller </a:t>
            </a:r>
            <a:r>
              <a:rPr kumimoji="0" sz="1400" b="0" i="0" u="none" strike="noStrike" kern="1200" cap="none" spc="0" normalizeH="0" baseline="0" noProof="0" dirty="0" err="1">
                <a:ln>
                  <a:noFill/>
                </a:ln>
                <a:solidFill>
                  <a:srgbClr val="B0C4D8"/>
                </a:solidFill>
                <a:effectLst/>
                <a:uLnTx/>
                <a:uFillTx/>
                <a:latin typeface="Calibri"/>
                <a:ea typeface="+mn-ea"/>
                <a:cs typeface="+mn-cs"/>
              </a:rPr>
              <a:t>binnen</a:t>
            </a:r>
            <a:r>
              <a:rPr kumimoji="0" sz="1400" b="0" i="0" u="none" strike="noStrike" kern="1200" cap="none" spc="0" normalizeH="0" baseline="0" noProof="0" dirty="0">
                <a:ln>
                  <a:noFill/>
                </a:ln>
                <a:solidFill>
                  <a:srgbClr val="B0C4D8"/>
                </a:solidFill>
                <a:effectLst/>
                <a:uLnTx/>
                <a:uFillTx/>
                <a:latin typeface="Calibri"/>
                <a:ea typeface="+mn-ea"/>
                <a:cs typeface="+mn-cs"/>
              </a:rPr>
              <a:t> het </a:t>
            </a:r>
            <a:r>
              <a:rPr kumimoji="0" sz="1400" b="0" i="0" u="none" strike="noStrike" kern="1200" cap="none" spc="0" normalizeH="0" baseline="0" noProof="0" dirty="0" err="1">
                <a:ln>
                  <a:noFill/>
                </a:ln>
                <a:solidFill>
                  <a:srgbClr val="B0C4D8"/>
                </a:solidFill>
                <a:effectLst/>
                <a:uLnTx/>
                <a:uFillTx/>
                <a:latin typeface="Calibri"/>
                <a:ea typeface="+mn-ea"/>
                <a:cs typeface="+mn-cs"/>
              </a:rPr>
              <a:t>gekozen</a:t>
            </a:r>
            <a:r>
              <a:rPr kumimoji="0" sz="1400" b="0" i="0" u="none" strike="noStrike" kern="1200" cap="none" spc="0" normalizeH="0" baseline="0" noProof="0" dirty="0">
                <a:ln>
                  <a:noFill/>
                </a:ln>
                <a:solidFill>
                  <a:srgbClr val="B0C4D8"/>
                </a:solidFill>
                <a:effectLst/>
                <a:uLnTx/>
                <a:uFillTx/>
                <a:latin typeface="Calibri"/>
                <a:ea typeface="+mn-ea"/>
                <a:cs typeface="+mn-cs"/>
              </a:rPr>
              <a:t> SUMO-scenario?</a:t>
            </a:r>
          </a:p>
        </p:txBody>
      </p:sp>
      <p:sp>
        <p:nvSpPr>
          <p:cNvPr id="16" name="Rectangle 15"/>
          <p:cNvSpPr/>
          <p:nvPr/>
        </p:nvSpPr>
        <p:spPr>
          <a:xfrm>
            <a:off x="4224528" y="2834640"/>
            <a:ext cx="3813048" cy="1691640"/>
          </a:xfrm>
          <a:prstGeom prst="rect">
            <a:avLst/>
          </a:prstGeom>
          <a:solidFill>
            <a:srgbClr val="16283E"/>
          </a:solidFill>
          <a:ln w="1905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4224528" y="2834640"/>
            <a:ext cx="3813048"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p:cNvSpPr/>
          <p:nvPr/>
        </p:nvSpPr>
        <p:spPr>
          <a:xfrm>
            <a:off x="4334256" y="2944368"/>
            <a:ext cx="457200" cy="274320"/>
          </a:xfrm>
          <a:prstGeom prst="round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4334256" y="2944368"/>
            <a:ext cx="457200"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D1B2A"/>
                </a:solidFill>
                <a:effectLst/>
                <a:uLnTx/>
                <a:uFillTx/>
                <a:latin typeface="Calibri"/>
                <a:ea typeface="+mn-ea"/>
                <a:cs typeface="+mn-cs"/>
              </a:rPr>
              <a:t>SQ2</a:t>
            </a:r>
          </a:p>
        </p:txBody>
      </p:sp>
      <p:sp>
        <p:nvSpPr>
          <p:cNvPr id="20" name="TextBox 19"/>
          <p:cNvSpPr txBox="1"/>
          <p:nvPr/>
        </p:nvSpPr>
        <p:spPr>
          <a:xfrm>
            <a:off x="4882896" y="2944368"/>
            <a:ext cx="3017520" cy="29260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0E596"/>
                </a:solidFill>
                <a:effectLst/>
                <a:uLnTx/>
                <a:uFillTx/>
                <a:latin typeface="Calibri"/>
                <a:ea typeface="+mn-ea"/>
                <a:cs typeface="+mn-cs"/>
              </a:rPr>
              <a:t>Metrieken</a:t>
            </a:r>
          </a:p>
        </p:txBody>
      </p:sp>
      <p:sp>
        <p:nvSpPr>
          <p:cNvPr id="21" name="TextBox 20"/>
          <p:cNvSpPr txBox="1"/>
          <p:nvPr/>
        </p:nvSpPr>
        <p:spPr>
          <a:xfrm>
            <a:off x="4361688" y="3310128"/>
            <a:ext cx="3538728" cy="95410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B0C4D8"/>
                </a:solidFill>
                <a:effectLst/>
                <a:uLnTx/>
                <a:uFillTx/>
                <a:latin typeface="Calibri"/>
                <a:ea typeface="+mn-ea"/>
                <a:cs typeface="+mn-cs"/>
              </a:rPr>
              <a:t>Welke </a:t>
            </a:r>
            <a:r>
              <a:rPr kumimoji="0" sz="1400" b="0" i="0" u="none" strike="noStrike" kern="1200" cap="none" spc="0" normalizeH="0" baseline="0" noProof="0" dirty="0" err="1">
                <a:ln>
                  <a:noFill/>
                </a:ln>
                <a:solidFill>
                  <a:srgbClr val="B0C4D8"/>
                </a:solidFill>
                <a:effectLst/>
                <a:uLnTx/>
                <a:uFillTx/>
                <a:latin typeface="Calibri"/>
                <a:ea typeface="+mn-ea"/>
                <a:cs typeface="+mn-cs"/>
              </a:rPr>
              <a:t>metrieken</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bieden</a:t>
            </a:r>
            <a:r>
              <a:rPr kumimoji="0" sz="1400" b="0" i="0" u="none" strike="noStrike" kern="1200" cap="none" spc="0" normalizeH="0" baseline="0" noProof="0" dirty="0">
                <a:ln>
                  <a:noFill/>
                </a:ln>
                <a:solidFill>
                  <a:srgbClr val="B0C4D8"/>
                </a:solidFill>
                <a:effectLst/>
                <a:uLnTx/>
                <a:uFillTx/>
                <a:latin typeface="Calibri"/>
                <a:ea typeface="+mn-ea"/>
                <a:cs typeface="+mn-cs"/>
              </a:rPr>
              <a:t> de </a:t>
            </a:r>
            <a:r>
              <a:rPr kumimoji="0" sz="1400" b="0" i="0" u="none" strike="noStrike" kern="1200" cap="none" spc="0" normalizeH="0" baseline="0" noProof="0" dirty="0" err="1">
                <a:ln>
                  <a:noFill/>
                </a:ln>
                <a:solidFill>
                  <a:srgbClr val="B0C4D8"/>
                </a:solidFill>
                <a:effectLst/>
                <a:uLnTx/>
                <a:uFillTx/>
                <a:latin typeface="Calibri"/>
                <a:ea typeface="+mn-ea"/>
                <a:cs typeface="+mn-cs"/>
              </a:rPr>
              <a:t>meeste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betrouwbare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en</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relevante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inzichten</a:t>
            </a:r>
            <a:r>
              <a:rPr kumimoji="0" sz="1400" b="0" i="0" u="none" strike="noStrike" kern="1200" cap="none" spc="0" normalizeH="0" baseline="0" noProof="0" dirty="0">
                <a:ln>
                  <a:noFill/>
                </a:ln>
                <a:solidFill>
                  <a:srgbClr val="B0C4D8"/>
                </a:solidFill>
                <a:effectLst/>
                <a:uLnTx/>
                <a:uFillTx/>
                <a:latin typeface="Calibri"/>
                <a:ea typeface="+mn-ea"/>
                <a:cs typeface="+mn-cs"/>
              </a:rPr>
              <a:t> om het effect van de SAM RL-controller op </a:t>
            </a:r>
            <a:r>
              <a:rPr kumimoji="0" sz="1400" b="0" i="0" u="none" strike="noStrike" kern="1200" cap="none" spc="0" normalizeH="0" baseline="0" noProof="0" dirty="0" err="1">
                <a:ln>
                  <a:noFill/>
                </a:ln>
                <a:solidFill>
                  <a:srgbClr val="B0C4D8"/>
                </a:solidFill>
                <a:effectLst/>
                <a:uLnTx/>
                <a:uFillTx/>
                <a:latin typeface="Calibri"/>
                <a:ea typeface="+mn-ea"/>
                <a:cs typeface="+mn-cs"/>
              </a:rPr>
              <a:t>verkeersprestaties</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te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beoordelen</a:t>
            </a:r>
            <a:r>
              <a:rPr kumimoji="0" sz="1400" b="0" i="0" u="none" strike="noStrike" kern="1200" cap="none" spc="0" normalizeH="0" baseline="0" noProof="0" dirty="0">
                <a:ln>
                  <a:noFill/>
                </a:ln>
                <a:solidFill>
                  <a:srgbClr val="B0C4D8"/>
                </a:solidFill>
                <a:effectLst/>
                <a:uLnTx/>
                <a:uFillTx/>
                <a:latin typeface="Calibri"/>
                <a:ea typeface="+mn-ea"/>
                <a:cs typeface="+mn-cs"/>
              </a:rPr>
              <a:t>?</a:t>
            </a:r>
          </a:p>
        </p:txBody>
      </p:sp>
      <p:sp>
        <p:nvSpPr>
          <p:cNvPr id="22" name="Rectangle 21"/>
          <p:cNvSpPr/>
          <p:nvPr/>
        </p:nvSpPr>
        <p:spPr>
          <a:xfrm>
            <a:off x="8174736" y="2834640"/>
            <a:ext cx="3813048" cy="1691640"/>
          </a:xfrm>
          <a:prstGeom prst="rect">
            <a:avLst/>
          </a:prstGeom>
          <a:solidFill>
            <a:srgbClr val="16283E"/>
          </a:solidFill>
          <a:ln w="19050">
            <a:solidFill>
              <a:srgbClr val="FFBF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22"/>
          <p:cNvSpPr/>
          <p:nvPr/>
        </p:nvSpPr>
        <p:spPr>
          <a:xfrm>
            <a:off x="8174736" y="2834640"/>
            <a:ext cx="3813048"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Rectangle 23"/>
          <p:cNvSpPr/>
          <p:nvPr/>
        </p:nvSpPr>
        <p:spPr>
          <a:xfrm>
            <a:off x="8284464" y="2944368"/>
            <a:ext cx="457200" cy="274320"/>
          </a:xfrm>
          <a:prstGeom prst="round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8284464" y="2944368"/>
            <a:ext cx="457200"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D1B2A"/>
                </a:solidFill>
                <a:effectLst/>
                <a:uLnTx/>
                <a:uFillTx/>
                <a:latin typeface="Calibri"/>
                <a:ea typeface="+mn-ea"/>
                <a:cs typeface="+mn-cs"/>
              </a:rPr>
              <a:t>SQ3</a:t>
            </a:r>
          </a:p>
        </p:txBody>
      </p:sp>
      <p:sp>
        <p:nvSpPr>
          <p:cNvPr id="26" name="TextBox 25"/>
          <p:cNvSpPr txBox="1"/>
          <p:nvPr/>
        </p:nvSpPr>
        <p:spPr>
          <a:xfrm>
            <a:off x="8833104" y="2944368"/>
            <a:ext cx="3017520" cy="29260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BF00"/>
                </a:solidFill>
                <a:effectLst/>
                <a:uLnTx/>
                <a:uFillTx/>
                <a:latin typeface="Calibri"/>
                <a:ea typeface="+mn-ea"/>
                <a:cs typeface="+mn-cs"/>
              </a:rPr>
              <a:t>Piekuren</a:t>
            </a:r>
          </a:p>
        </p:txBody>
      </p:sp>
      <p:sp>
        <p:nvSpPr>
          <p:cNvPr id="27" name="TextBox 26"/>
          <p:cNvSpPr txBox="1"/>
          <p:nvPr/>
        </p:nvSpPr>
        <p:spPr>
          <a:xfrm>
            <a:off x="8311896" y="3310128"/>
            <a:ext cx="3538728"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B0C4D8"/>
                </a:solidFill>
                <a:effectLst/>
                <a:uLnTx/>
                <a:uFillTx/>
                <a:latin typeface="Calibri"/>
                <a:ea typeface="+mn-ea"/>
                <a:cs typeface="+mn-cs"/>
              </a:rPr>
              <a:t>Hoe </a:t>
            </a:r>
            <a:r>
              <a:rPr kumimoji="0" sz="1400" b="0" i="0" u="none" strike="noStrike" kern="1200" cap="none" spc="0" normalizeH="0" baseline="0" noProof="0" dirty="0" err="1">
                <a:ln>
                  <a:noFill/>
                </a:ln>
                <a:solidFill>
                  <a:srgbClr val="B0C4D8"/>
                </a:solidFill>
                <a:effectLst/>
                <a:uLnTx/>
                <a:uFillTx/>
                <a:latin typeface="Calibri"/>
                <a:ea typeface="+mn-ea"/>
                <a:cs typeface="+mn-cs"/>
              </a:rPr>
              <a:t>presteert</a:t>
            </a:r>
            <a:r>
              <a:rPr kumimoji="0" sz="1400" b="0" i="0" u="none" strike="noStrike" kern="1200" cap="none" spc="0" normalizeH="0" baseline="0" noProof="0" dirty="0">
                <a:ln>
                  <a:noFill/>
                </a:ln>
                <a:solidFill>
                  <a:srgbClr val="B0C4D8"/>
                </a:solidFill>
                <a:effectLst/>
                <a:uLnTx/>
                <a:uFillTx/>
                <a:latin typeface="Calibri"/>
                <a:ea typeface="+mn-ea"/>
                <a:cs typeface="+mn-cs"/>
              </a:rPr>
              <a:t> de SAM RL-controller </a:t>
            </a:r>
            <a:r>
              <a:rPr kumimoji="0" sz="1400" b="0" i="0" u="none" strike="noStrike" kern="1200" cap="none" spc="0" normalizeH="0" baseline="0" noProof="0" dirty="0" err="1">
                <a:ln>
                  <a:noFill/>
                </a:ln>
                <a:solidFill>
                  <a:srgbClr val="B0C4D8"/>
                </a:solidFill>
                <a:effectLst/>
                <a:uLnTx/>
                <a:uFillTx/>
                <a:latin typeface="Calibri"/>
                <a:ea typeface="+mn-ea"/>
                <a:cs typeface="+mn-cs"/>
              </a:rPr>
              <a:t>bij</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hoge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verkeersintensiteit</a:t>
            </a:r>
            <a:r>
              <a:rPr kumimoji="0" sz="1400" b="0" i="0" u="none" strike="noStrike" kern="1200" cap="none" spc="0" normalizeH="0" baseline="0" noProof="0" dirty="0">
                <a:ln>
                  <a:noFill/>
                </a:ln>
                <a:solidFill>
                  <a:srgbClr val="B0C4D8"/>
                </a:solidFill>
                <a:effectLst/>
                <a:uLnTx/>
                <a:uFillTx/>
                <a:latin typeface="Calibri"/>
                <a:ea typeface="+mn-ea"/>
                <a:cs typeface="+mn-cs"/>
              </a:rPr>
              <a:t> of </a:t>
            </a:r>
            <a:r>
              <a:rPr kumimoji="0" sz="1400" b="0" i="0" u="none" strike="noStrike" kern="1200" cap="none" spc="0" normalizeH="0" baseline="0" noProof="0" dirty="0" err="1">
                <a:ln>
                  <a:noFill/>
                </a:ln>
                <a:solidFill>
                  <a:srgbClr val="B0C4D8"/>
                </a:solidFill>
                <a:effectLst/>
                <a:uLnTx/>
                <a:uFillTx/>
                <a:latin typeface="Calibri"/>
                <a:ea typeface="+mn-ea"/>
                <a:cs typeface="+mn-cs"/>
              </a:rPr>
              <a:t>tijdens</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piekuren</a:t>
            </a:r>
            <a:r>
              <a:rPr kumimoji="0" sz="1400" b="0" i="0" u="none" strike="noStrike" kern="1200" cap="none" spc="0" normalizeH="0" baseline="0" noProof="0" dirty="0">
                <a:ln>
                  <a:noFill/>
                </a:ln>
                <a:solidFill>
                  <a:srgbClr val="B0C4D8"/>
                </a:solidFill>
                <a:effectLst/>
                <a:uLnTx/>
                <a:uFillTx/>
                <a:latin typeface="Calibri"/>
                <a:ea typeface="+mn-ea"/>
                <a:cs typeface="+mn-cs"/>
              </a:rPr>
              <a:t>?</a:t>
            </a:r>
          </a:p>
        </p:txBody>
      </p:sp>
      <p:sp>
        <p:nvSpPr>
          <p:cNvPr id="28" name="Rectangle 27"/>
          <p:cNvSpPr/>
          <p:nvPr/>
        </p:nvSpPr>
        <p:spPr>
          <a:xfrm>
            <a:off x="274320" y="4690872"/>
            <a:ext cx="3813048" cy="1691640"/>
          </a:xfrm>
          <a:prstGeom prst="rect">
            <a:avLst/>
          </a:prstGeom>
          <a:solidFill>
            <a:srgbClr val="16283E"/>
          </a:solidFill>
          <a:ln w="19050">
            <a:solidFill>
              <a:srgbClr val="AB47B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Rectangle 28"/>
          <p:cNvSpPr/>
          <p:nvPr/>
        </p:nvSpPr>
        <p:spPr>
          <a:xfrm>
            <a:off x="274320" y="4690872"/>
            <a:ext cx="3813048" cy="45720"/>
          </a:xfrm>
          <a:prstGeom prst="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Rectangle 29"/>
          <p:cNvSpPr/>
          <p:nvPr/>
        </p:nvSpPr>
        <p:spPr>
          <a:xfrm>
            <a:off x="384048" y="4800600"/>
            <a:ext cx="457200" cy="274320"/>
          </a:xfrm>
          <a:prstGeom prst="round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TextBox 30"/>
          <p:cNvSpPr txBox="1"/>
          <p:nvPr/>
        </p:nvSpPr>
        <p:spPr>
          <a:xfrm>
            <a:off x="384047" y="4800600"/>
            <a:ext cx="457199"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D1B2A"/>
                </a:solidFill>
                <a:effectLst/>
                <a:uLnTx/>
                <a:uFillTx/>
                <a:latin typeface="Calibri"/>
                <a:ea typeface="+mn-ea"/>
                <a:cs typeface="+mn-cs"/>
              </a:rPr>
              <a:t>SQ4</a:t>
            </a:r>
          </a:p>
        </p:txBody>
      </p:sp>
      <p:sp>
        <p:nvSpPr>
          <p:cNvPr id="32" name="TextBox 31"/>
          <p:cNvSpPr txBox="1"/>
          <p:nvPr/>
        </p:nvSpPr>
        <p:spPr>
          <a:xfrm>
            <a:off x="932688" y="4800600"/>
            <a:ext cx="3017520" cy="29260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AB47BC"/>
                </a:solidFill>
                <a:effectLst/>
                <a:uLnTx/>
                <a:uFillTx/>
                <a:latin typeface="Calibri"/>
                <a:ea typeface="+mn-ea"/>
                <a:cs typeface="+mn-cs"/>
              </a:rPr>
              <a:t>Transfer</a:t>
            </a:r>
          </a:p>
        </p:txBody>
      </p:sp>
      <p:sp>
        <p:nvSpPr>
          <p:cNvPr id="33" name="TextBox 32"/>
          <p:cNvSpPr txBox="1"/>
          <p:nvPr/>
        </p:nvSpPr>
        <p:spPr>
          <a:xfrm>
            <a:off x="411480" y="5166360"/>
            <a:ext cx="3538728" cy="7386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B0C4D8"/>
                </a:solidFill>
                <a:effectLst/>
                <a:uLnTx/>
                <a:uFillTx/>
                <a:latin typeface="Calibri"/>
                <a:ea typeface="+mn-ea"/>
                <a:cs typeface="+mn-cs"/>
              </a:rPr>
              <a:t>Kan </a:t>
            </a:r>
            <a:r>
              <a:rPr kumimoji="0" sz="1400" b="0" i="0" u="none" strike="noStrike" kern="1200" cap="none" spc="0" normalizeH="0" baseline="0" noProof="0" dirty="0" err="1">
                <a:ln>
                  <a:noFill/>
                </a:ln>
                <a:solidFill>
                  <a:srgbClr val="B0C4D8"/>
                </a:solidFill>
                <a:effectLst/>
                <a:uLnTx/>
                <a:uFillTx/>
                <a:latin typeface="Calibri"/>
                <a:ea typeface="+mn-ea"/>
                <a:cs typeface="+mn-cs"/>
              </a:rPr>
              <a:t>een</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getrainde</a:t>
            </a:r>
            <a:r>
              <a:rPr kumimoji="0" sz="1400" b="0" i="0" u="none" strike="noStrike" kern="1200" cap="none" spc="0" normalizeH="0" baseline="0" noProof="0" dirty="0">
                <a:ln>
                  <a:noFill/>
                </a:ln>
                <a:solidFill>
                  <a:srgbClr val="B0C4D8"/>
                </a:solidFill>
                <a:effectLst/>
                <a:uLnTx/>
                <a:uFillTx/>
                <a:latin typeface="Calibri"/>
                <a:ea typeface="+mn-ea"/>
                <a:cs typeface="+mn-cs"/>
              </a:rPr>
              <a:t> SAM-controller </a:t>
            </a:r>
            <a:r>
              <a:rPr kumimoji="0" sz="1400" b="0" i="0" u="none" strike="noStrike" kern="1200" cap="none" spc="0" normalizeH="0" baseline="0" noProof="0" dirty="0" err="1">
                <a:ln>
                  <a:noFill/>
                </a:ln>
                <a:solidFill>
                  <a:srgbClr val="B0C4D8"/>
                </a:solidFill>
                <a:effectLst/>
                <a:uLnTx/>
                <a:uFillTx/>
                <a:latin typeface="Calibri"/>
                <a:ea typeface="+mn-ea"/>
                <a:cs typeface="+mn-cs"/>
              </a:rPr>
              <a:t>toegepast</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worden</a:t>
            </a:r>
            <a:r>
              <a:rPr kumimoji="0" sz="1400" b="0" i="0" u="none" strike="noStrike" kern="1200" cap="none" spc="0" normalizeH="0" baseline="0" noProof="0" dirty="0">
                <a:ln>
                  <a:noFill/>
                </a:ln>
                <a:solidFill>
                  <a:srgbClr val="B0C4D8"/>
                </a:solidFill>
                <a:effectLst/>
                <a:uLnTx/>
                <a:uFillTx/>
                <a:latin typeface="Calibri"/>
                <a:ea typeface="+mn-ea"/>
                <a:cs typeface="+mn-cs"/>
              </a:rPr>
              <a:t> op </a:t>
            </a:r>
            <a:r>
              <a:rPr kumimoji="0" sz="1400" b="0" i="0" u="none" strike="noStrike" kern="1200" cap="none" spc="0" normalizeH="0" baseline="0" noProof="0" dirty="0" err="1">
                <a:ln>
                  <a:noFill/>
                </a:ln>
                <a:solidFill>
                  <a:srgbClr val="B0C4D8"/>
                </a:solidFill>
                <a:effectLst/>
                <a:uLnTx/>
                <a:uFillTx/>
                <a:latin typeface="Calibri"/>
                <a:ea typeface="+mn-ea"/>
                <a:cs typeface="+mn-cs"/>
              </a:rPr>
              <a:t>nieuwe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steden</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zonder</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volledig</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opnieuw</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te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trainen</a:t>
            </a:r>
            <a:r>
              <a:rPr kumimoji="0" sz="1400" b="0" i="0" u="none" strike="noStrike" kern="1200" cap="none" spc="0" normalizeH="0" baseline="0" noProof="0" dirty="0">
                <a:ln>
                  <a:noFill/>
                </a:ln>
                <a:solidFill>
                  <a:srgbClr val="B0C4D8"/>
                </a:solidFill>
                <a:effectLst/>
                <a:uLnTx/>
                <a:uFillTx/>
                <a:latin typeface="Calibri"/>
                <a:ea typeface="+mn-ea"/>
                <a:cs typeface="+mn-cs"/>
              </a:rPr>
              <a:t>?</a:t>
            </a:r>
          </a:p>
        </p:txBody>
      </p:sp>
      <p:sp>
        <p:nvSpPr>
          <p:cNvPr id="34" name="Rectangle 33"/>
          <p:cNvSpPr/>
          <p:nvPr/>
        </p:nvSpPr>
        <p:spPr>
          <a:xfrm>
            <a:off x="4224528" y="4690872"/>
            <a:ext cx="3813048" cy="1691640"/>
          </a:xfrm>
          <a:prstGeom prst="rect">
            <a:avLst/>
          </a:prstGeom>
          <a:solidFill>
            <a:srgbClr val="16283E"/>
          </a:solidFill>
          <a:ln w="19050">
            <a:solidFill>
              <a:srgbClr val="F4515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4224528" y="4690872"/>
            <a:ext cx="3813048" cy="45720"/>
          </a:xfrm>
          <a:prstGeom prst="rect">
            <a:avLst/>
          </a:prstGeom>
          <a:solidFill>
            <a:srgbClr val="F451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35"/>
          <p:cNvSpPr/>
          <p:nvPr/>
        </p:nvSpPr>
        <p:spPr>
          <a:xfrm>
            <a:off x="4334256" y="4800600"/>
            <a:ext cx="457200" cy="274320"/>
          </a:xfrm>
          <a:prstGeom prst="roundRect">
            <a:avLst/>
          </a:prstGeom>
          <a:solidFill>
            <a:srgbClr val="F451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TextBox 36"/>
          <p:cNvSpPr txBox="1"/>
          <p:nvPr/>
        </p:nvSpPr>
        <p:spPr>
          <a:xfrm>
            <a:off x="4334256" y="4800600"/>
            <a:ext cx="457200"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D1B2A"/>
                </a:solidFill>
                <a:effectLst/>
                <a:uLnTx/>
                <a:uFillTx/>
                <a:latin typeface="Calibri"/>
                <a:ea typeface="+mn-ea"/>
                <a:cs typeface="+mn-cs"/>
              </a:rPr>
              <a:t>SQ5</a:t>
            </a:r>
          </a:p>
        </p:txBody>
      </p:sp>
      <p:sp>
        <p:nvSpPr>
          <p:cNvPr id="38" name="TextBox 37"/>
          <p:cNvSpPr txBox="1"/>
          <p:nvPr/>
        </p:nvSpPr>
        <p:spPr>
          <a:xfrm>
            <a:off x="4882896" y="4800600"/>
            <a:ext cx="3017520" cy="29260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err="1">
                <a:ln>
                  <a:noFill/>
                </a:ln>
                <a:solidFill>
                  <a:srgbClr val="F4515E"/>
                </a:solidFill>
                <a:effectLst/>
                <a:uLnTx/>
                <a:uFillTx/>
                <a:latin typeface="Calibri"/>
                <a:ea typeface="+mn-ea"/>
                <a:cs typeface="+mn-cs"/>
              </a:rPr>
              <a:t>Adaptatie</a:t>
            </a:r>
            <a:endParaRPr kumimoji="0" sz="1300" b="1" i="0" u="none" strike="noStrike" kern="1200" cap="none" spc="0" normalizeH="0" baseline="0" noProof="0" dirty="0">
              <a:ln>
                <a:noFill/>
              </a:ln>
              <a:solidFill>
                <a:srgbClr val="F4515E"/>
              </a:solidFill>
              <a:effectLst/>
              <a:uLnTx/>
              <a:uFillTx/>
              <a:latin typeface="Calibri"/>
              <a:ea typeface="+mn-ea"/>
              <a:cs typeface="+mn-cs"/>
            </a:endParaRPr>
          </a:p>
        </p:txBody>
      </p:sp>
      <p:sp>
        <p:nvSpPr>
          <p:cNvPr id="39" name="TextBox 38"/>
          <p:cNvSpPr txBox="1"/>
          <p:nvPr/>
        </p:nvSpPr>
        <p:spPr>
          <a:xfrm>
            <a:off x="4361688" y="5166360"/>
            <a:ext cx="3538728" cy="7386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B0C4D8"/>
                </a:solidFill>
                <a:effectLst/>
                <a:uLnTx/>
                <a:uFillTx/>
                <a:latin typeface="Calibri"/>
                <a:ea typeface="+mn-ea"/>
                <a:cs typeface="+mn-cs"/>
              </a:rPr>
              <a:t>Hoe </a:t>
            </a:r>
            <a:r>
              <a:rPr kumimoji="0" sz="1400" b="0" i="0" u="none" strike="noStrike" kern="1200" cap="none" spc="0" normalizeH="0" baseline="0" noProof="0" dirty="0" err="1">
                <a:ln>
                  <a:noFill/>
                </a:ln>
                <a:solidFill>
                  <a:srgbClr val="B0C4D8"/>
                </a:solidFill>
                <a:effectLst/>
                <a:uLnTx/>
                <a:uFillTx/>
                <a:latin typeface="Calibri"/>
                <a:ea typeface="+mn-ea"/>
                <a:cs typeface="+mn-cs"/>
              </a:rPr>
              <a:t>snel</a:t>
            </a:r>
            <a:r>
              <a:rPr kumimoji="0" sz="1400" b="0" i="0" u="none" strike="noStrike" kern="1200" cap="none" spc="0" normalizeH="0" baseline="0" noProof="0" dirty="0">
                <a:ln>
                  <a:noFill/>
                </a:ln>
                <a:solidFill>
                  <a:srgbClr val="B0C4D8"/>
                </a:solidFill>
                <a:effectLst/>
                <a:uLnTx/>
                <a:uFillTx/>
                <a:latin typeface="Calibri"/>
                <a:ea typeface="+mn-ea"/>
                <a:cs typeface="+mn-cs"/>
              </a:rPr>
              <a:t> past de SAM-controller </a:t>
            </a:r>
            <a:r>
              <a:rPr kumimoji="0" sz="1400" b="0" i="0" u="none" strike="noStrike" kern="1200" cap="none" spc="0" normalizeH="0" baseline="0" noProof="0" dirty="0" err="1">
                <a:ln>
                  <a:noFill/>
                </a:ln>
                <a:solidFill>
                  <a:srgbClr val="B0C4D8"/>
                </a:solidFill>
                <a:effectLst/>
                <a:uLnTx/>
                <a:uFillTx/>
                <a:latin typeface="Calibri"/>
                <a:ea typeface="+mn-ea"/>
                <a:cs typeface="+mn-cs"/>
              </a:rPr>
              <a:t>zich</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aan</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wanneer</a:t>
            </a:r>
            <a:r>
              <a:rPr kumimoji="0" sz="1400" b="0" i="0" u="none" strike="noStrike" kern="1200" cap="none" spc="0" normalizeH="0" baseline="0" noProof="0" dirty="0">
                <a:ln>
                  <a:noFill/>
                </a:ln>
                <a:solidFill>
                  <a:srgbClr val="B0C4D8"/>
                </a:solidFill>
                <a:effectLst/>
                <a:uLnTx/>
                <a:uFillTx/>
                <a:latin typeface="Calibri"/>
                <a:ea typeface="+mn-ea"/>
                <a:cs typeface="+mn-cs"/>
              </a:rPr>
              <a:t> de </a:t>
            </a:r>
            <a:r>
              <a:rPr kumimoji="0" sz="1400" b="0" i="0" u="none" strike="noStrike" kern="1200" cap="none" spc="0" normalizeH="0" baseline="0" noProof="0" dirty="0" err="1">
                <a:ln>
                  <a:noFill/>
                </a:ln>
                <a:solidFill>
                  <a:srgbClr val="B0C4D8"/>
                </a:solidFill>
                <a:effectLst/>
                <a:uLnTx/>
                <a:uFillTx/>
                <a:latin typeface="Calibri"/>
                <a:ea typeface="+mn-ea"/>
                <a:cs typeface="+mn-cs"/>
              </a:rPr>
              <a:t>verkeersintensiteit</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gedurende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een</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simulatie</a:t>
            </a:r>
            <a:r>
              <a:rPr kumimoji="0" sz="1400" b="0" i="0" u="none" strike="noStrike" kern="1200" cap="none" spc="0" normalizeH="0" baseline="0" noProof="0" dirty="0">
                <a:ln>
                  <a:noFill/>
                </a:ln>
                <a:solidFill>
                  <a:srgbClr val="B0C4D8"/>
                </a:solidFill>
                <a:effectLst/>
                <a:uLnTx/>
                <a:uFillTx/>
                <a:latin typeface="Calibri"/>
                <a:ea typeface="+mn-ea"/>
                <a:cs typeface="+mn-cs"/>
              </a:rPr>
              <a:t> abrupt </a:t>
            </a:r>
            <a:r>
              <a:rPr kumimoji="0" sz="1400" b="0" i="0" u="none" strike="noStrike" kern="1200" cap="none" spc="0" normalizeH="0" baseline="0" noProof="0" dirty="0" err="1">
                <a:ln>
                  <a:noFill/>
                </a:ln>
                <a:solidFill>
                  <a:srgbClr val="B0C4D8"/>
                </a:solidFill>
                <a:effectLst/>
                <a:uLnTx/>
                <a:uFillTx/>
                <a:latin typeface="Calibri"/>
                <a:ea typeface="+mn-ea"/>
                <a:cs typeface="+mn-cs"/>
              </a:rPr>
              <a:t>verandert</a:t>
            </a:r>
            <a:r>
              <a:rPr kumimoji="0" sz="1400" b="0" i="0" u="none" strike="noStrike" kern="1200" cap="none" spc="0" normalizeH="0" baseline="0" noProof="0" dirty="0">
                <a:ln>
                  <a:noFill/>
                </a:ln>
                <a:solidFill>
                  <a:srgbClr val="B0C4D8"/>
                </a:solidFill>
                <a:effectLst/>
                <a:uLnTx/>
                <a:uFillTx/>
                <a:latin typeface="Calibri"/>
                <a:ea typeface="+mn-ea"/>
                <a:cs typeface="+mn-cs"/>
              </a:rPr>
              <a:t>?</a:t>
            </a:r>
          </a:p>
        </p:txBody>
      </p:sp>
      <p:sp>
        <p:nvSpPr>
          <p:cNvPr id="40" name="Tijdelijke aanduiding voor dianummer 39">
            <a:extLst>
              <a:ext uri="{FF2B5EF4-FFF2-40B4-BE49-F238E27FC236}">
                <a16:creationId xmlns:a16="http://schemas.microsoft.com/office/drawing/2014/main" id="{59AD1A57-54CE-86F1-FCDE-9D66B2906AF0}"/>
              </a:ext>
            </a:extLst>
          </p:cNvPr>
          <p:cNvSpPr>
            <a:spLocks noGrp="1"/>
          </p:cNvSpPr>
          <p:nvPr>
            <p:ph type="sldNum" sz="quarter" idx="12"/>
          </p:nvPr>
        </p:nvSpPr>
        <p:spPr>
          <a:xfrm>
            <a:off x="10055352"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animBg="1"/>
      <p:bldP spid="13" grpId="0"/>
      <p:bldP spid="14" grpId="0"/>
      <p:bldP spid="15" grpId="0"/>
      <p:bldP spid="16" grpId="0" animBg="1"/>
      <p:bldP spid="17" grpId="0" animBg="1"/>
      <p:bldP spid="18" grpId="0" animBg="1"/>
      <p:bldP spid="19" grpId="0"/>
      <p:bldP spid="20" grpId="0"/>
      <p:bldP spid="21" grpId="0"/>
      <p:bldP spid="22" grpId="0" animBg="1"/>
      <p:bldP spid="23" grpId="0" animBg="1"/>
      <p:bldP spid="24" grpId="0" animBg="1"/>
      <p:bldP spid="25" grpId="0"/>
      <p:bldP spid="26" grpId="0"/>
      <p:bldP spid="27" grpId="0"/>
      <p:bldP spid="28" grpId="0" animBg="1"/>
      <p:bldP spid="29" grpId="0" animBg="1"/>
      <p:bldP spid="30" grpId="0" animBg="1"/>
      <p:bldP spid="31" grpId="0"/>
      <p:bldP spid="32" grpId="0"/>
      <p:bldP spid="33" grpId="0"/>
      <p:bldP spid="34" grpId="0" animBg="1"/>
      <p:bldP spid="35" grpId="0" animBg="1"/>
      <p:bldP spid="36" grpId="0" animBg="1"/>
      <p:bldP spid="37" grpId="0"/>
      <p:bldP spid="38" grpId="0"/>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3C957EEF-E249-104D-51FE-8826BA95C73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C1A26F1-6BBC-C883-BEC6-598776D9D68F}"/>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4FD1C3E1-89FE-119A-8300-7265E3F9C978}"/>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A0F9D32A-8083-15DA-9326-5DBEAC5ED68D}"/>
              </a:ext>
            </a:extLst>
          </p:cNvPr>
          <p:cNvSpPr txBox="1"/>
          <p:nvPr/>
        </p:nvSpPr>
        <p:spPr>
          <a:xfrm>
            <a:off x="1371600" y="1645920"/>
            <a:ext cx="9144000" cy="2308324"/>
          </a:xfrm>
          <a:prstGeom prst="rect">
            <a:avLst/>
          </a:prstGeom>
          <a:noFill/>
        </p:spPr>
        <p:txBody>
          <a:bodyPr wrap="square">
            <a:spAutoFit/>
          </a:bodyPr>
          <a:lstStyle/>
          <a:p>
            <a:pPr algn="ctr">
              <a:defRPr/>
            </a:pPr>
            <a:r>
              <a:rPr lang="nl-BE" sz="7200" b="1" dirty="0">
                <a:solidFill>
                  <a:srgbClr val="0099FF"/>
                </a:solidFill>
              </a:rPr>
              <a:t>Research</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6A533FC-D87F-3B76-B150-0F1A9D7299D9}"/>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5FEA95DD-5633-0652-D529-5916BE7F406D}"/>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85494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B62671C2-6399-6EE4-7D61-6B589BEA0EC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A1F0652-0FAF-8AED-41D7-F6EF40332074}"/>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3C6CA851-FAB6-58DF-FFDF-BBBABD120B83}"/>
              </a:ext>
            </a:extLst>
          </p:cNvPr>
          <p:cNvSpPr/>
          <p:nvPr/>
        </p:nvSpPr>
        <p:spPr>
          <a:xfrm>
            <a:off x="0" y="0"/>
            <a:ext cx="73152" cy="100584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0A1D9722-5A8A-0BD1-2149-530481481D29}"/>
              </a:ext>
            </a:extLst>
          </p:cNvPr>
          <p:cNvSpPr txBox="1"/>
          <p:nvPr/>
        </p:nvSpPr>
        <p:spPr>
          <a:xfrm>
            <a:off x="201168" y="73152"/>
            <a:ext cx="1624291"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3000" b="1" i="0" u="none" strike="noStrike" kern="1200" cap="none" spc="0" normalizeH="0" baseline="0" noProof="0" dirty="0">
                <a:ln>
                  <a:noFill/>
                </a:ln>
                <a:solidFill>
                  <a:srgbClr val="FFFFFF"/>
                </a:solidFill>
                <a:effectLst/>
                <a:uLnTx/>
                <a:uFillTx/>
                <a:latin typeface="Calibri"/>
                <a:ea typeface="+mn-ea"/>
                <a:cs typeface="+mn-cs"/>
              </a:rPr>
              <a:t>Research</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65BEA10F-0D4D-1BDD-7008-08F40FD4867A}"/>
              </a:ext>
            </a:extLst>
          </p:cNvPr>
          <p:cNvSpPr/>
          <p:nvPr/>
        </p:nvSpPr>
        <p:spPr>
          <a:xfrm>
            <a:off x="274320" y="1188720"/>
            <a:ext cx="5577840" cy="534924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DC2BAA6E-53CB-8BE1-B763-D397CA10859C}"/>
              </a:ext>
            </a:extLst>
          </p:cNvPr>
          <p:cNvSpPr/>
          <p:nvPr/>
        </p:nvSpPr>
        <p:spPr>
          <a:xfrm>
            <a:off x="274320" y="1188720"/>
            <a:ext cx="5577840" cy="36576"/>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46FD9537-6BD3-9F35-8EC4-620F7ACA39EA}"/>
              </a:ext>
            </a:extLst>
          </p:cNvPr>
          <p:cNvSpPr txBox="1"/>
          <p:nvPr/>
        </p:nvSpPr>
        <p:spPr>
          <a:xfrm>
            <a:off x="411480" y="1261872"/>
            <a:ext cx="2319994"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0099FF"/>
                </a:solidFill>
                <a:effectLst/>
                <a:uLnTx/>
                <a:uFillTx/>
                <a:latin typeface="Calibri"/>
                <a:ea typeface="+mn-ea"/>
                <a:cs typeface="+mn-cs"/>
              </a:rPr>
              <a:t>Wat </a:t>
            </a:r>
            <a:r>
              <a:rPr kumimoji="0" lang="nl-BE" sz="1400" b="1" i="0" u="none" strike="noStrike" kern="1200" cap="none" spc="0" normalizeH="0" baseline="0" noProof="0" dirty="0">
                <a:ln>
                  <a:noFill/>
                </a:ln>
                <a:solidFill>
                  <a:srgbClr val="0099FF"/>
                </a:solidFill>
                <a:effectLst/>
                <a:uLnTx/>
                <a:uFillTx/>
                <a:latin typeface="Calibri"/>
                <a:ea typeface="+mn-ea"/>
                <a:cs typeface="+mn-cs"/>
              </a:rPr>
              <a:t>hebben we </a:t>
            </a:r>
            <a:r>
              <a:rPr lang="nl-BE" sz="1400" b="1" dirty="0">
                <a:solidFill>
                  <a:srgbClr val="0099FF"/>
                </a:solidFill>
                <a:latin typeface="Calibri"/>
              </a:rPr>
              <a:t>onderzocht</a:t>
            </a:r>
            <a:r>
              <a:rPr kumimoji="0" sz="1400" b="1" i="0" u="none" strike="noStrike" kern="1200" cap="none" spc="0" normalizeH="0" baseline="0" noProof="0" dirty="0">
                <a:ln>
                  <a:noFill/>
                </a:ln>
                <a:solidFill>
                  <a:srgbClr val="0099FF"/>
                </a:solidFill>
                <a:effectLst/>
                <a:uLnTx/>
                <a:uFillTx/>
                <a:latin typeface="Calibri"/>
                <a:ea typeface="+mn-ea"/>
                <a:cs typeface="+mn-cs"/>
              </a:rPr>
              <a:t>?</a:t>
            </a:r>
          </a:p>
        </p:txBody>
      </p:sp>
      <p:sp>
        <p:nvSpPr>
          <p:cNvPr id="9" name="TextBox 8">
            <a:extLst>
              <a:ext uri="{FF2B5EF4-FFF2-40B4-BE49-F238E27FC236}">
                <a16:creationId xmlns:a16="http://schemas.microsoft.com/office/drawing/2014/main" id="{1BAF5190-4ADB-FC22-5DD9-04F3D03338E9}"/>
              </a:ext>
            </a:extLst>
          </p:cNvPr>
          <p:cNvSpPr txBox="1"/>
          <p:nvPr/>
        </p:nvSpPr>
        <p:spPr>
          <a:xfrm>
            <a:off x="468471" y="1691640"/>
            <a:ext cx="5550535" cy="4470455"/>
          </a:xfrm>
          <a:prstGeom prst="rect">
            <a:avLst/>
          </a:prstGeom>
          <a:noFill/>
        </p:spPr>
        <p:txBody>
          <a:bodyPr wrap="square">
            <a:spAutoFit/>
          </a:bodyPr>
          <a:lstStyle/>
          <a:p>
            <a:pPr lvl="0">
              <a:spcBef>
                <a:spcPts val="300"/>
              </a:spcBef>
            </a:pPr>
            <a:r>
              <a:rPr lang="nl-BE" dirty="0">
                <a:solidFill>
                  <a:srgbClr val="B0C4D8"/>
                </a:solidFill>
              </a:rPr>
              <a:t>🔹 </a:t>
            </a:r>
            <a:r>
              <a:rPr kumimoji="0" lang="nl-BE" sz="1800" b="0" i="0" u="none" strike="noStrike" kern="1200" cap="none" spc="0" normalizeH="0" baseline="0" noProof="0" dirty="0">
                <a:ln>
                  <a:noFill/>
                </a:ln>
                <a:solidFill>
                  <a:srgbClr val="B0C4D8"/>
                </a:solidFill>
                <a:effectLst/>
                <a:uLnTx/>
                <a:uFillTx/>
                <a:latin typeface="Calibri"/>
                <a:ea typeface="+mn-ea"/>
                <a:cs typeface="+mn-cs"/>
              </a:rPr>
              <a:t>RL: </a:t>
            </a:r>
            <a:r>
              <a:rPr kumimoji="0" lang="nl-BE" sz="1800" b="0" i="1" u="none" strike="noStrike" kern="1200" cap="none" spc="0" normalizeH="0" baseline="0" noProof="0" dirty="0" err="1">
                <a:ln>
                  <a:noFill/>
                </a:ln>
                <a:solidFill>
                  <a:srgbClr val="B0C4D8"/>
                </a:solidFill>
                <a:effectLst/>
                <a:uLnTx/>
                <a:uFillTx/>
                <a:latin typeface="Calibri"/>
              </a:rPr>
              <a:t>Reinforcemen</a:t>
            </a:r>
            <a:r>
              <a:rPr lang="nl-BE" i="1" dirty="0">
                <a:solidFill>
                  <a:srgbClr val="B0C4D8"/>
                </a:solidFill>
                <a:latin typeface="Calibri"/>
              </a:rPr>
              <a:t>t Learning</a:t>
            </a:r>
          </a:p>
          <a:p>
            <a:pPr marR="0" lvl="0" algn="l" defTabSz="457200" rtl="0" eaLnBrk="1" fontAlgn="auto" latinLnBrk="0" hangingPunct="1">
              <a:lnSpc>
                <a:spcPct val="100000"/>
              </a:lnSpc>
              <a:spcBef>
                <a:spcPts val="300"/>
              </a:spcBef>
              <a:spcAft>
                <a:spcPts val="0"/>
              </a:spcAft>
              <a:buClrTx/>
              <a:buSzTx/>
              <a:tabLst/>
              <a:defRPr/>
            </a:pPr>
            <a:endParaRPr lang="nl-BE" i="1" dirty="0">
              <a:solidFill>
                <a:srgbClr val="B0C4D8"/>
              </a:solidFill>
              <a:latin typeface="Calibri"/>
            </a:endParaRPr>
          </a:p>
          <a:p>
            <a:pPr lvl="0">
              <a:spcBef>
                <a:spcPts val="300"/>
              </a:spcBef>
            </a:pPr>
            <a:r>
              <a:rPr lang="nl-BE" dirty="0">
                <a:solidFill>
                  <a:srgbClr val="B0C4D8"/>
                </a:solidFill>
              </a:rPr>
              <a:t>🔹 </a:t>
            </a:r>
            <a:r>
              <a:rPr kumimoji="0" lang="nl-BE" sz="1800" b="0" u="none" strike="noStrike" kern="1200" cap="none" spc="0" normalizeH="0" baseline="0" noProof="0" dirty="0">
                <a:ln>
                  <a:noFill/>
                </a:ln>
                <a:solidFill>
                  <a:srgbClr val="B0C4D8"/>
                </a:solidFill>
                <a:effectLst/>
                <a:uLnTx/>
                <a:uFillTx/>
                <a:latin typeface="Calibri"/>
              </a:rPr>
              <a:t>SUMO</a:t>
            </a:r>
          </a:p>
          <a:p>
            <a:pPr lvl="0">
              <a:spcBef>
                <a:spcPts val="300"/>
              </a:spcBef>
            </a:pPr>
            <a:endParaRPr kumimoji="0" lang="nl-BE" sz="1800" b="0" u="none" strike="noStrike" kern="1200" cap="none" spc="0" normalizeH="0" baseline="0" noProof="0" dirty="0">
              <a:ln>
                <a:noFill/>
              </a:ln>
              <a:solidFill>
                <a:srgbClr val="B0C4D8"/>
              </a:solidFill>
              <a:effectLst/>
              <a:uLnTx/>
              <a:uFillTx/>
              <a:latin typeface="Calibri"/>
            </a:endParaRPr>
          </a:p>
          <a:p>
            <a:pPr lvl="0">
              <a:spcBef>
                <a:spcPts val="300"/>
              </a:spcBef>
            </a:pPr>
            <a:r>
              <a:rPr lang="nl-BE" dirty="0">
                <a:solidFill>
                  <a:srgbClr val="B0C4D8"/>
                </a:solidFill>
              </a:rPr>
              <a:t>🔹</a:t>
            </a:r>
            <a:r>
              <a:rPr lang="nl-BE" dirty="0" err="1">
                <a:solidFill>
                  <a:srgbClr val="B0C4D8"/>
                </a:solidFill>
              </a:rPr>
              <a:t>Traci</a:t>
            </a:r>
            <a:r>
              <a:rPr lang="nl-BE" dirty="0">
                <a:solidFill>
                  <a:srgbClr val="B0C4D8"/>
                </a:solidFill>
              </a:rPr>
              <a:t>: API SUMO</a:t>
            </a:r>
          </a:p>
          <a:p>
            <a:pPr lvl="0">
              <a:spcBef>
                <a:spcPts val="300"/>
              </a:spcBef>
            </a:pPr>
            <a:endParaRPr lang="nl-BE" dirty="0">
              <a:solidFill>
                <a:srgbClr val="B0C4D8"/>
              </a:solidFill>
            </a:endParaRPr>
          </a:p>
          <a:p>
            <a:pPr lvl="0">
              <a:spcBef>
                <a:spcPts val="300"/>
              </a:spcBef>
            </a:pPr>
            <a:r>
              <a:rPr lang="nl-BE" dirty="0">
                <a:solidFill>
                  <a:srgbClr val="B0C4D8"/>
                </a:solidFill>
              </a:rPr>
              <a:t>🔹RL Technieken</a:t>
            </a:r>
          </a:p>
          <a:p>
            <a:pPr lvl="0">
              <a:spcBef>
                <a:spcPts val="300"/>
              </a:spcBef>
            </a:pPr>
            <a:endParaRPr lang="nl-BE" dirty="0">
              <a:solidFill>
                <a:srgbClr val="B0C4D8"/>
              </a:solidFill>
            </a:endParaRPr>
          </a:p>
          <a:p>
            <a:pPr>
              <a:spcBef>
                <a:spcPts val="300"/>
              </a:spcBef>
            </a:pPr>
            <a:r>
              <a:rPr lang="nl-BE" dirty="0">
                <a:solidFill>
                  <a:srgbClr val="B0C4D8"/>
                </a:solidFill>
              </a:rPr>
              <a:t>🔹Gymnasium (API RL omgevingen)</a:t>
            </a:r>
          </a:p>
          <a:p>
            <a:pPr>
              <a:spcBef>
                <a:spcPts val="300"/>
              </a:spcBef>
            </a:pPr>
            <a:endParaRPr lang="nl-BE" dirty="0">
              <a:solidFill>
                <a:srgbClr val="B0C4D8"/>
              </a:solidFill>
            </a:endParaRPr>
          </a:p>
          <a:p>
            <a:pPr>
              <a:spcBef>
                <a:spcPts val="300"/>
              </a:spcBef>
            </a:pPr>
            <a:r>
              <a:rPr lang="nl-BE" dirty="0">
                <a:solidFill>
                  <a:srgbClr val="B0C4D8"/>
                </a:solidFill>
                <a:sym typeface="Wingdings" panose="05000000000000000000" pitchFamily="2" charset="2"/>
              </a:rPr>
              <a:t> Experimenteel onderzoek</a:t>
            </a:r>
            <a:endParaRPr lang="nl-BE" dirty="0">
              <a:solidFill>
                <a:srgbClr val="B0C4D8"/>
              </a:solidFill>
            </a:endParaRPr>
          </a:p>
          <a:p>
            <a:pPr lvl="0">
              <a:spcBef>
                <a:spcPts val="300"/>
              </a:spcBef>
            </a:pPr>
            <a:endParaRPr lang="nl-BE" dirty="0">
              <a:solidFill>
                <a:srgbClr val="B0C4D8"/>
              </a:solidFill>
            </a:endParaRPr>
          </a:p>
          <a:p>
            <a:pPr lvl="0">
              <a:spcBef>
                <a:spcPts val="300"/>
              </a:spcBef>
            </a:pPr>
            <a:endParaRPr lang="nl-BE" dirty="0">
              <a:solidFill>
                <a:srgbClr val="B0C4D8"/>
              </a:solidFill>
            </a:endParaRPr>
          </a:p>
          <a:p>
            <a:pPr lvl="0">
              <a:spcBef>
                <a:spcPts val="300"/>
              </a:spcBef>
            </a:pPr>
            <a:endParaRPr lang="nl-BE" i="1" dirty="0">
              <a:solidFill>
                <a:srgbClr val="B0C4D8"/>
              </a:solidFill>
              <a:latin typeface="Calibri"/>
            </a:endParaRPr>
          </a:p>
        </p:txBody>
      </p:sp>
      <p:sp>
        <p:nvSpPr>
          <p:cNvPr id="14" name="Rectangle 13">
            <a:extLst>
              <a:ext uri="{FF2B5EF4-FFF2-40B4-BE49-F238E27FC236}">
                <a16:creationId xmlns:a16="http://schemas.microsoft.com/office/drawing/2014/main" id="{C3D34946-25BD-CB7B-BEEC-E6BD98CFB9FA}"/>
              </a:ext>
            </a:extLst>
          </p:cNvPr>
          <p:cNvSpPr/>
          <p:nvPr/>
        </p:nvSpPr>
        <p:spPr>
          <a:xfrm>
            <a:off x="6094412" y="3794760"/>
            <a:ext cx="5806440" cy="274320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5AD4D36B-9EBD-8BD5-417B-901C80A2E18C}"/>
              </a:ext>
            </a:extLst>
          </p:cNvPr>
          <p:cNvSpPr/>
          <p:nvPr/>
        </p:nvSpPr>
        <p:spPr>
          <a:xfrm>
            <a:off x="6080760" y="3794760"/>
            <a:ext cx="5806440" cy="36576"/>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FB5C6DBD-0FBE-0CCB-2576-A9A78156108D}"/>
              </a:ext>
            </a:extLst>
          </p:cNvPr>
          <p:cNvSpPr txBox="1"/>
          <p:nvPr/>
        </p:nvSpPr>
        <p:spPr>
          <a:xfrm>
            <a:off x="6217920" y="3867912"/>
            <a:ext cx="1471878"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FFBF00"/>
                </a:solidFill>
                <a:effectLst/>
                <a:uLnTx/>
                <a:uFillTx/>
                <a:latin typeface="Calibri"/>
                <a:ea typeface="+mn-ea"/>
                <a:cs typeface="+mn-cs"/>
              </a:rPr>
              <a:t>Technologiestack</a:t>
            </a:r>
            <a:endParaRPr kumimoji="0" sz="1400" b="1" i="0" u="none" strike="noStrike" kern="1200" cap="none" spc="0" normalizeH="0" baseline="0" noProof="0" dirty="0">
              <a:ln>
                <a:noFill/>
              </a:ln>
              <a:solidFill>
                <a:srgbClr val="FFBF00"/>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3862FE1B-9D7B-C337-67AA-509AC5A9D422}"/>
              </a:ext>
            </a:extLst>
          </p:cNvPr>
          <p:cNvSpPr/>
          <p:nvPr/>
        </p:nvSpPr>
        <p:spPr>
          <a:xfrm>
            <a:off x="6263640" y="4297680"/>
            <a:ext cx="1298448" cy="27432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A9127AE8-8BD9-5631-7254-7731738BA03A}"/>
              </a:ext>
            </a:extLst>
          </p:cNvPr>
          <p:cNvSpPr txBox="1"/>
          <p:nvPr/>
        </p:nvSpPr>
        <p:spPr>
          <a:xfrm>
            <a:off x="6263640" y="4325112"/>
            <a:ext cx="1298448" cy="2560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0D1B2A"/>
                </a:solidFill>
                <a:effectLst/>
                <a:uLnTx/>
                <a:uFillTx/>
                <a:latin typeface="Calibri"/>
                <a:ea typeface="+mn-ea"/>
                <a:cs typeface="+mn-cs"/>
              </a:rPr>
              <a:t>SUMO</a:t>
            </a:r>
          </a:p>
        </p:txBody>
      </p:sp>
      <p:sp>
        <p:nvSpPr>
          <p:cNvPr id="25" name="Rectangle 24">
            <a:extLst>
              <a:ext uri="{FF2B5EF4-FFF2-40B4-BE49-F238E27FC236}">
                <a16:creationId xmlns:a16="http://schemas.microsoft.com/office/drawing/2014/main" id="{55133D9D-12F5-936C-4C7C-78FCBCAF959B}"/>
              </a:ext>
            </a:extLst>
          </p:cNvPr>
          <p:cNvSpPr/>
          <p:nvPr/>
        </p:nvSpPr>
        <p:spPr>
          <a:xfrm>
            <a:off x="6263640" y="4663440"/>
            <a:ext cx="1298448" cy="274320"/>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Box 25">
            <a:extLst>
              <a:ext uri="{FF2B5EF4-FFF2-40B4-BE49-F238E27FC236}">
                <a16:creationId xmlns:a16="http://schemas.microsoft.com/office/drawing/2014/main" id="{0EF0CD03-3033-0648-AF14-1242899AE959}"/>
              </a:ext>
            </a:extLst>
          </p:cNvPr>
          <p:cNvSpPr txBox="1"/>
          <p:nvPr/>
        </p:nvSpPr>
        <p:spPr>
          <a:xfrm>
            <a:off x="6263640" y="4690872"/>
            <a:ext cx="1298448" cy="2560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D1B2A"/>
                </a:solidFill>
                <a:effectLst/>
                <a:uLnTx/>
                <a:uFillTx/>
                <a:latin typeface="Calibri"/>
                <a:ea typeface="+mn-ea"/>
                <a:cs typeface="+mn-cs"/>
              </a:rPr>
              <a:t>FastAPI</a:t>
            </a:r>
          </a:p>
        </p:txBody>
      </p:sp>
      <p:sp>
        <p:nvSpPr>
          <p:cNvPr id="27" name="Rectangle 26">
            <a:extLst>
              <a:ext uri="{FF2B5EF4-FFF2-40B4-BE49-F238E27FC236}">
                <a16:creationId xmlns:a16="http://schemas.microsoft.com/office/drawing/2014/main" id="{C32C83A8-774D-C5F0-119C-7F4FECD56DCC}"/>
              </a:ext>
            </a:extLst>
          </p:cNvPr>
          <p:cNvSpPr/>
          <p:nvPr/>
        </p:nvSpPr>
        <p:spPr>
          <a:xfrm>
            <a:off x="7653528" y="4663440"/>
            <a:ext cx="1298448" cy="274320"/>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98334A45-4DB3-197E-AD66-7122930B8EF0}"/>
              </a:ext>
            </a:extLst>
          </p:cNvPr>
          <p:cNvSpPr txBox="1"/>
          <p:nvPr/>
        </p:nvSpPr>
        <p:spPr>
          <a:xfrm>
            <a:off x="7653528" y="4690872"/>
            <a:ext cx="1298448" cy="2560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0D1B2A"/>
                </a:solidFill>
                <a:effectLst/>
                <a:uLnTx/>
                <a:uFillTx/>
                <a:latin typeface="Calibri"/>
                <a:ea typeface="+mn-ea"/>
                <a:cs typeface="+mn-cs"/>
              </a:rPr>
              <a:t>Python</a:t>
            </a:r>
          </a:p>
        </p:txBody>
      </p:sp>
      <p:sp>
        <p:nvSpPr>
          <p:cNvPr id="41" name="Tijdelijke aanduiding voor dianummer 40">
            <a:extLst>
              <a:ext uri="{FF2B5EF4-FFF2-40B4-BE49-F238E27FC236}">
                <a16:creationId xmlns:a16="http://schemas.microsoft.com/office/drawing/2014/main" id="{B6C34F54-D667-74CC-708A-0D6AD5429166}"/>
              </a:ext>
            </a:extLst>
          </p:cNvPr>
          <p:cNvSpPr>
            <a:spLocks noGrp="1"/>
          </p:cNvSpPr>
          <p:nvPr>
            <p:ph type="sldNum" sz="quarter" idx="12"/>
          </p:nvPr>
        </p:nvSpPr>
        <p:spPr>
          <a:xfrm>
            <a:off x="10055352" y="6492875"/>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0" name="Rectangle 28">
            <a:extLst>
              <a:ext uri="{FF2B5EF4-FFF2-40B4-BE49-F238E27FC236}">
                <a16:creationId xmlns:a16="http://schemas.microsoft.com/office/drawing/2014/main" id="{26BE4CF1-2752-17E0-DBF8-79909FCAC9AB}"/>
              </a:ext>
            </a:extLst>
          </p:cNvPr>
          <p:cNvSpPr/>
          <p:nvPr/>
        </p:nvSpPr>
        <p:spPr>
          <a:xfrm>
            <a:off x="7653528" y="4297680"/>
            <a:ext cx="1298448" cy="274320"/>
          </a:xfrm>
          <a:prstGeom prst="roundRect">
            <a:avLst/>
          </a:prstGeom>
          <a:solidFill>
            <a:srgbClr val="FF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9">
            <a:extLst>
              <a:ext uri="{FF2B5EF4-FFF2-40B4-BE49-F238E27FC236}">
                <a16:creationId xmlns:a16="http://schemas.microsoft.com/office/drawing/2014/main" id="{2F45C7B2-A748-46B6-64C0-532D37118C18}"/>
              </a:ext>
            </a:extLst>
          </p:cNvPr>
          <p:cNvSpPr txBox="1"/>
          <p:nvPr/>
        </p:nvSpPr>
        <p:spPr>
          <a:xfrm>
            <a:off x="7623842" y="4325112"/>
            <a:ext cx="1298448" cy="2560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nl-BE" sz="1000" b="1" i="0" u="none" strike="noStrike" kern="1200" cap="none" spc="0" normalizeH="0" baseline="0" noProof="0" dirty="0">
                <a:ln>
                  <a:noFill/>
                </a:ln>
                <a:solidFill>
                  <a:srgbClr val="0D1B2A"/>
                </a:solidFill>
                <a:effectLst/>
                <a:uLnTx/>
                <a:uFillTx/>
                <a:latin typeface="Calibri"/>
                <a:ea typeface="+mn-ea"/>
                <a:cs typeface="+mn-cs"/>
              </a:rPr>
              <a:t>Gymnasium</a:t>
            </a:r>
            <a:endParaRPr kumimoji="0" sz="1000" b="1" i="0" u="none" strike="noStrike" kern="1200" cap="none" spc="0" normalizeH="0" baseline="0" noProof="0" dirty="0">
              <a:ln>
                <a:noFill/>
              </a:ln>
              <a:solidFill>
                <a:srgbClr val="0D1B2A"/>
              </a:solidFill>
              <a:effectLst/>
              <a:uLnTx/>
              <a:uFillTx/>
              <a:latin typeface="Calibri"/>
              <a:ea typeface="+mn-ea"/>
              <a:cs typeface="+mn-cs"/>
            </a:endParaRPr>
          </a:p>
        </p:txBody>
      </p:sp>
      <p:sp>
        <p:nvSpPr>
          <p:cNvPr id="24" name="Rectangle 28">
            <a:extLst>
              <a:ext uri="{FF2B5EF4-FFF2-40B4-BE49-F238E27FC236}">
                <a16:creationId xmlns:a16="http://schemas.microsoft.com/office/drawing/2014/main" id="{AB9B6135-62AD-A1F5-DE3B-C374B7CDC748}"/>
              </a:ext>
            </a:extLst>
          </p:cNvPr>
          <p:cNvSpPr/>
          <p:nvPr/>
        </p:nvSpPr>
        <p:spPr>
          <a:xfrm>
            <a:off x="9044178" y="4297680"/>
            <a:ext cx="1298448" cy="274320"/>
          </a:xfrm>
          <a:prstGeom prst="roundRect">
            <a:avLst/>
          </a:prstGeom>
          <a:solidFill>
            <a:srgbClr val="FF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TextBox 29">
            <a:extLst>
              <a:ext uri="{FF2B5EF4-FFF2-40B4-BE49-F238E27FC236}">
                <a16:creationId xmlns:a16="http://schemas.microsoft.com/office/drawing/2014/main" id="{ABED1908-4338-19E2-06B3-012E8BBED41C}"/>
              </a:ext>
            </a:extLst>
          </p:cNvPr>
          <p:cNvSpPr txBox="1"/>
          <p:nvPr/>
        </p:nvSpPr>
        <p:spPr>
          <a:xfrm>
            <a:off x="9014492" y="4325112"/>
            <a:ext cx="1298448" cy="2560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l-BE" sz="1000" b="1" dirty="0">
                <a:solidFill>
                  <a:srgbClr val="0D1B2A"/>
                </a:solidFill>
                <a:latin typeface="Calibri"/>
              </a:rPr>
              <a:t>RL</a:t>
            </a:r>
            <a:endParaRPr kumimoji="0" sz="1000" b="1" i="0" u="none" strike="noStrike" kern="1200" cap="none" spc="0" normalizeH="0" baseline="0" noProof="0" dirty="0">
              <a:ln>
                <a:noFill/>
              </a:ln>
              <a:solidFill>
                <a:srgbClr val="0D1B2A"/>
              </a:solidFill>
              <a:effectLst/>
              <a:uLnTx/>
              <a:uFillTx/>
              <a:latin typeface="Calibri"/>
              <a:ea typeface="+mn-ea"/>
              <a:cs typeface="+mn-cs"/>
            </a:endParaRPr>
          </a:p>
        </p:txBody>
      </p:sp>
      <p:pic>
        <p:nvPicPr>
          <p:cNvPr id="43" name="Afbeelding 42" descr="SUMO-RL 1.4.5 documentation">
            <a:extLst>
              <a:ext uri="{FF2B5EF4-FFF2-40B4-BE49-F238E27FC236}">
                <a16:creationId xmlns:a16="http://schemas.microsoft.com/office/drawing/2014/main" id="{5DF6A086-B5BE-F29B-DB91-4D67E7D7925F}"/>
              </a:ext>
            </a:extLst>
          </p:cNvPr>
          <p:cNvPicPr>
            <a:picLocks noChangeAspect="1"/>
          </p:cNvPicPr>
          <p:nvPr/>
        </p:nvPicPr>
        <p:blipFill>
          <a:blip r:embed="rId2"/>
          <a:stretch>
            <a:fillRect/>
          </a:stretch>
        </p:blipFill>
        <p:spPr>
          <a:xfrm>
            <a:off x="6169820" y="1193655"/>
            <a:ext cx="5717380" cy="24394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75848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4" grpId="0" animBg="1"/>
      <p:bldP spid="15" grpId="0" animBg="1"/>
      <p:bldP spid="16" grpId="0"/>
      <p:bldP spid="17" grpId="0" animBg="1"/>
      <p:bldP spid="18" grpId="0"/>
      <p:bldP spid="25" grpId="0" animBg="1"/>
      <p:bldP spid="26" grpId="0"/>
      <p:bldP spid="27" grpId="0" animBg="1"/>
      <p:bldP spid="28" grpId="0"/>
      <p:bldP spid="20" grpId="0" animBg="1"/>
      <p:bldP spid="21" grpId="0"/>
      <p:bldP spid="24" grpId="0" animBg="1"/>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3314D6C5-6BCE-2ADC-4BDF-099ADB27A09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2433EFB-9A89-98C7-7B65-CD51DBE4E141}"/>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D2CF91F9-7805-E080-FA54-670C42681AC3}"/>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823869E9-D2A6-6037-082C-D9DC01437AE8}"/>
              </a:ext>
            </a:extLst>
          </p:cNvPr>
          <p:cNvSpPr txBox="1"/>
          <p:nvPr/>
        </p:nvSpPr>
        <p:spPr>
          <a:xfrm>
            <a:off x="1371600" y="1374003"/>
            <a:ext cx="9144000" cy="3416320"/>
          </a:xfrm>
          <a:prstGeom prst="rect">
            <a:avLst/>
          </a:prstGeom>
          <a:noFill/>
        </p:spPr>
        <p:txBody>
          <a:bodyPr wrap="square">
            <a:spAutoFit/>
          </a:bodyPr>
          <a:lstStyle/>
          <a:p>
            <a:pPr algn="ctr"/>
            <a:r>
              <a:rPr lang="nl-BE" sz="7200" b="1" dirty="0">
                <a:solidFill>
                  <a:srgbClr val="0099FF"/>
                </a:solidFill>
              </a:rPr>
              <a:t>Onderzochte oplossingen</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3C206F67-0B42-F5BE-DFAB-572AF15FF6B0}"/>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6B19BB16-2463-51C8-3776-C306CCAD1000}"/>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93621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D9E0B726-CC65-15E4-56A0-B51E4418FE9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E5E0B4-C428-E40A-650C-2B2A0C482ABD}"/>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671D1B25-5864-0537-4421-D130AE33834A}"/>
              </a:ext>
            </a:extLst>
          </p:cNvPr>
          <p:cNvSpPr/>
          <p:nvPr/>
        </p:nvSpPr>
        <p:spPr>
          <a:xfrm>
            <a:off x="0" y="0"/>
            <a:ext cx="73152" cy="100584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3A7EBD60-2F72-3859-9D73-4EE6674EB71A}"/>
              </a:ext>
            </a:extLst>
          </p:cNvPr>
          <p:cNvSpPr txBox="1"/>
          <p:nvPr/>
        </p:nvSpPr>
        <p:spPr>
          <a:xfrm>
            <a:off x="201168" y="73152"/>
            <a:ext cx="4216475"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3000" b="1" i="0" u="none" strike="noStrike" kern="1200" cap="none" spc="0" normalizeH="0" baseline="0" noProof="0" dirty="0">
                <a:ln>
                  <a:noFill/>
                </a:ln>
                <a:solidFill>
                  <a:srgbClr val="FFFFFF"/>
                </a:solidFill>
                <a:effectLst/>
                <a:uLnTx/>
                <a:uFillTx/>
                <a:latin typeface="Calibri"/>
                <a:ea typeface="+mn-ea"/>
                <a:cs typeface="+mn-cs"/>
              </a:rPr>
              <a:t>Onderzochte oplossingen</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F4FDD15E-AD1A-7B8A-9CFF-85F460F24E7D}"/>
              </a:ext>
            </a:extLst>
          </p:cNvPr>
          <p:cNvSpPr/>
          <p:nvPr/>
        </p:nvSpPr>
        <p:spPr>
          <a:xfrm>
            <a:off x="274320" y="1188720"/>
            <a:ext cx="5577840" cy="534924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28D1BB87-FEDB-AD08-2C73-4EE1FB17AF63}"/>
              </a:ext>
            </a:extLst>
          </p:cNvPr>
          <p:cNvSpPr/>
          <p:nvPr/>
        </p:nvSpPr>
        <p:spPr>
          <a:xfrm>
            <a:off x="274320" y="1188720"/>
            <a:ext cx="5577840" cy="36576"/>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AC5F1608-22C7-4DFD-0152-112F38FBE212}"/>
              </a:ext>
            </a:extLst>
          </p:cNvPr>
          <p:cNvSpPr txBox="1"/>
          <p:nvPr/>
        </p:nvSpPr>
        <p:spPr>
          <a:xfrm>
            <a:off x="411480" y="1261872"/>
            <a:ext cx="1931041"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1400" b="1" i="0" u="none" strike="noStrike" kern="1200" cap="none" spc="0" normalizeH="0" baseline="0" noProof="0" dirty="0" err="1">
                <a:ln>
                  <a:noFill/>
                </a:ln>
                <a:solidFill>
                  <a:srgbClr val="0099FF"/>
                </a:solidFill>
                <a:effectLst/>
                <a:uLnTx/>
                <a:uFillTx/>
                <a:latin typeface="Calibri"/>
                <a:ea typeface="+mn-ea"/>
                <a:cs typeface="+mn-cs"/>
              </a:rPr>
              <a:t>Reinforcement</a:t>
            </a:r>
            <a:r>
              <a:rPr kumimoji="0" lang="nl-BE" sz="1400" b="1" i="0" u="none" strike="noStrike" kern="1200" cap="none" spc="0" normalizeH="0" noProof="0" dirty="0">
                <a:ln>
                  <a:noFill/>
                </a:ln>
                <a:solidFill>
                  <a:srgbClr val="0099FF"/>
                </a:solidFill>
                <a:effectLst/>
                <a:uLnTx/>
                <a:uFillTx/>
                <a:latin typeface="Calibri"/>
                <a:ea typeface="+mn-ea"/>
                <a:cs typeface="+mn-cs"/>
              </a:rPr>
              <a:t> </a:t>
            </a:r>
            <a:r>
              <a:rPr kumimoji="0" lang="nl-BE" sz="1400" b="1" i="0" u="none" strike="noStrike" kern="1200" cap="none" spc="0" normalizeH="0" noProof="0" dirty="0" err="1">
                <a:ln>
                  <a:noFill/>
                </a:ln>
                <a:solidFill>
                  <a:srgbClr val="0099FF"/>
                </a:solidFill>
                <a:effectLst/>
                <a:uLnTx/>
                <a:uFillTx/>
                <a:latin typeface="Calibri"/>
                <a:ea typeface="+mn-ea"/>
                <a:cs typeface="+mn-cs"/>
              </a:rPr>
              <a:t>learning</a:t>
            </a:r>
            <a:endParaRPr kumimoji="0" sz="1400" b="1" i="0" u="none" strike="noStrike" kern="1200" cap="none" spc="0" normalizeH="0" baseline="0" noProof="0" dirty="0">
              <a:ln>
                <a:noFill/>
              </a:ln>
              <a:solidFill>
                <a:srgbClr val="0099FF"/>
              </a:solidFill>
              <a:effectLst/>
              <a:uLnTx/>
              <a:uFillTx/>
              <a:latin typeface="Calibri"/>
              <a:ea typeface="+mn-ea"/>
              <a:cs typeface="+mn-cs"/>
            </a:endParaRPr>
          </a:p>
        </p:txBody>
      </p:sp>
      <p:sp>
        <p:nvSpPr>
          <p:cNvPr id="9" name="TextBox 8">
            <a:extLst>
              <a:ext uri="{FF2B5EF4-FFF2-40B4-BE49-F238E27FC236}">
                <a16:creationId xmlns:a16="http://schemas.microsoft.com/office/drawing/2014/main" id="{A8FEDD9D-2E7B-82B5-92F6-B0A04D86FD34}"/>
              </a:ext>
            </a:extLst>
          </p:cNvPr>
          <p:cNvSpPr txBox="1"/>
          <p:nvPr/>
        </p:nvSpPr>
        <p:spPr>
          <a:xfrm>
            <a:off x="464826" y="1554409"/>
            <a:ext cx="5550535" cy="2146742"/>
          </a:xfrm>
          <a:prstGeom prst="rect">
            <a:avLst/>
          </a:prstGeom>
          <a:noFill/>
        </p:spPr>
        <p:txBody>
          <a:bodyPr wrap="square">
            <a:spAutoFit/>
          </a:bodyPr>
          <a:lstStyle/>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kumimoji="0" lang="nl-BE" sz="1800" b="1" i="0" u="none" strike="noStrike" kern="1200" cap="none" spc="0" normalizeH="0" baseline="0" noProof="0" dirty="0">
                <a:ln>
                  <a:noFill/>
                </a:ln>
                <a:solidFill>
                  <a:srgbClr val="B0C4D8"/>
                </a:solidFill>
                <a:effectLst/>
                <a:uLnTx/>
                <a:uFillTx/>
                <a:latin typeface="Calibri"/>
                <a:ea typeface="+mn-ea"/>
                <a:cs typeface="+mn-cs"/>
              </a:rPr>
              <a:t>Doelgericht leren</a:t>
            </a:r>
            <a:r>
              <a:rPr kumimoji="0" lang="nl-BE" sz="1800" b="0" i="0" u="none" strike="noStrike" kern="1200" cap="none" spc="0" normalizeH="0" baseline="0" noProof="0" dirty="0">
                <a:ln>
                  <a:noFill/>
                </a:ln>
                <a:solidFill>
                  <a:srgbClr val="B0C4D8"/>
                </a:solidFill>
                <a:effectLst/>
                <a:uLnTx/>
                <a:uFillTx/>
                <a:latin typeface="Calibri"/>
                <a:ea typeface="+mn-ea"/>
                <a:cs typeface="+mn-cs"/>
              </a:rPr>
              <a:t>: model leert</a:t>
            </a:r>
            <a:r>
              <a:rPr kumimoji="0" lang="nl-BE" sz="1800" b="0" i="0" u="none" strike="noStrike" kern="1200" cap="none" spc="0" normalizeH="0" noProof="0" dirty="0">
                <a:ln>
                  <a:noFill/>
                </a:ln>
                <a:solidFill>
                  <a:srgbClr val="B0C4D8"/>
                </a:solidFill>
                <a:effectLst/>
                <a:uLnTx/>
                <a:uFillTx/>
                <a:latin typeface="Calibri"/>
                <a:ea typeface="+mn-ea"/>
                <a:cs typeface="+mn-cs"/>
              </a:rPr>
              <a:t> zelfstanding beste strategie om doel te bereiken</a:t>
            </a:r>
          </a:p>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lang="nl-BE" b="1" baseline="0" dirty="0">
                <a:solidFill>
                  <a:srgbClr val="B0C4D8"/>
                </a:solidFill>
                <a:latin typeface="Calibri"/>
              </a:rPr>
              <a:t>Trial &amp; Error</a:t>
            </a:r>
            <a:r>
              <a:rPr lang="nl-BE" baseline="0" dirty="0">
                <a:solidFill>
                  <a:srgbClr val="B0C4D8"/>
                </a:solidFill>
                <a:latin typeface="Calibri"/>
              </a:rPr>
              <a:t>: leren door interactie</a:t>
            </a:r>
            <a:r>
              <a:rPr lang="nl-BE" dirty="0">
                <a:solidFill>
                  <a:srgbClr val="B0C4D8"/>
                </a:solidFill>
                <a:latin typeface="Calibri"/>
              </a:rPr>
              <a:t> met omgeving</a:t>
            </a:r>
          </a:p>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kumimoji="0" lang="nl-BE" sz="1800" b="1" i="0" u="none" strike="noStrike" kern="1200" cap="none" spc="0" normalizeH="0" baseline="0" noProof="0" dirty="0">
                <a:ln>
                  <a:noFill/>
                </a:ln>
                <a:solidFill>
                  <a:srgbClr val="B0C4D8"/>
                </a:solidFill>
                <a:effectLst/>
                <a:uLnTx/>
                <a:uFillTx/>
                <a:latin typeface="Calibri"/>
                <a:ea typeface="+mn-ea"/>
                <a:cs typeface="+mn-cs"/>
              </a:rPr>
              <a:t>Beloningssysteem</a:t>
            </a:r>
            <a:r>
              <a:rPr kumimoji="0" lang="nl-BE" sz="1800" b="0" i="0" u="none" strike="noStrike" kern="1200" cap="none" spc="0" normalizeH="0" baseline="0" noProof="0" dirty="0">
                <a:ln>
                  <a:noFill/>
                </a:ln>
                <a:solidFill>
                  <a:srgbClr val="B0C4D8"/>
                </a:solidFill>
                <a:effectLst/>
                <a:uLnTx/>
                <a:uFillTx/>
                <a:latin typeface="Calibri"/>
                <a:ea typeface="+mn-ea"/>
                <a:cs typeface="+mn-cs"/>
              </a:rPr>
              <a:t>:</a:t>
            </a:r>
            <a:r>
              <a:rPr kumimoji="0" lang="nl-BE" sz="1800" b="0" i="0" u="none" strike="noStrike" kern="1200" cap="none" spc="0" normalizeH="0" noProof="0" dirty="0">
                <a:ln>
                  <a:noFill/>
                </a:ln>
                <a:solidFill>
                  <a:srgbClr val="B0C4D8"/>
                </a:solidFill>
                <a:effectLst/>
                <a:uLnTx/>
                <a:uFillTx/>
                <a:latin typeface="Calibri"/>
                <a:ea typeface="+mn-ea"/>
                <a:cs typeface="+mn-cs"/>
              </a:rPr>
              <a:t> goede acties krijgen beloning, foute een straf</a:t>
            </a:r>
            <a:endParaRPr kumimoji="0" lang="nl-BE" sz="1800" b="0" i="0" u="none" strike="noStrike" kern="1200" cap="none" spc="0" normalizeH="0" baseline="0" noProof="0" dirty="0">
              <a:ln>
                <a:noFill/>
              </a:ln>
              <a:solidFill>
                <a:srgbClr val="B0C4D8"/>
              </a:solidFill>
              <a:effectLst/>
              <a:uLnTx/>
              <a:uFillTx/>
              <a:latin typeface="Calibri"/>
              <a:ea typeface="+mn-ea"/>
              <a:cs typeface="+mn-cs"/>
            </a:endParaRPr>
          </a:p>
          <a:p>
            <a:pPr marL="0" marR="0" lvl="0" indent="0" algn="l" defTabSz="457200" rtl="0" eaLnBrk="1" fontAlgn="auto" latinLnBrk="0" hangingPunct="1">
              <a:lnSpc>
                <a:spcPct val="100000"/>
              </a:lnSpc>
              <a:spcBef>
                <a:spcPts val="300"/>
              </a:spcBef>
              <a:spcAft>
                <a:spcPts val="0"/>
              </a:spcAft>
              <a:buClrTx/>
              <a:buSzTx/>
              <a:buFontTx/>
              <a:buNone/>
              <a:tabLst/>
              <a:defRPr/>
            </a:pPr>
            <a:endParaRPr kumimoji="0" sz="1800" b="0" i="0" u="none" strike="noStrike" kern="1200" cap="none" spc="0" normalizeH="0" baseline="0" noProof="0" dirty="0">
              <a:ln>
                <a:noFill/>
              </a:ln>
              <a:solidFill>
                <a:srgbClr val="B0C4D8"/>
              </a:solidFill>
              <a:effectLst/>
              <a:uLnTx/>
              <a:uFillTx/>
              <a:latin typeface="Calibri"/>
              <a:ea typeface="+mn-ea"/>
              <a:cs typeface="+mn-cs"/>
            </a:endParaRPr>
          </a:p>
        </p:txBody>
      </p:sp>
      <p:sp>
        <p:nvSpPr>
          <p:cNvPr id="41" name="Tijdelijke aanduiding voor dianummer 40">
            <a:extLst>
              <a:ext uri="{FF2B5EF4-FFF2-40B4-BE49-F238E27FC236}">
                <a16:creationId xmlns:a16="http://schemas.microsoft.com/office/drawing/2014/main" id="{0AAA0993-BE01-8E5B-BD34-65045D19F7D9}"/>
              </a:ext>
            </a:extLst>
          </p:cNvPr>
          <p:cNvSpPr>
            <a:spLocks noGrp="1"/>
          </p:cNvSpPr>
          <p:nvPr>
            <p:ph type="sldNum" sz="quarter" idx="12"/>
          </p:nvPr>
        </p:nvSpPr>
        <p:spPr>
          <a:xfrm>
            <a:off x="10055352" y="6492875"/>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49" name="Afbeelding 48">
            <a:extLst>
              <a:ext uri="{FF2B5EF4-FFF2-40B4-BE49-F238E27FC236}">
                <a16:creationId xmlns:a16="http://schemas.microsoft.com/office/drawing/2014/main" id="{E941BE7F-8C04-7F67-2B0A-EE8E66ED3166}"/>
              </a:ext>
            </a:extLst>
          </p:cNvPr>
          <p:cNvPicPr>
            <a:picLocks noChangeAspect="1"/>
          </p:cNvPicPr>
          <p:nvPr/>
        </p:nvPicPr>
        <p:blipFill>
          <a:blip r:embed="rId2"/>
          <a:stretch>
            <a:fillRect/>
          </a:stretch>
        </p:blipFill>
        <p:spPr>
          <a:xfrm>
            <a:off x="6095168" y="1176624"/>
            <a:ext cx="5792032" cy="53613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0" name="TextBox 7">
            <a:extLst>
              <a:ext uri="{FF2B5EF4-FFF2-40B4-BE49-F238E27FC236}">
                <a16:creationId xmlns:a16="http://schemas.microsoft.com/office/drawing/2014/main" id="{6A3DA8BD-2975-3F72-C193-B36402E2B18C}"/>
              </a:ext>
            </a:extLst>
          </p:cNvPr>
          <p:cNvSpPr txBox="1"/>
          <p:nvPr/>
        </p:nvSpPr>
        <p:spPr>
          <a:xfrm>
            <a:off x="437521" y="3547262"/>
            <a:ext cx="2377702"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l-BE" sz="1400" b="1" dirty="0">
                <a:solidFill>
                  <a:srgbClr val="0099FF"/>
                </a:solidFill>
                <a:latin typeface="Calibri"/>
              </a:rPr>
              <a:t>5</a:t>
            </a:r>
            <a:r>
              <a:rPr kumimoji="0" lang="nl-BE" sz="1400" b="1" i="0" u="none" strike="noStrike" kern="1200" cap="none" spc="0" normalizeH="0" baseline="0" noProof="0" dirty="0">
                <a:ln>
                  <a:noFill/>
                </a:ln>
                <a:solidFill>
                  <a:srgbClr val="0099FF"/>
                </a:solidFill>
                <a:effectLst/>
                <a:uLnTx/>
                <a:uFillTx/>
                <a:latin typeface="Calibri"/>
                <a:ea typeface="+mn-ea"/>
                <a:cs typeface="+mn-cs"/>
              </a:rPr>
              <a:t> Belangrijkste</a:t>
            </a:r>
            <a:r>
              <a:rPr kumimoji="0" lang="nl-BE" sz="1400" b="1" i="0" u="none" strike="noStrike" kern="1200" cap="none" spc="0" normalizeH="0" noProof="0" dirty="0">
                <a:ln>
                  <a:noFill/>
                </a:ln>
                <a:solidFill>
                  <a:srgbClr val="0099FF"/>
                </a:solidFill>
                <a:effectLst/>
                <a:uLnTx/>
                <a:uFillTx/>
                <a:latin typeface="Calibri"/>
                <a:ea typeface="+mn-ea"/>
                <a:cs typeface="+mn-cs"/>
              </a:rPr>
              <a:t> Componenten</a:t>
            </a:r>
            <a:endParaRPr kumimoji="0" sz="1400" b="1" i="0" u="none" strike="noStrike" kern="1200" cap="none" spc="0" normalizeH="0" baseline="0" noProof="0" dirty="0">
              <a:ln>
                <a:noFill/>
              </a:ln>
              <a:solidFill>
                <a:srgbClr val="0099FF"/>
              </a:solidFill>
              <a:effectLst/>
              <a:uLnTx/>
              <a:uFillTx/>
              <a:latin typeface="Calibri"/>
              <a:ea typeface="+mn-ea"/>
              <a:cs typeface="+mn-cs"/>
            </a:endParaRPr>
          </a:p>
        </p:txBody>
      </p:sp>
      <p:sp>
        <p:nvSpPr>
          <p:cNvPr id="51" name="TextBox 8">
            <a:extLst>
              <a:ext uri="{FF2B5EF4-FFF2-40B4-BE49-F238E27FC236}">
                <a16:creationId xmlns:a16="http://schemas.microsoft.com/office/drawing/2014/main" id="{5FB04F42-E90E-F469-EE20-A54FD0143755}"/>
              </a:ext>
            </a:extLst>
          </p:cNvPr>
          <p:cNvSpPr txBox="1"/>
          <p:nvPr/>
        </p:nvSpPr>
        <p:spPr>
          <a:xfrm>
            <a:off x="441007" y="3888222"/>
            <a:ext cx="5550535" cy="2556084"/>
          </a:xfrm>
          <a:prstGeom prst="rect">
            <a:avLst/>
          </a:prstGeom>
          <a:noFill/>
        </p:spPr>
        <p:txBody>
          <a:bodyPr wrap="square">
            <a:spAutoFit/>
          </a:bodyPr>
          <a:lstStyle/>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kumimoji="0" lang="nl-BE" sz="1800" b="1" i="0" u="none" strike="noStrike" kern="1200" cap="none" spc="0" normalizeH="0" baseline="0" noProof="0" dirty="0">
                <a:ln>
                  <a:noFill/>
                </a:ln>
                <a:solidFill>
                  <a:srgbClr val="B0C4D8"/>
                </a:solidFill>
                <a:effectLst/>
                <a:uLnTx/>
                <a:uFillTx/>
                <a:latin typeface="Calibri"/>
                <a:ea typeface="+mn-ea"/>
                <a:cs typeface="+mn-cs"/>
              </a:rPr>
              <a:t>Agent</a:t>
            </a:r>
            <a:r>
              <a:rPr kumimoji="0" lang="nl-BE" sz="1800" b="0" i="0" u="none" strike="noStrike" kern="1200" cap="none" spc="0" normalizeH="0" baseline="0" noProof="0" dirty="0">
                <a:ln>
                  <a:noFill/>
                </a:ln>
                <a:solidFill>
                  <a:srgbClr val="B0C4D8"/>
                </a:solidFill>
                <a:effectLst/>
                <a:uLnTx/>
                <a:uFillTx/>
                <a:latin typeface="Calibri"/>
                <a:ea typeface="+mn-ea"/>
                <a:cs typeface="+mn-cs"/>
              </a:rPr>
              <a:t>: Het</a:t>
            </a:r>
            <a:r>
              <a:rPr kumimoji="0" lang="nl-BE" sz="1800" b="0" i="0" u="none" strike="noStrike" kern="1200" cap="none" spc="0" normalizeH="0" noProof="0" dirty="0">
                <a:ln>
                  <a:noFill/>
                </a:ln>
                <a:solidFill>
                  <a:srgbClr val="B0C4D8"/>
                </a:solidFill>
                <a:effectLst/>
                <a:uLnTx/>
                <a:uFillTx/>
                <a:latin typeface="Calibri"/>
                <a:ea typeface="+mn-ea"/>
                <a:cs typeface="+mn-cs"/>
              </a:rPr>
              <a:t> AI-systeem of model dat beslissingen neemt</a:t>
            </a:r>
            <a:r>
              <a:rPr kumimoji="0" lang="nl-BE" sz="1800" b="0" i="0" u="none" strike="noStrike" kern="1200" cap="none" spc="0" normalizeH="0" baseline="0" noProof="0" dirty="0">
                <a:ln>
                  <a:noFill/>
                </a:ln>
                <a:solidFill>
                  <a:srgbClr val="B0C4D8"/>
                </a:solidFill>
                <a:effectLst/>
                <a:uLnTx/>
                <a:uFillTx/>
                <a:latin typeface="Calibri"/>
                <a:ea typeface="+mn-ea"/>
                <a:cs typeface="+mn-cs"/>
              </a:rPr>
              <a:t> </a:t>
            </a:r>
          </a:p>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lang="nl-BE" b="1" dirty="0">
                <a:solidFill>
                  <a:srgbClr val="B0C4D8"/>
                </a:solidFill>
                <a:latin typeface="Calibri"/>
              </a:rPr>
              <a:t>Environment</a:t>
            </a:r>
            <a:r>
              <a:rPr lang="nl-BE" dirty="0">
                <a:solidFill>
                  <a:srgbClr val="B0C4D8"/>
                </a:solidFill>
                <a:latin typeface="Calibri"/>
              </a:rPr>
              <a:t>: De wereld waarin de agent zicht bevindt</a:t>
            </a:r>
          </a:p>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kumimoji="0" lang="nl-BE" sz="1800" b="1" i="0" u="none" strike="noStrike" kern="1200" cap="none" spc="0" normalizeH="0" baseline="0" noProof="0" dirty="0">
                <a:ln>
                  <a:noFill/>
                </a:ln>
                <a:solidFill>
                  <a:srgbClr val="B0C4D8"/>
                </a:solidFill>
                <a:effectLst/>
                <a:uLnTx/>
                <a:uFillTx/>
                <a:latin typeface="Calibri"/>
                <a:ea typeface="+mn-ea"/>
                <a:cs typeface="+mn-cs"/>
              </a:rPr>
              <a:t>Action</a:t>
            </a:r>
            <a:r>
              <a:rPr kumimoji="0" lang="nl-BE" sz="1800" b="0" i="0" u="none" strike="noStrike" kern="1200" cap="none" spc="0" normalizeH="0" baseline="0" noProof="0" dirty="0">
                <a:ln>
                  <a:noFill/>
                </a:ln>
                <a:solidFill>
                  <a:srgbClr val="B0C4D8"/>
                </a:solidFill>
                <a:effectLst/>
                <a:uLnTx/>
                <a:uFillTx/>
                <a:latin typeface="Calibri"/>
                <a:ea typeface="+mn-ea"/>
                <a:cs typeface="+mn-cs"/>
              </a:rPr>
              <a:t>: De keuze of</a:t>
            </a:r>
            <a:r>
              <a:rPr kumimoji="0" lang="nl-BE" sz="1800" b="0" i="0" u="none" strike="noStrike" kern="1200" cap="none" spc="0" normalizeH="0" noProof="0" dirty="0">
                <a:ln>
                  <a:noFill/>
                </a:ln>
                <a:solidFill>
                  <a:srgbClr val="B0C4D8"/>
                </a:solidFill>
                <a:effectLst/>
                <a:uLnTx/>
                <a:uFillTx/>
                <a:latin typeface="Calibri"/>
                <a:ea typeface="+mn-ea"/>
                <a:cs typeface="+mn-cs"/>
              </a:rPr>
              <a:t> stap die de agent zet</a:t>
            </a:r>
            <a:r>
              <a:rPr kumimoji="0" lang="nl-BE" sz="1800" b="0" i="0" u="none" strike="noStrike" kern="1200" cap="none" spc="0" normalizeH="0" baseline="0" noProof="0" dirty="0">
                <a:ln>
                  <a:noFill/>
                </a:ln>
                <a:solidFill>
                  <a:srgbClr val="B0C4D8"/>
                </a:solidFill>
                <a:effectLst/>
                <a:uLnTx/>
                <a:uFillTx/>
                <a:latin typeface="Calibri"/>
                <a:ea typeface="+mn-ea"/>
                <a:cs typeface="+mn-cs"/>
              </a:rPr>
              <a:t> </a:t>
            </a:r>
          </a:p>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lang="nl-BE" b="1" dirty="0">
                <a:solidFill>
                  <a:srgbClr val="B0C4D8"/>
                </a:solidFill>
                <a:latin typeface="Calibri"/>
              </a:rPr>
              <a:t>State</a:t>
            </a:r>
            <a:r>
              <a:rPr lang="nl-BE" dirty="0">
                <a:solidFill>
                  <a:srgbClr val="B0C4D8"/>
                </a:solidFill>
                <a:latin typeface="Calibri"/>
              </a:rPr>
              <a:t>: De situatie waarin de agent zich bevindt</a:t>
            </a:r>
            <a:endParaRPr kumimoji="0" lang="nl-BE" sz="1800" b="0" i="0" u="none" strike="noStrike" kern="1200" cap="none" spc="0" normalizeH="0" baseline="0" noProof="0" dirty="0">
              <a:ln>
                <a:noFill/>
              </a:ln>
              <a:solidFill>
                <a:srgbClr val="B0C4D8"/>
              </a:solidFill>
              <a:effectLst/>
              <a:uLnTx/>
              <a:uFillTx/>
              <a:latin typeface="Calibri"/>
              <a:ea typeface="+mn-ea"/>
              <a:cs typeface="+mn-cs"/>
            </a:endParaRPr>
          </a:p>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lang="nl-BE" b="1" dirty="0" err="1">
                <a:solidFill>
                  <a:srgbClr val="B0C4D8"/>
                </a:solidFill>
                <a:latin typeface="Calibri"/>
              </a:rPr>
              <a:t>Reward</a:t>
            </a:r>
            <a:r>
              <a:rPr lang="nl-BE" b="1" dirty="0">
                <a:solidFill>
                  <a:srgbClr val="B0C4D8"/>
                </a:solidFill>
                <a:latin typeface="Calibri"/>
              </a:rPr>
              <a:t>: </a:t>
            </a:r>
            <a:r>
              <a:rPr lang="nl-BE" dirty="0">
                <a:solidFill>
                  <a:srgbClr val="B0C4D8"/>
                </a:solidFill>
                <a:latin typeface="Calibri"/>
              </a:rPr>
              <a:t>feedback of score na een actie</a:t>
            </a:r>
            <a:endParaRPr kumimoji="0" lang="nl-BE" sz="1800" i="0" u="none" strike="noStrike" kern="1200" cap="none" spc="0" normalizeH="0" baseline="0" noProof="0" dirty="0">
              <a:ln>
                <a:noFill/>
              </a:ln>
              <a:solidFill>
                <a:srgbClr val="B0C4D8"/>
              </a:solidFill>
              <a:effectLst/>
              <a:uLnTx/>
              <a:uFillTx/>
              <a:latin typeface="Calibri"/>
            </a:endParaRPr>
          </a:p>
          <a:p>
            <a:pPr marL="0" marR="0" lvl="0" indent="0" algn="l" defTabSz="457200" rtl="0" eaLnBrk="1" fontAlgn="auto" latinLnBrk="0" hangingPunct="1">
              <a:lnSpc>
                <a:spcPct val="100000"/>
              </a:lnSpc>
              <a:spcBef>
                <a:spcPts val="300"/>
              </a:spcBef>
              <a:spcAft>
                <a:spcPts val="0"/>
              </a:spcAft>
              <a:buClrTx/>
              <a:buSzTx/>
              <a:buFontTx/>
              <a:buNone/>
              <a:tabLst/>
              <a:defRPr/>
            </a:pPr>
            <a:endParaRPr kumimoji="0" sz="1800" b="0" i="0" u="none" strike="noStrike" kern="1200" cap="none" spc="0" normalizeH="0" baseline="0" noProof="0" dirty="0">
              <a:ln>
                <a:noFill/>
              </a:ln>
              <a:solidFill>
                <a:srgbClr val="B0C4D8"/>
              </a:solidFill>
              <a:effectLst/>
              <a:uLnTx/>
              <a:uFillTx/>
              <a:latin typeface="Calibri"/>
              <a:ea typeface="+mn-ea"/>
              <a:cs typeface="+mn-cs"/>
            </a:endParaRPr>
          </a:p>
        </p:txBody>
      </p:sp>
    </p:spTree>
    <p:extLst>
      <p:ext uri="{BB962C8B-B14F-4D97-AF65-F5344CB8AC3E}">
        <p14:creationId xmlns:p14="http://schemas.microsoft.com/office/powerpoint/2010/main" val="577520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50" grpId="0"/>
      <p:bldP spid="51"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8C8FBF5-17C3-EA40-5F47-BBD560E438D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FDB8ACF-408A-AB25-7ACF-37EBD0D1AEE0}"/>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AF10506D-888F-4FB0-7413-0F2AA3638026}"/>
              </a:ext>
            </a:extLst>
          </p:cNvPr>
          <p:cNvSpPr/>
          <p:nvPr/>
        </p:nvSpPr>
        <p:spPr>
          <a:xfrm>
            <a:off x="0" y="0"/>
            <a:ext cx="73152" cy="100584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5F3822B6-17B9-A61D-57A9-B216F3F54F10}"/>
              </a:ext>
            </a:extLst>
          </p:cNvPr>
          <p:cNvSpPr txBox="1"/>
          <p:nvPr/>
        </p:nvSpPr>
        <p:spPr>
          <a:xfrm>
            <a:off x="201168" y="73152"/>
            <a:ext cx="4216475"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3000" b="1" i="0" u="none" strike="noStrike" kern="1200" cap="none" spc="0" normalizeH="0" baseline="0" noProof="0" dirty="0">
                <a:ln>
                  <a:noFill/>
                </a:ln>
                <a:solidFill>
                  <a:srgbClr val="FFFFFF"/>
                </a:solidFill>
                <a:effectLst/>
                <a:uLnTx/>
                <a:uFillTx/>
                <a:latin typeface="Calibri"/>
                <a:ea typeface="+mn-ea"/>
                <a:cs typeface="+mn-cs"/>
              </a:rPr>
              <a:t>Onderzochte oplossingen</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27FD5A2-F267-876A-332D-1B709E5733B6}"/>
              </a:ext>
            </a:extLst>
          </p:cNvPr>
          <p:cNvSpPr/>
          <p:nvPr/>
        </p:nvSpPr>
        <p:spPr>
          <a:xfrm>
            <a:off x="274320" y="1188720"/>
            <a:ext cx="5577840" cy="534924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3417E0EA-06E6-4F4A-3040-21ADC641F9AE}"/>
              </a:ext>
            </a:extLst>
          </p:cNvPr>
          <p:cNvSpPr/>
          <p:nvPr/>
        </p:nvSpPr>
        <p:spPr>
          <a:xfrm>
            <a:off x="274320" y="1188720"/>
            <a:ext cx="5577840" cy="36576"/>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E6C62779-159C-AFE7-1ACE-F18829D77CEB}"/>
              </a:ext>
            </a:extLst>
          </p:cNvPr>
          <p:cNvSpPr txBox="1"/>
          <p:nvPr/>
        </p:nvSpPr>
        <p:spPr>
          <a:xfrm>
            <a:off x="411480" y="1261872"/>
            <a:ext cx="2360646"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1400" b="1" i="0" u="none" strike="noStrike" kern="1200" cap="none" spc="0" normalizeH="0" baseline="0" noProof="0" dirty="0" err="1">
                <a:ln>
                  <a:noFill/>
                </a:ln>
                <a:solidFill>
                  <a:srgbClr val="0099FF"/>
                </a:solidFill>
                <a:effectLst/>
                <a:uLnTx/>
                <a:uFillTx/>
                <a:latin typeface="Calibri"/>
                <a:ea typeface="+mn-ea"/>
                <a:cs typeface="+mn-cs"/>
              </a:rPr>
              <a:t>Deep</a:t>
            </a:r>
            <a:r>
              <a:rPr kumimoji="0" lang="nl-BE" sz="1400" b="1" i="0" u="none" strike="noStrike" kern="1200" cap="none" spc="0" normalizeH="0" baseline="0" noProof="0" dirty="0">
                <a:ln>
                  <a:noFill/>
                </a:ln>
                <a:solidFill>
                  <a:srgbClr val="0099FF"/>
                </a:solidFill>
                <a:effectLst/>
                <a:uLnTx/>
                <a:uFillTx/>
                <a:latin typeface="Calibri"/>
                <a:ea typeface="+mn-ea"/>
                <a:cs typeface="+mn-cs"/>
              </a:rPr>
              <a:t> </a:t>
            </a:r>
            <a:r>
              <a:rPr kumimoji="0" lang="nl-BE" sz="1400" b="1" i="0" u="none" strike="noStrike" kern="1200" cap="none" spc="0" normalizeH="0" baseline="0" noProof="0" dirty="0" err="1">
                <a:ln>
                  <a:noFill/>
                </a:ln>
                <a:solidFill>
                  <a:srgbClr val="0099FF"/>
                </a:solidFill>
                <a:effectLst/>
                <a:uLnTx/>
                <a:uFillTx/>
                <a:latin typeface="Calibri"/>
                <a:ea typeface="+mn-ea"/>
                <a:cs typeface="+mn-cs"/>
              </a:rPr>
              <a:t>Reinforcement</a:t>
            </a:r>
            <a:r>
              <a:rPr kumimoji="0" lang="nl-BE" sz="1400" b="1" i="0" u="none" strike="noStrike" kern="1200" cap="none" spc="0" normalizeH="0" baseline="0" noProof="0" dirty="0">
                <a:ln>
                  <a:noFill/>
                </a:ln>
                <a:solidFill>
                  <a:srgbClr val="0099FF"/>
                </a:solidFill>
                <a:effectLst/>
                <a:uLnTx/>
                <a:uFillTx/>
                <a:latin typeface="Calibri"/>
                <a:ea typeface="+mn-ea"/>
                <a:cs typeface="+mn-cs"/>
              </a:rPr>
              <a:t> </a:t>
            </a:r>
            <a:r>
              <a:rPr kumimoji="0" lang="nl-BE" sz="1400" b="1" i="0" u="none" strike="noStrike" kern="1200" cap="none" spc="0" normalizeH="0" baseline="0" noProof="0" dirty="0" err="1">
                <a:ln>
                  <a:noFill/>
                </a:ln>
                <a:solidFill>
                  <a:srgbClr val="0099FF"/>
                </a:solidFill>
                <a:effectLst/>
                <a:uLnTx/>
                <a:uFillTx/>
                <a:latin typeface="Calibri"/>
                <a:ea typeface="+mn-ea"/>
                <a:cs typeface="+mn-cs"/>
              </a:rPr>
              <a:t>learning</a:t>
            </a:r>
            <a:endParaRPr kumimoji="0" sz="1400" b="1" i="0" u="none" strike="noStrike" kern="1200" cap="none" spc="0" normalizeH="0" baseline="0" noProof="0" dirty="0">
              <a:ln>
                <a:noFill/>
              </a:ln>
              <a:solidFill>
                <a:srgbClr val="0099FF"/>
              </a:solidFill>
              <a:effectLst/>
              <a:uLnTx/>
              <a:uFillTx/>
              <a:latin typeface="Calibri"/>
              <a:ea typeface="+mn-ea"/>
              <a:cs typeface="+mn-cs"/>
            </a:endParaRPr>
          </a:p>
        </p:txBody>
      </p:sp>
      <p:sp>
        <p:nvSpPr>
          <p:cNvPr id="9" name="TextBox 8">
            <a:extLst>
              <a:ext uri="{FF2B5EF4-FFF2-40B4-BE49-F238E27FC236}">
                <a16:creationId xmlns:a16="http://schemas.microsoft.com/office/drawing/2014/main" id="{93B30AAF-4974-22B2-C7E2-206D1F48A005}"/>
              </a:ext>
            </a:extLst>
          </p:cNvPr>
          <p:cNvSpPr txBox="1"/>
          <p:nvPr/>
        </p:nvSpPr>
        <p:spPr>
          <a:xfrm>
            <a:off x="464826" y="1506324"/>
            <a:ext cx="5550535" cy="2551724"/>
          </a:xfrm>
          <a:prstGeom prst="rect">
            <a:avLst/>
          </a:prstGeom>
          <a:noFill/>
        </p:spPr>
        <p:txBody>
          <a:bodyPr wrap="square">
            <a:spAutoFit/>
          </a:bodyPr>
          <a:lstStyle/>
          <a:p>
            <a:pPr marL="285750" lvl="0" indent="-285750">
              <a:lnSpc>
                <a:spcPct val="120000"/>
              </a:lnSpc>
              <a:spcBef>
                <a:spcPts val="300"/>
              </a:spcBef>
              <a:buFont typeface="Arial" panose="020B0604020202020204" pitchFamily="34" charset="0"/>
              <a:buChar char="•"/>
            </a:pPr>
            <a:r>
              <a:rPr lang="nl-BE" sz="1600" b="1" dirty="0">
                <a:solidFill>
                  <a:srgbClr val="B0C4D8"/>
                </a:solidFill>
              </a:rPr>
              <a:t>Combinatie van RL en </a:t>
            </a:r>
            <a:r>
              <a:rPr lang="nl-BE" sz="1600" b="1" dirty="0" err="1">
                <a:solidFill>
                  <a:srgbClr val="B0C4D8"/>
                </a:solidFill>
              </a:rPr>
              <a:t>Deep</a:t>
            </a:r>
            <a:r>
              <a:rPr lang="nl-BE" sz="1600" b="1" dirty="0">
                <a:solidFill>
                  <a:srgbClr val="B0C4D8"/>
                </a:solidFill>
              </a:rPr>
              <a:t> Learning:</a:t>
            </a:r>
            <a:r>
              <a:rPr lang="nl-BE" sz="1600" dirty="0">
                <a:solidFill>
                  <a:srgbClr val="B0C4D8"/>
                </a:solidFill>
              </a:rPr>
              <a:t> gebruikt neurale netwerken om complexe problemen op te lossen. </a:t>
            </a:r>
          </a:p>
          <a:p>
            <a:pPr marL="285750" lvl="0" indent="-285750">
              <a:lnSpc>
                <a:spcPct val="120000"/>
              </a:lnSpc>
              <a:spcBef>
                <a:spcPts val="300"/>
              </a:spcBef>
              <a:buFont typeface="Arial" panose="020B0604020202020204" pitchFamily="34" charset="0"/>
              <a:buChar char="•"/>
            </a:pPr>
            <a:r>
              <a:rPr lang="nl-BE" sz="1600" b="1" dirty="0">
                <a:solidFill>
                  <a:srgbClr val="B0C4D8"/>
                </a:solidFill>
              </a:rPr>
              <a:t>Leren uit grote hoeveelheden data:</a:t>
            </a:r>
            <a:r>
              <a:rPr lang="nl-BE" sz="1600" dirty="0">
                <a:solidFill>
                  <a:srgbClr val="B0C4D8"/>
                </a:solidFill>
              </a:rPr>
              <a:t> geschikt voor complexe omgevingen zoals games en robots.</a:t>
            </a:r>
            <a:endParaRPr lang="nl-BE" sz="1600" b="1" dirty="0">
              <a:solidFill>
                <a:srgbClr val="B0C4D8"/>
              </a:solidFill>
            </a:endParaRPr>
          </a:p>
          <a:p>
            <a:pPr marL="285750" lvl="0" indent="-285750">
              <a:lnSpc>
                <a:spcPct val="120000"/>
              </a:lnSpc>
              <a:spcBef>
                <a:spcPts val="300"/>
              </a:spcBef>
              <a:buFont typeface="Arial" panose="020B0604020202020204" pitchFamily="34" charset="0"/>
              <a:buChar char="•"/>
            </a:pPr>
            <a:r>
              <a:rPr lang="nl-BE" sz="1600" b="1" dirty="0">
                <a:solidFill>
                  <a:srgbClr val="B0C4D8"/>
                </a:solidFill>
              </a:rPr>
              <a:t>Automatische patroonherkenning:</a:t>
            </a:r>
            <a:r>
              <a:rPr lang="nl-BE" sz="1600" dirty="0">
                <a:solidFill>
                  <a:srgbClr val="B0C4D8"/>
                </a:solidFill>
              </a:rPr>
              <a:t> het model leert zelf relevante kenmerken uit de omgeving.</a:t>
            </a:r>
            <a:endParaRPr kumimoji="0" lang="nl-BE" sz="1600" b="0" i="0" u="none" strike="noStrike" kern="1200" cap="none" spc="0" normalizeH="0" baseline="0" noProof="0" dirty="0">
              <a:ln>
                <a:noFill/>
              </a:ln>
              <a:solidFill>
                <a:srgbClr val="B0C4D8"/>
              </a:solidFill>
              <a:effectLst/>
              <a:uLnTx/>
              <a:uFillTx/>
              <a:latin typeface="Calibri"/>
            </a:endParaRPr>
          </a:p>
          <a:p>
            <a:pPr marL="285750" lvl="0" indent="-285750">
              <a:lnSpc>
                <a:spcPct val="120000"/>
              </a:lnSpc>
              <a:spcBef>
                <a:spcPts val="300"/>
              </a:spcBef>
              <a:buFont typeface="Arial" panose="020B0604020202020204" pitchFamily="34" charset="0"/>
              <a:buChar char="•"/>
            </a:pPr>
            <a:r>
              <a:rPr lang="nl-BE" sz="1600" b="1" dirty="0">
                <a:solidFill>
                  <a:srgbClr val="B0C4D8"/>
                </a:solidFill>
              </a:rPr>
              <a:t>Besluitvorming in real-time:</a:t>
            </a:r>
            <a:r>
              <a:rPr lang="nl-BE" sz="1600" dirty="0">
                <a:solidFill>
                  <a:srgbClr val="B0C4D8"/>
                </a:solidFill>
              </a:rPr>
              <a:t> maakt slimme keuzes op basis van eerdere ervaringen.</a:t>
            </a:r>
            <a:endParaRPr kumimoji="0" sz="1600" b="0" i="0" u="none" strike="noStrike" kern="1200" cap="none" spc="0" normalizeH="0" baseline="0" noProof="0" dirty="0">
              <a:ln>
                <a:noFill/>
              </a:ln>
              <a:solidFill>
                <a:srgbClr val="B0C4D8"/>
              </a:solidFill>
              <a:effectLst/>
              <a:uLnTx/>
              <a:uFillTx/>
              <a:latin typeface="Calibri"/>
            </a:endParaRPr>
          </a:p>
        </p:txBody>
      </p:sp>
      <p:sp>
        <p:nvSpPr>
          <p:cNvPr id="41" name="Tijdelijke aanduiding voor dianummer 40">
            <a:extLst>
              <a:ext uri="{FF2B5EF4-FFF2-40B4-BE49-F238E27FC236}">
                <a16:creationId xmlns:a16="http://schemas.microsoft.com/office/drawing/2014/main" id="{359679E6-236A-3F8C-D3FB-AC020C6CDD0D}"/>
              </a:ext>
            </a:extLst>
          </p:cNvPr>
          <p:cNvSpPr>
            <a:spLocks noGrp="1"/>
          </p:cNvSpPr>
          <p:nvPr>
            <p:ph type="sldNum" sz="quarter" idx="12"/>
          </p:nvPr>
        </p:nvSpPr>
        <p:spPr>
          <a:xfrm>
            <a:off x="10055352" y="6492875"/>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0" name="TextBox 7">
            <a:extLst>
              <a:ext uri="{FF2B5EF4-FFF2-40B4-BE49-F238E27FC236}">
                <a16:creationId xmlns:a16="http://schemas.microsoft.com/office/drawing/2014/main" id="{64E37C95-8617-B388-DA68-41536A3B9C00}"/>
              </a:ext>
            </a:extLst>
          </p:cNvPr>
          <p:cNvSpPr txBox="1"/>
          <p:nvPr/>
        </p:nvSpPr>
        <p:spPr>
          <a:xfrm>
            <a:off x="386709" y="3994723"/>
            <a:ext cx="2246256"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1400" b="1" i="0" u="none" strike="noStrike" kern="1200" cap="none" spc="0" normalizeH="0" baseline="0" noProof="0" dirty="0">
                <a:ln>
                  <a:noFill/>
                </a:ln>
                <a:solidFill>
                  <a:srgbClr val="0099FF"/>
                </a:solidFill>
                <a:effectLst/>
                <a:uLnTx/>
                <a:uFillTx/>
                <a:latin typeface="Calibri"/>
                <a:ea typeface="+mn-ea"/>
                <a:cs typeface="+mn-cs"/>
              </a:rPr>
              <a:t>Belangrijkste Componenten</a:t>
            </a:r>
            <a:endParaRPr kumimoji="0" sz="1400" b="1" i="0" u="none" strike="noStrike" kern="1200" cap="none" spc="0" normalizeH="0" baseline="0" noProof="0" dirty="0">
              <a:ln>
                <a:noFill/>
              </a:ln>
              <a:solidFill>
                <a:srgbClr val="0099FF"/>
              </a:solidFill>
              <a:effectLst/>
              <a:uLnTx/>
              <a:uFillTx/>
              <a:latin typeface="Calibri"/>
              <a:ea typeface="+mn-ea"/>
              <a:cs typeface="+mn-cs"/>
            </a:endParaRPr>
          </a:p>
        </p:txBody>
      </p:sp>
      <p:sp>
        <p:nvSpPr>
          <p:cNvPr id="51" name="TextBox 8">
            <a:extLst>
              <a:ext uri="{FF2B5EF4-FFF2-40B4-BE49-F238E27FC236}">
                <a16:creationId xmlns:a16="http://schemas.microsoft.com/office/drawing/2014/main" id="{251C3909-F615-802F-9774-2DAF25AA41EC}"/>
              </a:ext>
            </a:extLst>
          </p:cNvPr>
          <p:cNvSpPr txBox="1"/>
          <p:nvPr/>
        </p:nvSpPr>
        <p:spPr>
          <a:xfrm>
            <a:off x="441007" y="3888222"/>
            <a:ext cx="5550535" cy="3002360"/>
          </a:xfrm>
          <a:prstGeom prst="rect">
            <a:avLst/>
          </a:prstGeom>
          <a:noFill/>
        </p:spPr>
        <p:txBody>
          <a:bodyPr wrap="square">
            <a:spAutoFit/>
          </a:bodyPr>
          <a:lstStyle/>
          <a:p>
            <a:pPr marL="0" marR="0" lvl="0" indent="0" algn="l" defTabSz="457200" rtl="0" eaLnBrk="1" fontAlgn="auto" latinLnBrk="0" hangingPunct="1">
              <a:lnSpc>
                <a:spcPct val="120000"/>
              </a:lnSpc>
              <a:spcBef>
                <a:spcPts val="300"/>
              </a:spcBef>
              <a:spcAft>
                <a:spcPts val="0"/>
              </a:spcAft>
              <a:buClrTx/>
              <a:buSzTx/>
              <a:buFontTx/>
              <a:buNone/>
              <a:tabLst/>
              <a:defRPr/>
            </a:pPr>
            <a:endParaRPr kumimoji="0" lang="nl-BE" sz="1600" b="1" i="0" u="none" strike="noStrike" kern="1200" cap="none" spc="0" normalizeH="0" baseline="0" noProof="0" dirty="0">
              <a:ln>
                <a:noFill/>
              </a:ln>
              <a:solidFill>
                <a:srgbClr val="B0C4D8"/>
              </a:solidFill>
              <a:effectLst/>
              <a:uLnTx/>
              <a:uFillTx/>
              <a:latin typeface="Calibri"/>
            </a:endParaRPr>
          </a:p>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kumimoji="0" lang="nl-BE" sz="1600" b="1" i="0" u="none" strike="noStrike" kern="1200" cap="none" spc="0" normalizeH="0" baseline="0" noProof="0" dirty="0">
                <a:ln>
                  <a:noFill/>
                </a:ln>
                <a:solidFill>
                  <a:srgbClr val="B0C4D8"/>
                </a:solidFill>
                <a:effectLst/>
                <a:uLnTx/>
                <a:uFillTx/>
                <a:latin typeface="Calibri"/>
              </a:rPr>
              <a:t>Agent</a:t>
            </a:r>
            <a:r>
              <a:rPr kumimoji="0" lang="nl-BE" sz="1600" b="0" i="0" u="none" strike="noStrike" kern="1200" cap="none" spc="0" normalizeH="0" baseline="0" noProof="0" dirty="0">
                <a:ln>
                  <a:noFill/>
                </a:ln>
                <a:solidFill>
                  <a:srgbClr val="B0C4D8"/>
                </a:solidFill>
                <a:effectLst/>
                <a:uLnTx/>
                <a:uFillTx/>
                <a:latin typeface="Calibri"/>
              </a:rPr>
              <a:t>: Het AI-systeem of model dat beslissingen neemt </a:t>
            </a:r>
          </a:p>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kumimoji="0" lang="nl-BE" sz="1600" b="1" i="0" u="none" strike="noStrike" kern="1200" cap="none" spc="0" normalizeH="0" baseline="0" noProof="0" dirty="0">
                <a:ln>
                  <a:noFill/>
                </a:ln>
                <a:solidFill>
                  <a:srgbClr val="B0C4D8"/>
                </a:solidFill>
                <a:effectLst/>
                <a:uLnTx/>
                <a:uFillTx/>
                <a:latin typeface="Calibri"/>
              </a:rPr>
              <a:t>Environment</a:t>
            </a:r>
            <a:r>
              <a:rPr kumimoji="0" lang="nl-BE" sz="1600" b="0" i="0" u="none" strike="noStrike" kern="1200" cap="none" spc="0" normalizeH="0" baseline="0" noProof="0" dirty="0">
                <a:ln>
                  <a:noFill/>
                </a:ln>
                <a:solidFill>
                  <a:srgbClr val="B0C4D8"/>
                </a:solidFill>
                <a:effectLst/>
                <a:uLnTx/>
                <a:uFillTx/>
                <a:latin typeface="Calibri"/>
              </a:rPr>
              <a:t>: De wereld waarin de agent zicht bevindt</a:t>
            </a:r>
          </a:p>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kumimoji="0" lang="nl-BE" sz="1600" b="1" i="0" u="none" strike="noStrike" kern="1200" cap="none" spc="0" normalizeH="0" baseline="0" noProof="0" dirty="0">
                <a:ln>
                  <a:noFill/>
                </a:ln>
                <a:solidFill>
                  <a:srgbClr val="B0C4D8"/>
                </a:solidFill>
                <a:effectLst/>
                <a:uLnTx/>
                <a:uFillTx/>
                <a:latin typeface="Calibri"/>
              </a:rPr>
              <a:t>Action</a:t>
            </a:r>
            <a:r>
              <a:rPr kumimoji="0" lang="nl-BE" sz="1600" b="0" i="0" u="none" strike="noStrike" kern="1200" cap="none" spc="0" normalizeH="0" baseline="0" noProof="0" dirty="0">
                <a:ln>
                  <a:noFill/>
                </a:ln>
                <a:solidFill>
                  <a:srgbClr val="B0C4D8"/>
                </a:solidFill>
                <a:effectLst/>
                <a:uLnTx/>
                <a:uFillTx/>
                <a:latin typeface="Calibri"/>
              </a:rPr>
              <a:t>: De keuze of stap die de agent zet </a:t>
            </a:r>
          </a:p>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kumimoji="0" lang="nl-BE" sz="1600" b="1" i="0" u="none" strike="noStrike" kern="1200" cap="none" spc="0" normalizeH="0" baseline="0" noProof="0" dirty="0">
                <a:ln>
                  <a:noFill/>
                </a:ln>
                <a:solidFill>
                  <a:srgbClr val="B0C4D8"/>
                </a:solidFill>
                <a:effectLst/>
                <a:uLnTx/>
                <a:uFillTx/>
                <a:latin typeface="Calibri"/>
              </a:rPr>
              <a:t>State</a:t>
            </a:r>
            <a:r>
              <a:rPr kumimoji="0" lang="nl-BE" sz="1600" b="0" i="0" u="none" strike="noStrike" kern="1200" cap="none" spc="0" normalizeH="0" baseline="0" noProof="0" dirty="0">
                <a:ln>
                  <a:noFill/>
                </a:ln>
                <a:solidFill>
                  <a:srgbClr val="B0C4D8"/>
                </a:solidFill>
                <a:effectLst/>
                <a:uLnTx/>
                <a:uFillTx/>
                <a:latin typeface="Calibri"/>
              </a:rPr>
              <a:t>: De situatie waarin de agent zich bevindt</a:t>
            </a:r>
          </a:p>
          <a:p>
            <a:pPr marL="285750" marR="0" lvl="0" indent="-285750" algn="l" defTabSz="457200" rtl="0" eaLnBrk="1" fontAlgn="auto" latinLnBrk="0" hangingPunct="1">
              <a:lnSpc>
                <a:spcPct val="120000"/>
              </a:lnSpc>
              <a:spcBef>
                <a:spcPts val="300"/>
              </a:spcBef>
              <a:spcAft>
                <a:spcPts val="0"/>
              </a:spcAft>
              <a:buClrTx/>
              <a:buSzTx/>
              <a:buFont typeface="Arial" panose="020B0604020202020204" pitchFamily="34" charset="0"/>
              <a:buChar char="•"/>
              <a:tabLst/>
              <a:defRPr/>
            </a:pPr>
            <a:r>
              <a:rPr kumimoji="0" lang="nl-BE" sz="1600" b="1" i="0" u="none" strike="noStrike" kern="1200" cap="none" spc="0" normalizeH="0" baseline="0" noProof="0" dirty="0" err="1">
                <a:ln>
                  <a:noFill/>
                </a:ln>
                <a:solidFill>
                  <a:srgbClr val="B0C4D8"/>
                </a:solidFill>
                <a:effectLst/>
                <a:uLnTx/>
                <a:uFillTx/>
                <a:latin typeface="Calibri"/>
              </a:rPr>
              <a:t>Reward</a:t>
            </a:r>
            <a:r>
              <a:rPr kumimoji="0" lang="nl-BE" sz="1600" b="1" i="0" u="none" strike="noStrike" kern="1200" cap="none" spc="0" normalizeH="0" baseline="0" noProof="0" dirty="0">
                <a:ln>
                  <a:noFill/>
                </a:ln>
                <a:solidFill>
                  <a:srgbClr val="B0C4D8"/>
                </a:solidFill>
                <a:effectLst/>
                <a:uLnTx/>
                <a:uFillTx/>
                <a:latin typeface="Calibri"/>
              </a:rPr>
              <a:t>: </a:t>
            </a:r>
            <a:r>
              <a:rPr kumimoji="0" lang="nl-BE" sz="1600" i="0" u="none" strike="noStrike" kern="1200" cap="none" spc="0" normalizeH="0" baseline="0" noProof="0" dirty="0">
                <a:ln>
                  <a:noFill/>
                </a:ln>
                <a:solidFill>
                  <a:srgbClr val="B0C4D8"/>
                </a:solidFill>
                <a:effectLst/>
                <a:uLnTx/>
                <a:uFillTx/>
                <a:latin typeface="Calibri"/>
              </a:rPr>
              <a:t>feedback of score na een actie</a:t>
            </a:r>
          </a:p>
          <a:p>
            <a:pPr marL="285750" indent="-285750">
              <a:lnSpc>
                <a:spcPct val="120000"/>
              </a:lnSpc>
              <a:spcBef>
                <a:spcPts val="300"/>
              </a:spcBef>
              <a:buFont typeface="Arial" panose="020B0604020202020204" pitchFamily="34" charset="0"/>
              <a:buChar char="•"/>
            </a:pPr>
            <a:r>
              <a:rPr lang="nl-BE" sz="1600" b="1" dirty="0">
                <a:solidFill>
                  <a:srgbClr val="B0C4D8"/>
                </a:solidFill>
              </a:rPr>
              <a:t>Neuraal netwerk: </a:t>
            </a:r>
            <a:r>
              <a:rPr lang="nl-BE" sz="1600" dirty="0">
                <a:solidFill>
                  <a:srgbClr val="B0C4D8"/>
                </a:solidFill>
              </a:rPr>
              <a:t>helpt de beste strategie te leren bij complexe taken</a:t>
            </a:r>
            <a:endParaRPr kumimoji="0" lang="nl-BE" sz="1600" i="0" u="none" strike="noStrike" kern="1200" cap="none" spc="0" normalizeH="0" baseline="0" noProof="0" dirty="0">
              <a:ln>
                <a:noFill/>
              </a:ln>
              <a:solidFill>
                <a:srgbClr val="B0C4D8"/>
              </a:solidFill>
              <a:effectLst/>
              <a:uLnTx/>
              <a:uFillTx/>
              <a:latin typeface="Calibri"/>
            </a:endParaRPr>
          </a:p>
          <a:p>
            <a:pPr marL="0" marR="0" lvl="0" indent="0" algn="l" defTabSz="457200" rtl="0" eaLnBrk="1" fontAlgn="auto" latinLnBrk="0" hangingPunct="1">
              <a:lnSpc>
                <a:spcPct val="100000"/>
              </a:lnSpc>
              <a:spcBef>
                <a:spcPts val="300"/>
              </a:spcBef>
              <a:spcAft>
                <a:spcPts val="0"/>
              </a:spcAft>
              <a:buClrTx/>
              <a:buSzTx/>
              <a:buFontTx/>
              <a:buNone/>
              <a:tabLst/>
              <a:defRPr/>
            </a:pPr>
            <a:endParaRPr kumimoji="0" sz="1800" b="0" i="0" u="none" strike="noStrike" kern="1200" cap="none" spc="0" normalizeH="0" baseline="0" noProof="0" dirty="0">
              <a:ln>
                <a:noFill/>
              </a:ln>
              <a:solidFill>
                <a:srgbClr val="B0C4D8"/>
              </a:solidFill>
              <a:effectLst/>
              <a:uLnTx/>
              <a:uFillTx/>
              <a:latin typeface="Calibri"/>
              <a:ea typeface="+mn-ea"/>
              <a:cs typeface="+mn-cs"/>
            </a:endParaRPr>
          </a:p>
        </p:txBody>
      </p:sp>
      <p:pic>
        <p:nvPicPr>
          <p:cNvPr id="10" name="Afbeelding 9">
            <a:extLst>
              <a:ext uri="{FF2B5EF4-FFF2-40B4-BE49-F238E27FC236}">
                <a16:creationId xmlns:a16="http://schemas.microsoft.com/office/drawing/2014/main" id="{16FB1917-DE6E-17C0-BC81-5D5BFFCDB841}"/>
              </a:ext>
            </a:extLst>
          </p:cNvPr>
          <p:cNvPicPr>
            <a:picLocks noChangeAspect="1"/>
          </p:cNvPicPr>
          <p:nvPr/>
        </p:nvPicPr>
        <p:blipFill>
          <a:blip r:embed="rId2"/>
          <a:stretch>
            <a:fillRect/>
          </a:stretch>
        </p:blipFill>
        <p:spPr>
          <a:xfrm>
            <a:off x="6045840" y="1188720"/>
            <a:ext cx="6008999" cy="5349240"/>
          </a:xfrm>
          <a:prstGeom prst="rect">
            <a:avLst/>
          </a:prstGeom>
        </p:spPr>
      </p:pic>
    </p:spTree>
    <p:extLst>
      <p:ext uri="{BB962C8B-B14F-4D97-AF65-F5344CB8AC3E}">
        <p14:creationId xmlns:p14="http://schemas.microsoft.com/office/powerpoint/2010/main" val="372272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50" grpId="0"/>
      <p:bldP spid="51"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C5771955-2F45-DD2C-D270-B138509B27E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2242683-DB67-6485-1509-ACBCC4F991F8}"/>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9BD5A79D-363B-D5D1-F714-E14FADC7F847}"/>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766DA187-6EB8-F580-30F5-D664E1881C8B}"/>
              </a:ext>
            </a:extLst>
          </p:cNvPr>
          <p:cNvSpPr txBox="1"/>
          <p:nvPr/>
        </p:nvSpPr>
        <p:spPr>
          <a:xfrm>
            <a:off x="1371600" y="1645920"/>
            <a:ext cx="9144000" cy="230832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l-BE" sz="7200" b="1" dirty="0">
                <a:solidFill>
                  <a:srgbClr val="0099FF"/>
                </a:solidFill>
                <a:latin typeface="Calibri"/>
              </a:rPr>
              <a:t>Oplossing</a:t>
            </a: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04457C5-74BE-3681-E690-C8A800F38428}"/>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226D41C3-692F-0542-7A8B-286D8E8FFE5A}"/>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7109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B958A8EA-7BBA-F2B1-043A-52F880C1C0E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47D47FD-1D59-4223-5F01-74BC64B57462}"/>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CBEDF504-25FC-A37A-2CE8-45B2CD5A3E99}"/>
              </a:ext>
            </a:extLst>
          </p:cNvPr>
          <p:cNvSpPr/>
          <p:nvPr/>
        </p:nvSpPr>
        <p:spPr>
          <a:xfrm>
            <a:off x="0" y="0"/>
            <a:ext cx="73152" cy="1005840"/>
          </a:xfrm>
          <a:prstGeom prst="rect">
            <a:avLst/>
          </a:prstGeom>
          <a:solidFill>
            <a:srgbClr val="B0C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C8A3D976-3840-038F-F33D-4A0213BE2257}"/>
              </a:ext>
            </a:extLst>
          </p:cNvPr>
          <p:cNvSpPr txBox="1"/>
          <p:nvPr/>
        </p:nvSpPr>
        <p:spPr>
          <a:xfrm>
            <a:off x="201168" y="73152"/>
            <a:ext cx="1744388"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l-BE" sz="3000" b="1" dirty="0">
                <a:solidFill>
                  <a:srgbClr val="FFFFFF"/>
                </a:solidFill>
                <a:latin typeface="Calibri"/>
              </a:rPr>
              <a:t>O</a:t>
            </a:r>
            <a:r>
              <a:rPr kumimoji="0" lang="nl-BE" sz="3000" b="1" i="0" u="none" strike="noStrike" kern="1200" cap="none" spc="0" normalizeH="0" baseline="0" noProof="0" dirty="0" err="1">
                <a:ln>
                  <a:noFill/>
                </a:ln>
                <a:solidFill>
                  <a:srgbClr val="FFFFFF"/>
                </a:solidFill>
                <a:effectLst/>
                <a:uLnTx/>
                <a:uFillTx/>
                <a:latin typeface="Calibri"/>
                <a:ea typeface="+mn-ea"/>
                <a:cs typeface="+mn-cs"/>
              </a:rPr>
              <a:t>plossing</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4B287601-2DB6-6AC6-64CB-E9C5AC878E25}"/>
              </a:ext>
            </a:extLst>
          </p:cNvPr>
          <p:cNvSpPr/>
          <p:nvPr/>
        </p:nvSpPr>
        <p:spPr>
          <a:xfrm>
            <a:off x="274320" y="1188720"/>
            <a:ext cx="5577840" cy="534924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D77FD6F4-48AF-968E-64A4-58F3779893ED}"/>
              </a:ext>
            </a:extLst>
          </p:cNvPr>
          <p:cNvSpPr/>
          <p:nvPr/>
        </p:nvSpPr>
        <p:spPr>
          <a:xfrm>
            <a:off x="274320" y="1188720"/>
            <a:ext cx="5577840" cy="36576"/>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C05B2886-C76A-F5E9-EBAF-E855963B3536}"/>
              </a:ext>
            </a:extLst>
          </p:cNvPr>
          <p:cNvSpPr txBox="1"/>
          <p:nvPr/>
        </p:nvSpPr>
        <p:spPr>
          <a:xfrm>
            <a:off x="411480" y="1261872"/>
            <a:ext cx="1948482"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1400" b="1" i="0" u="none" strike="noStrike" kern="1200" cap="none" spc="0" normalizeH="0" baseline="0" noProof="0" dirty="0">
                <a:ln>
                  <a:noFill/>
                </a:ln>
                <a:solidFill>
                  <a:srgbClr val="0099FF"/>
                </a:solidFill>
                <a:effectLst/>
                <a:uLnTx/>
                <a:uFillTx/>
                <a:latin typeface="Calibri"/>
                <a:ea typeface="+mn-ea"/>
                <a:cs typeface="+mn-cs"/>
              </a:rPr>
              <a:t>DQN</a:t>
            </a:r>
            <a:r>
              <a:rPr kumimoji="0" lang="nl-BE" sz="1400" b="1" i="0" u="none" strike="noStrike" kern="1200" cap="none" spc="0" normalizeH="0" noProof="0" dirty="0">
                <a:ln>
                  <a:noFill/>
                </a:ln>
                <a:solidFill>
                  <a:srgbClr val="0099FF"/>
                </a:solidFill>
                <a:effectLst/>
                <a:uLnTx/>
                <a:uFillTx/>
                <a:latin typeface="Calibri"/>
                <a:ea typeface="+mn-ea"/>
                <a:cs typeface="+mn-cs"/>
              </a:rPr>
              <a:t> (</a:t>
            </a:r>
            <a:r>
              <a:rPr kumimoji="0" lang="nl-BE" sz="1400" b="1" i="0" u="none" strike="noStrike" kern="1200" cap="none" spc="0" normalizeH="0" noProof="0" dirty="0" err="1">
                <a:ln>
                  <a:noFill/>
                </a:ln>
                <a:solidFill>
                  <a:srgbClr val="0099FF"/>
                </a:solidFill>
                <a:effectLst/>
                <a:uLnTx/>
                <a:uFillTx/>
                <a:latin typeface="Calibri"/>
                <a:ea typeface="+mn-ea"/>
                <a:cs typeface="+mn-cs"/>
              </a:rPr>
              <a:t>Deep</a:t>
            </a:r>
            <a:r>
              <a:rPr kumimoji="0" lang="nl-BE" sz="1400" b="1" i="0" u="none" strike="noStrike" kern="1200" cap="none" spc="0" normalizeH="0" noProof="0" dirty="0">
                <a:ln>
                  <a:noFill/>
                </a:ln>
                <a:solidFill>
                  <a:srgbClr val="0099FF"/>
                </a:solidFill>
                <a:effectLst/>
                <a:uLnTx/>
                <a:uFillTx/>
                <a:latin typeface="Calibri"/>
                <a:ea typeface="+mn-ea"/>
                <a:cs typeface="+mn-cs"/>
              </a:rPr>
              <a:t> Q-Network)</a:t>
            </a:r>
            <a:endParaRPr kumimoji="0" sz="1400" b="1" i="0" u="none" strike="noStrike" kern="1200" cap="none" spc="0" normalizeH="0" baseline="0" noProof="0" dirty="0">
              <a:ln>
                <a:noFill/>
              </a:ln>
              <a:solidFill>
                <a:srgbClr val="0099FF"/>
              </a:solidFill>
              <a:effectLst/>
              <a:uLnTx/>
              <a:uFillTx/>
              <a:latin typeface="Calibri"/>
              <a:ea typeface="+mn-ea"/>
              <a:cs typeface="+mn-cs"/>
            </a:endParaRPr>
          </a:p>
        </p:txBody>
      </p:sp>
      <p:sp>
        <p:nvSpPr>
          <p:cNvPr id="9" name="TextBox 8">
            <a:extLst>
              <a:ext uri="{FF2B5EF4-FFF2-40B4-BE49-F238E27FC236}">
                <a16:creationId xmlns:a16="http://schemas.microsoft.com/office/drawing/2014/main" id="{19ED423F-E233-DFE4-32F6-3000124850A6}"/>
              </a:ext>
            </a:extLst>
          </p:cNvPr>
          <p:cNvSpPr txBox="1"/>
          <p:nvPr/>
        </p:nvSpPr>
        <p:spPr>
          <a:xfrm>
            <a:off x="464826" y="1506324"/>
            <a:ext cx="5550535" cy="1515158"/>
          </a:xfrm>
          <a:prstGeom prst="rect">
            <a:avLst/>
          </a:prstGeom>
          <a:noFill/>
        </p:spPr>
        <p:txBody>
          <a:bodyPr wrap="square">
            <a:spAutoFit/>
          </a:bodyPr>
          <a:lstStyle/>
          <a:p>
            <a:pPr marL="285750" lvl="0" indent="-285750">
              <a:lnSpc>
                <a:spcPct val="120000"/>
              </a:lnSpc>
              <a:spcBef>
                <a:spcPts val="300"/>
              </a:spcBef>
              <a:buFont typeface="Arial" panose="020B0604020202020204" pitchFamily="34" charset="0"/>
              <a:buChar char="•"/>
            </a:pPr>
            <a:r>
              <a:rPr lang="nl-BE" dirty="0">
                <a:solidFill>
                  <a:srgbClr val="B0C4D8"/>
                </a:solidFill>
              </a:rPr>
              <a:t>Combineert Q-Learning met </a:t>
            </a:r>
            <a:r>
              <a:rPr lang="nl-BE" dirty="0" err="1">
                <a:solidFill>
                  <a:srgbClr val="B0C4D8"/>
                </a:solidFill>
              </a:rPr>
              <a:t>Deep</a:t>
            </a:r>
            <a:r>
              <a:rPr lang="nl-BE" dirty="0">
                <a:solidFill>
                  <a:srgbClr val="B0C4D8"/>
                </a:solidFill>
              </a:rPr>
              <a:t> Learning </a:t>
            </a:r>
          </a:p>
          <a:p>
            <a:pPr marL="285750" lvl="0" indent="-285750">
              <a:lnSpc>
                <a:spcPct val="120000"/>
              </a:lnSpc>
              <a:spcBef>
                <a:spcPts val="300"/>
              </a:spcBef>
              <a:buFont typeface="Arial" panose="020B0604020202020204" pitchFamily="34" charset="0"/>
              <a:buChar char="•"/>
            </a:pPr>
            <a:r>
              <a:rPr lang="nl-BE" dirty="0">
                <a:solidFill>
                  <a:srgbClr val="B0C4D8"/>
                </a:solidFill>
              </a:rPr>
              <a:t>Leert welke actie de hoogste beloning geeft </a:t>
            </a:r>
          </a:p>
          <a:p>
            <a:pPr marL="285750" lvl="0" indent="-285750">
              <a:lnSpc>
                <a:spcPct val="120000"/>
              </a:lnSpc>
              <a:spcBef>
                <a:spcPts val="300"/>
              </a:spcBef>
              <a:buFont typeface="Arial" panose="020B0604020202020204" pitchFamily="34" charset="0"/>
              <a:buChar char="•"/>
            </a:pPr>
            <a:r>
              <a:rPr lang="nl-BE" dirty="0">
                <a:solidFill>
                  <a:srgbClr val="B0C4D8"/>
                </a:solidFill>
              </a:rPr>
              <a:t>Geschikt voor complexe omgevingen </a:t>
            </a:r>
          </a:p>
          <a:p>
            <a:pPr marL="285750" lvl="0" indent="-285750">
              <a:lnSpc>
                <a:spcPct val="120000"/>
              </a:lnSpc>
              <a:spcBef>
                <a:spcPts val="300"/>
              </a:spcBef>
              <a:buFont typeface="Arial" panose="020B0604020202020204" pitchFamily="34" charset="0"/>
              <a:buChar char="•"/>
            </a:pPr>
            <a:r>
              <a:rPr lang="nl-BE" dirty="0">
                <a:solidFill>
                  <a:srgbClr val="B0C4D8"/>
                </a:solidFill>
              </a:rPr>
              <a:t>Gebruikt </a:t>
            </a:r>
            <a:r>
              <a:rPr lang="nl-BE" dirty="0" err="1">
                <a:solidFill>
                  <a:srgbClr val="B0C4D8"/>
                </a:solidFill>
              </a:rPr>
              <a:t>Experience</a:t>
            </a:r>
            <a:r>
              <a:rPr lang="nl-BE" dirty="0">
                <a:solidFill>
                  <a:srgbClr val="B0C4D8"/>
                </a:solidFill>
              </a:rPr>
              <a:t> Replay voor stabieler leren</a:t>
            </a:r>
            <a:endParaRPr kumimoji="0" i="0" u="none" strike="noStrike" kern="1200" cap="none" spc="0" normalizeH="0" baseline="0" noProof="0" dirty="0">
              <a:ln>
                <a:noFill/>
              </a:ln>
              <a:solidFill>
                <a:srgbClr val="B0C4D8"/>
              </a:solidFill>
              <a:effectLst/>
              <a:uLnTx/>
              <a:uFillTx/>
              <a:latin typeface="Calibri"/>
            </a:endParaRPr>
          </a:p>
        </p:txBody>
      </p:sp>
      <p:sp>
        <p:nvSpPr>
          <p:cNvPr id="41" name="Tijdelijke aanduiding voor dianummer 40">
            <a:extLst>
              <a:ext uri="{FF2B5EF4-FFF2-40B4-BE49-F238E27FC236}">
                <a16:creationId xmlns:a16="http://schemas.microsoft.com/office/drawing/2014/main" id="{724FA7E7-9E82-35E6-14A9-8E83D81F586A}"/>
              </a:ext>
            </a:extLst>
          </p:cNvPr>
          <p:cNvSpPr>
            <a:spLocks noGrp="1"/>
          </p:cNvSpPr>
          <p:nvPr>
            <p:ph type="sldNum" sz="quarter" idx="12"/>
          </p:nvPr>
        </p:nvSpPr>
        <p:spPr>
          <a:xfrm>
            <a:off x="10055352" y="6492875"/>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0" name="TextBox 7">
            <a:extLst>
              <a:ext uri="{FF2B5EF4-FFF2-40B4-BE49-F238E27FC236}">
                <a16:creationId xmlns:a16="http://schemas.microsoft.com/office/drawing/2014/main" id="{72E5339B-79B1-5E99-9766-425CB1ED7674}"/>
              </a:ext>
            </a:extLst>
          </p:cNvPr>
          <p:cNvSpPr txBox="1"/>
          <p:nvPr/>
        </p:nvSpPr>
        <p:spPr>
          <a:xfrm>
            <a:off x="386709" y="3994723"/>
            <a:ext cx="2246256"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1400" b="1" i="0" u="none" strike="noStrike" kern="1200" cap="none" spc="0" normalizeH="0" baseline="0" noProof="0" dirty="0">
                <a:ln>
                  <a:noFill/>
                </a:ln>
                <a:solidFill>
                  <a:srgbClr val="0099FF"/>
                </a:solidFill>
                <a:effectLst/>
                <a:uLnTx/>
                <a:uFillTx/>
                <a:latin typeface="Calibri"/>
                <a:ea typeface="+mn-ea"/>
                <a:cs typeface="+mn-cs"/>
              </a:rPr>
              <a:t>Belangrijkste Componenten</a:t>
            </a:r>
            <a:endParaRPr kumimoji="0" sz="1400" b="1" i="0" u="none" strike="noStrike" kern="1200" cap="none" spc="0" normalizeH="0" baseline="0" noProof="0" dirty="0">
              <a:ln>
                <a:noFill/>
              </a:ln>
              <a:solidFill>
                <a:srgbClr val="0099FF"/>
              </a:solidFill>
              <a:effectLst/>
              <a:uLnTx/>
              <a:uFillTx/>
              <a:latin typeface="Calibri"/>
              <a:ea typeface="+mn-ea"/>
              <a:cs typeface="+mn-cs"/>
            </a:endParaRPr>
          </a:p>
        </p:txBody>
      </p:sp>
      <p:sp>
        <p:nvSpPr>
          <p:cNvPr id="51" name="TextBox 8">
            <a:extLst>
              <a:ext uri="{FF2B5EF4-FFF2-40B4-BE49-F238E27FC236}">
                <a16:creationId xmlns:a16="http://schemas.microsoft.com/office/drawing/2014/main" id="{771309DD-044E-5472-F5DD-A34206DAECC1}"/>
              </a:ext>
            </a:extLst>
          </p:cNvPr>
          <p:cNvSpPr txBox="1"/>
          <p:nvPr/>
        </p:nvSpPr>
        <p:spPr>
          <a:xfrm>
            <a:off x="464825" y="4302500"/>
            <a:ext cx="5550535" cy="1886029"/>
          </a:xfrm>
          <a:prstGeom prst="rect">
            <a:avLst/>
          </a:prstGeom>
          <a:noFill/>
        </p:spPr>
        <p:txBody>
          <a:bodyPr wrap="square">
            <a:spAutoFit/>
          </a:bodyPr>
          <a:lstStyle/>
          <a:p>
            <a:pPr marL="285750" lvl="0" indent="-285750">
              <a:lnSpc>
                <a:spcPct val="120000"/>
              </a:lnSpc>
              <a:spcBef>
                <a:spcPts val="300"/>
              </a:spcBef>
              <a:buFont typeface="Arial" panose="020B0604020202020204" pitchFamily="34" charset="0"/>
              <a:buChar char="•"/>
            </a:pPr>
            <a:r>
              <a:rPr lang="nl-BE" b="1" dirty="0">
                <a:solidFill>
                  <a:srgbClr val="B0C4D8"/>
                </a:solidFill>
              </a:rPr>
              <a:t>State:</a:t>
            </a:r>
            <a:r>
              <a:rPr lang="nl-BE" dirty="0">
                <a:solidFill>
                  <a:srgbClr val="B0C4D8"/>
                </a:solidFill>
              </a:rPr>
              <a:t> huidige situatie van de agent </a:t>
            </a:r>
          </a:p>
          <a:p>
            <a:pPr marL="285750" lvl="0" indent="-285750">
              <a:lnSpc>
                <a:spcPct val="120000"/>
              </a:lnSpc>
              <a:spcBef>
                <a:spcPts val="300"/>
              </a:spcBef>
              <a:buFont typeface="Arial" panose="020B0604020202020204" pitchFamily="34" charset="0"/>
              <a:buChar char="•"/>
            </a:pPr>
            <a:r>
              <a:rPr lang="nl-BE" b="1" dirty="0">
                <a:solidFill>
                  <a:srgbClr val="B0C4D8"/>
                </a:solidFill>
              </a:rPr>
              <a:t>Action:</a:t>
            </a:r>
            <a:r>
              <a:rPr lang="nl-BE" dirty="0">
                <a:solidFill>
                  <a:srgbClr val="B0C4D8"/>
                </a:solidFill>
              </a:rPr>
              <a:t> actie die de agent uitvoert </a:t>
            </a:r>
          </a:p>
          <a:p>
            <a:pPr marL="285750" lvl="0" indent="-285750">
              <a:lnSpc>
                <a:spcPct val="120000"/>
              </a:lnSpc>
              <a:spcBef>
                <a:spcPts val="300"/>
              </a:spcBef>
              <a:buFont typeface="Arial" panose="020B0604020202020204" pitchFamily="34" charset="0"/>
              <a:buChar char="•"/>
            </a:pPr>
            <a:r>
              <a:rPr lang="nl-BE" b="1" dirty="0">
                <a:solidFill>
                  <a:srgbClr val="B0C4D8"/>
                </a:solidFill>
              </a:rPr>
              <a:t>Q-Value:</a:t>
            </a:r>
            <a:r>
              <a:rPr lang="nl-BE" dirty="0">
                <a:solidFill>
                  <a:srgbClr val="B0C4D8"/>
                </a:solidFill>
              </a:rPr>
              <a:t> verwachte toekomstige beloning </a:t>
            </a:r>
          </a:p>
          <a:p>
            <a:pPr marL="285750" lvl="0" indent="-285750">
              <a:lnSpc>
                <a:spcPct val="120000"/>
              </a:lnSpc>
              <a:spcBef>
                <a:spcPts val="300"/>
              </a:spcBef>
              <a:buFont typeface="Arial" panose="020B0604020202020204" pitchFamily="34" charset="0"/>
              <a:buChar char="•"/>
            </a:pPr>
            <a:r>
              <a:rPr lang="nl-BE" b="1" dirty="0" err="1">
                <a:solidFill>
                  <a:srgbClr val="B0C4D8"/>
                </a:solidFill>
              </a:rPr>
              <a:t>Reward</a:t>
            </a:r>
            <a:r>
              <a:rPr lang="nl-BE" b="1" dirty="0">
                <a:solidFill>
                  <a:srgbClr val="B0C4D8"/>
                </a:solidFill>
              </a:rPr>
              <a:t>:</a:t>
            </a:r>
            <a:r>
              <a:rPr lang="nl-BE" dirty="0">
                <a:solidFill>
                  <a:srgbClr val="B0C4D8"/>
                </a:solidFill>
              </a:rPr>
              <a:t> feedback na een actie </a:t>
            </a:r>
          </a:p>
          <a:p>
            <a:pPr marL="285750" lvl="0" indent="-285750">
              <a:lnSpc>
                <a:spcPct val="120000"/>
              </a:lnSpc>
              <a:spcBef>
                <a:spcPts val="300"/>
              </a:spcBef>
              <a:buFont typeface="Arial" panose="020B0604020202020204" pitchFamily="34" charset="0"/>
              <a:buChar char="•"/>
            </a:pPr>
            <a:r>
              <a:rPr lang="nl-BE" b="1" dirty="0">
                <a:solidFill>
                  <a:srgbClr val="B0C4D8"/>
                </a:solidFill>
              </a:rPr>
              <a:t>Neuraal netwerk:</a:t>
            </a:r>
            <a:r>
              <a:rPr lang="nl-BE" dirty="0">
                <a:solidFill>
                  <a:srgbClr val="B0C4D8"/>
                </a:solidFill>
              </a:rPr>
              <a:t> voorspelt de beste actie</a:t>
            </a:r>
            <a:endParaRPr kumimoji="0" sz="1800" b="0" i="0" u="none" strike="noStrike" kern="1200" cap="none" spc="0" normalizeH="0" baseline="0" noProof="0" dirty="0">
              <a:ln>
                <a:noFill/>
              </a:ln>
              <a:solidFill>
                <a:srgbClr val="B0C4D8"/>
              </a:solidFill>
              <a:effectLst/>
              <a:uLnTx/>
              <a:uFillTx/>
              <a:latin typeface="Calibri"/>
            </a:endParaRPr>
          </a:p>
        </p:txBody>
      </p:sp>
      <p:pic>
        <p:nvPicPr>
          <p:cNvPr id="14" name="Afbeelding 13">
            <a:extLst>
              <a:ext uri="{FF2B5EF4-FFF2-40B4-BE49-F238E27FC236}">
                <a16:creationId xmlns:a16="http://schemas.microsoft.com/office/drawing/2014/main" id="{378078DE-8638-55A9-200D-F9E74B46BEEF}"/>
              </a:ext>
            </a:extLst>
          </p:cNvPr>
          <p:cNvPicPr>
            <a:picLocks noChangeAspect="1"/>
          </p:cNvPicPr>
          <p:nvPr/>
        </p:nvPicPr>
        <p:blipFill>
          <a:blip r:embed="rId2"/>
          <a:stretch>
            <a:fillRect/>
          </a:stretch>
        </p:blipFill>
        <p:spPr>
          <a:xfrm>
            <a:off x="5964549" y="1188720"/>
            <a:ext cx="5949956" cy="53492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485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50" grpId="0"/>
      <p:bldP spid="51"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71F02D01-3AE3-A89A-ADE2-DB28B17560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BD098F-8802-758A-6B79-F103B3897A91}"/>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DD814BA7-E519-6971-A057-9BE7EC1688E9}"/>
              </a:ext>
            </a:extLst>
          </p:cNvPr>
          <p:cNvSpPr/>
          <p:nvPr/>
        </p:nvSpPr>
        <p:spPr>
          <a:xfrm>
            <a:off x="0" y="0"/>
            <a:ext cx="73152" cy="1005840"/>
          </a:xfrm>
          <a:prstGeom prst="rect">
            <a:avLst/>
          </a:prstGeom>
          <a:solidFill>
            <a:srgbClr val="B0C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FF36320F-682A-4372-C9F8-69A472FF684E}"/>
              </a:ext>
            </a:extLst>
          </p:cNvPr>
          <p:cNvSpPr txBox="1"/>
          <p:nvPr/>
        </p:nvSpPr>
        <p:spPr>
          <a:xfrm>
            <a:off x="201168" y="73152"/>
            <a:ext cx="1744388"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3000" b="1" i="0" u="none" strike="noStrike" kern="1200" cap="none" spc="0" normalizeH="0" baseline="0" noProof="0" dirty="0">
                <a:ln>
                  <a:noFill/>
                </a:ln>
                <a:solidFill>
                  <a:srgbClr val="FFFFFF"/>
                </a:solidFill>
                <a:effectLst/>
                <a:uLnTx/>
                <a:uFillTx/>
                <a:latin typeface="Calibri"/>
                <a:ea typeface="+mn-ea"/>
                <a:cs typeface="+mn-cs"/>
              </a:rPr>
              <a:t>O</a:t>
            </a:r>
            <a:r>
              <a:rPr kumimoji="0" lang="nl-BE" sz="3000" b="1" i="0" u="none" strike="noStrike" kern="1200" cap="none" spc="0" normalizeH="0" baseline="0" noProof="0" dirty="0" err="1">
                <a:ln>
                  <a:noFill/>
                </a:ln>
                <a:solidFill>
                  <a:srgbClr val="FFFFFF"/>
                </a:solidFill>
                <a:effectLst/>
                <a:uLnTx/>
                <a:uFillTx/>
                <a:latin typeface="Calibri"/>
                <a:ea typeface="+mn-ea"/>
                <a:cs typeface="+mn-cs"/>
              </a:rPr>
              <a:t>plossing</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54ECF715-CA82-5E86-6F31-09349ED7C0CB}"/>
              </a:ext>
            </a:extLst>
          </p:cNvPr>
          <p:cNvSpPr/>
          <p:nvPr/>
        </p:nvSpPr>
        <p:spPr>
          <a:xfrm>
            <a:off x="274320" y="1188720"/>
            <a:ext cx="5577840" cy="534924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B7E532E9-44E5-8D89-73EE-DC4A8EFACBC5}"/>
              </a:ext>
            </a:extLst>
          </p:cNvPr>
          <p:cNvSpPr/>
          <p:nvPr/>
        </p:nvSpPr>
        <p:spPr>
          <a:xfrm>
            <a:off x="274320" y="1188720"/>
            <a:ext cx="5577840" cy="36576"/>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E500BC38-2C70-6657-EE13-C27961909CE2}"/>
              </a:ext>
            </a:extLst>
          </p:cNvPr>
          <p:cNvSpPr txBox="1"/>
          <p:nvPr/>
        </p:nvSpPr>
        <p:spPr>
          <a:xfrm>
            <a:off x="411480" y="1261872"/>
            <a:ext cx="3227678"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1400" b="1" i="0" u="none" strike="noStrike" kern="1200" cap="none" spc="0" normalizeH="0" baseline="0" noProof="0" dirty="0">
                <a:ln>
                  <a:noFill/>
                </a:ln>
                <a:solidFill>
                  <a:srgbClr val="0099FF"/>
                </a:solidFill>
                <a:effectLst/>
                <a:uLnTx/>
                <a:uFillTx/>
                <a:latin typeface="Calibri"/>
                <a:ea typeface="+mn-ea"/>
                <a:cs typeface="+mn-cs"/>
              </a:rPr>
              <a:t>D3QN (</a:t>
            </a:r>
            <a:r>
              <a:rPr kumimoji="0" lang="nl-BE" sz="1400" b="1" i="0" u="none" strike="noStrike" kern="1200" cap="none" spc="0" normalizeH="0" baseline="0" noProof="0" dirty="0" err="1">
                <a:ln>
                  <a:noFill/>
                </a:ln>
                <a:solidFill>
                  <a:srgbClr val="0099FF"/>
                </a:solidFill>
                <a:effectLst/>
                <a:uLnTx/>
                <a:uFillTx/>
                <a:latin typeface="Calibri"/>
                <a:ea typeface="+mn-ea"/>
                <a:cs typeface="+mn-cs"/>
              </a:rPr>
              <a:t>Dueling</a:t>
            </a:r>
            <a:r>
              <a:rPr kumimoji="0" lang="nl-BE" sz="1400" b="1" i="0" u="none" strike="noStrike" kern="1200" cap="none" spc="0" normalizeH="0" noProof="0" dirty="0">
                <a:ln>
                  <a:noFill/>
                </a:ln>
                <a:solidFill>
                  <a:srgbClr val="0099FF"/>
                </a:solidFill>
                <a:effectLst/>
                <a:uLnTx/>
                <a:uFillTx/>
                <a:latin typeface="Calibri"/>
                <a:ea typeface="+mn-ea"/>
                <a:cs typeface="+mn-cs"/>
              </a:rPr>
              <a:t> Double </a:t>
            </a:r>
            <a:r>
              <a:rPr lang="nl-BE" sz="1400" b="1" dirty="0" err="1">
                <a:solidFill>
                  <a:srgbClr val="0099FF"/>
                </a:solidFill>
                <a:latin typeface="Calibri"/>
              </a:rPr>
              <a:t>Deep</a:t>
            </a:r>
            <a:r>
              <a:rPr lang="nl-BE" sz="1400" b="1" dirty="0">
                <a:solidFill>
                  <a:srgbClr val="0099FF"/>
                </a:solidFill>
                <a:latin typeface="Calibri"/>
              </a:rPr>
              <a:t> </a:t>
            </a:r>
            <a:r>
              <a:rPr kumimoji="0" lang="nl-BE" sz="1400" b="1" i="0" u="none" strike="noStrike" kern="1200" cap="none" spc="0" normalizeH="0" baseline="0" noProof="0" dirty="0">
                <a:ln>
                  <a:noFill/>
                </a:ln>
                <a:solidFill>
                  <a:srgbClr val="0099FF"/>
                </a:solidFill>
                <a:effectLst/>
                <a:uLnTx/>
                <a:uFillTx/>
                <a:latin typeface="Calibri"/>
                <a:ea typeface="+mn-ea"/>
                <a:cs typeface="+mn-cs"/>
              </a:rPr>
              <a:t>Q-Network)</a:t>
            </a:r>
            <a:endParaRPr kumimoji="0" sz="1400" b="1" i="0" u="none" strike="noStrike" kern="1200" cap="none" spc="0" normalizeH="0" baseline="0" noProof="0" dirty="0">
              <a:ln>
                <a:noFill/>
              </a:ln>
              <a:solidFill>
                <a:srgbClr val="0099FF"/>
              </a:solidFill>
              <a:effectLst/>
              <a:uLnTx/>
              <a:uFillTx/>
              <a:latin typeface="Calibri"/>
              <a:ea typeface="+mn-ea"/>
              <a:cs typeface="+mn-cs"/>
            </a:endParaRPr>
          </a:p>
        </p:txBody>
      </p:sp>
      <p:sp>
        <p:nvSpPr>
          <p:cNvPr id="9" name="TextBox 8">
            <a:extLst>
              <a:ext uri="{FF2B5EF4-FFF2-40B4-BE49-F238E27FC236}">
                <a16:creationId xmlns:a16="http://schemas.microsoft.com/office/drawing/2014/main" id="{DD999C29-BFA9-3305-F97C-3B0F5DF03CB8}"/>
              </a:ext>
            </a:extLst>
          </p:cNvPr>
          <p:cNvSpPr txBox="1"/>
          <p:nvPr/>
        </p:nvSpPr>
        <p:spPr>
          <a:xfrm>
            <a:off x="464826" y="1506324"/>
            <a:ext cx="5550535" cy="1515158"/>
          </a:xfrm>
          <a:prstGeom prst="rect">
            <a:avLst/>
          </a:prstGeom>
          <a:noFill/>
        </p:spPr>
        <p:txBody>
          <a:bodyPr wrap="square">
            <a:spAutoFit/>
          </a:bodyPr>
          <a:lstStyle/>
          <a:p>
            <a:pPr marL="285750" lvl="0" indent="-285750">
              <a:lnSpc>
                <a:spcPct val="120000"/>
              </a:lnSpc>
              <a:spcBef>
                <a:spcPts val="300"/>
              </a:spcBef>
              <a:buFont typeface="Arial" panose="020B0604020202020204" pitchFamily="34" charset="0"/>
              <a:buChar char="•"/>
            </a:pPr>
            <a:r>
              <a:rPr lang="nl-BE" dirty="0">
                <a:solidFill>
                  <a:srgbClr val="B0C4D8"/>
                </a:solidFill>
              </a:rPr>
              <a:t>Verbeterde versie van DQN </a:t>
            </a:r>
          </a:p>
          <a:p>
            <a:pPr marL="285750" lvl="0" indent="-285750">
              <a:lnSpc>
                <a:spcPct val="120000"/>
              </a:lnSpc>
              <a:spcBef>
                <a:spcPts val="300"/>
              </a:spcBef>
              <a:buFont typeface="Arial" panose="020B0604020202020204" pitchFamily="34" charset="0"/>
              <a:buChar char="•"/>
            </a:pPr>
            <a:r>
              <a:rPr lang="nl-BE" dirty="0">
                <a:solidFill>
                  <a:srgbClr val="B0C4D8"/>
                </a:solidFill>
              </a:rPr>
              <a:t>Vermindert overschatting van Q-</a:t>
            </a:r>
            <a:r>
              <a:rPr lang="nl-BE" dirty="0" err="1">
                <a:solidFill>
                  <a:srgbClr val="B0C4D8"/>
                </a:solidFill>
              </a:rPr>
              <a:t>values</a:t>
            </a:r>
            <a:r>
              <a:rPr lang="nl-BE" dirty="0">
                <a:solidFill>
                  <a:srgbClr val="B0C4D8"/>
                </a:solidFill>
              </a:rPr>
              <a:t> </a:t>
            </a:r>
          </a:p>
          <a:p>
            <a:pPr marL="285750" lvl="0" indent="-285750">
              <a:lnSpc>
                <a:spcPct val="120000"/>
              </a:lnSpc>
              <a:spcBef>
                <a:spcPts val="300"/>
              </a:spcBef>
              <a:buFont typeface="Arial" panose="020B0604020202020204" pitchFamily="34" charset="0"/>
              <a:buChar char="•"/>
            </a:pPr>
            <a:r>
              <a:rPr lang="nl-BE" dirty="0">
                <a:solidFill>
                  <a:srgbClr val="B0C4D8"/>
                </a:solidFill>
              </a:rPr>
              <a:t>Leert sneller en stabieler </a:t>
            </a:r>
          </a:p>
          <a:p>
            <a:pPr marL="285750" lvl="0" indent="-285750">
              <a:lnSpc>
                <a:spcPct val="120000"/>
              </a:lnSpc>
              <a:spcBef>
                <a:spcPts val="300"/>
              </a:spcBef>
              <a:buFont typeface="Arial" panose="020B0604020202020204" pitchFamily="34" charset="0"/>
              <a:buChar char="•"/>
            </a:pPr>
            <a:r>
              <a:rPr lang="nl-BE" dirty="0">
                <a:solidFill>
                  <a:srgbClr val="B0C4D8"/>
                </a:solidFill>
              </a:rPr>
              <a:t>Betere prestaties in complexe taken</a:t>
            </a:r>
            <a:endParaRPr kumimoji="0" sz="1800" i="0" u="none" strike="noStrike" kern="1200" cap="none" spc="0" normalizeH="0" baseline="0" noProof="0" dirty="0">
              <a:ln>
                <a:noFill/>
              </a:ln>
              <a:solidFill>
                <a:srgbClr val="B0C4D8"/>
              </a:solidFill>
              <a:effectLst/>
              <a:uLnTx/>
              <a:uFillTx/>
              <a:latin typeface="Calibri"/>
            </a:endParaRPr>
          </a:p>
        </p:txBody>
      </p:sp>
      <p:sp>
        <p:nvSpPr>
          <p:cNvPr id="41" name="Tijdelijke aanduiding voor dianummer 40">
            <a:extLst>
              <a:ext uri="{FF2B5EF4-FFF2-40B4-BE49-F238E27FC236}">
                <a16:creationId xmlns:a16="http://schemas.microsoft.com/office/drawing/2014/main" id="{5E2B3BCA-CC80-83A6-0236-9AB50D555A2F}"/>
              </a:ext>
            </a:extLst>
          </p:cNvPr>
          <p:cNvSpPr>
            <a:spLocks noGrp="1"/>
          </p:cNvSpPr>
          <p:nvPr>
            <p:ph type="sldNum" sz="quarter" idx="12"/>
          </p:nvPr>
        </p:nvSpPr>
        <p:spPr>
          <a:xfrm>
            <a:off x="10055352" y="6492875"/>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0" name="TextBox 7">
            <a:extLst>
              <a:ext uri="{FF2B5EF4-FFF2-40B4-BE49-F238E27FC236}">
                <a16:creationId xmlns:a16="http://schemas.microsoft.com/office/drawing/2014/main" id="{77CC7C5D-B815-AAA9-6949-46B8C6EC8A44}"/>
              </a:ext>
            </a:extLst>
          </p:cNvPr>
          <p:cNvSpPr txBox="1"/>
          <p:nvPr/>
        </p:nvSpPr>
        <p:spPr>
          <a:xfrm>
            <a:off x="386709" y="3994723"/>
            <a:ext cx="1661224"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l-BE" sz="1400" b="1" dirty="0">
                <a:solidFill>
                  <a:srgbClr val="0099FF"/>
                </a:solidFill>
                <a:latin typeface="Calibri"/>
              </a:rPr>
              <a:t>Extra </a:t>
            </a:r>
            <a:r>
              <a:rPr kumimoji="0" lang="nl-BE" sz="1400" b="1" i="0" u="none" strike="noStrike" kern="1200" cap="none" spc="0" normalizeH="0" baseline="0" noProof="0" dirty="0">
                <a:ln>
                  <a:noFill/>
                </a:ln>
                <a:solidFill>
                  <a:srgbClr val="0099FF"/>
                </a:solidFill>
                <a:effectLst/>
                <a:uLnTx/>
                <a:uFillTx/>
                <a:latin typeface="Calibri"/>
                <a:ea typeface="+mn-ea"/>
                <a:cs typeface="+mn-cs"/>
              </a:rPr>
              <a:t>Componenten</a:t>
            </a:r>
            <a:endParaRPr kumimoji="0" sz="1400" b="1" i="0" u="none" strike="noStrike" kern="1200" cap="none" spc="0" normalizeH="0" baseline="0" noProof="0" dirty="0">
              <a:ln>
                <a:noFill/>
              </a:ln>
              <a:solidFill>
                <a:srgbClr val="0099FF"/>
              </a:solidFill>
              <a:effectLst/>
              <a:uLnTx/>
              <a:uFillTx/>
              <a:latin typeface="Calibri"/>
              <a:ea typeface="+mn-ea"/>
              <a:cs typeface="+mn-cs"/>
            </a:endParaRPr>
          </a:p>
        </p:txBody>
      </p:sp>
      <p:sp>
        <p:nvSpPr>
          <p:cNvPr id="51" name="TextBox 8">
            <a:extLst>
              <a:ext uri="{FF2B5EF4-FFF2-40B4-BE49-F238E27FC236}">
                <a16:creationId xmlns:a16="http://schemas.microsoft.com/office/drawing/2014/main" id="{326BEA2A-61AA-576A-68B0-B8C20C48694B}"/>
              </a:ext>
            </a:extLst>
          </p:cNvPr>
          <p:cNvSpPr txBox="1"/>
          <p:nvPr/>
        </p:nvSpPr>
        <p:spPr>
          <a:xfrm>
            <a:off x="464825" y="4302500"/>
            <a:ext cx="5550535" cy="1737399"/>
          </a:xfrm>
          <a:prstGeom prst="rect">
            <a:avLst/>
          </a:prstGeom>
          <a:noFill/>
        </p:spPr>
        <p:txBody>
          <a:bodyPr wrap="square">
            <a:spAutoFit/>
          </a:bodyPr>
          <a:lstStyle/>
          <a:p>
            <a:pPr>
              <a:lnSpc>
                <a:spcPct val="120000"/>
              </a:lnSpc>
            </a:pPr>
            <a:r>
              <a:rPr lang="nl-BE" b="1" dirty="0">
                <a:solidFill>
                  <a:srgbClr val="B0C4D8"/>
                </a:solidFill>
              </a:rPr>
              <a:t>Double DQN:</a:t>
            </a:r>
            <a:r>
              <a:rPr lang="nl-BE" dirty="0">
                <a:solidFill>
                  <a:srgbClr val="B0C4D8"/>
                </a:solidFill>
              </a:rPr>
              <a:t> nauwkeurigere beloningsschatting </a:t>
            </a:r>
          </a:p>
          <a:p>
            <a:pPr>
              <a:lnSpc>
                <a:spcPct val="120000"/>
              </a:lnSpc>
            </a:pPr>
            <a:r>
              <a:rPr lang="nl-BE" b="1" dirty="0" err="1">
                <a:solidFill>
                  <a:srgbClr val="B0C4D8"/>
                </a:solidFill>
              </a:rPr>
              <a:t>Dueling</a:t>
            </a:r>
            <a:r>
              <a:rPr lang="nl-BE" b="1" dirty="0">
                <a:solidFill>
                  <a:srgbClr val="B0C4D8"/>
                </a:solidFill>
              </a:rPr>
              <a:t> Network:</a:t>
            </a:r>
            <a:r>
              <a:rPr lang="nl-BE" dirty="0">
                <a:solidFill>
                  <a:srgbClr val="B0C4D8"/>
                </a:solidFill>
              </a:rPr>
              <a:t> splitst: </a:t>
            </a:r>
          </a:p>
          <a:p>
            <a:pPr marL="285750" indent="-285750">
              <a:lnSpc>
                <a:spcPct val="120000"/>
              </a:lnSpc>
              <a:buFont typeface="Arial" panose="020B0604020202020204" pitchFamily="34" charset="0"/>
              <a:buChar char="•"/>
            </a:pPr>
            <a:r>
              <a:rPr lang="nl-BE" b="1" dirty="0">
                <a:solidFill>
                  <a:srgbClr val="B0C4D8"/>
                </a:solidFill>
              </a:rPr>
              <a:t>State Value:</a:t>
            </a:r>
            <a:r>
              <a:rPr lang="nl-BE" dirty="0">
                <a:solidFill>
                  <a:srgbClr val="B0C4D8"/>
                </a:solidFill>
              </a:rPr>
              <a:t> hoe goed een state is </a:t>
            </a:r>
          </a:p>
          <a:p>
            <a:pPr marL="285750" indent="-285750">
              <a:lnSpc>
                <a:spcPct val="120000"/>
              </a:lnSpc>
              <a:buFont typeface="Arial" panose="020B0604020202020204" pitchFamily="34" charset="0"/>
              <a:buChar char="•"/>
            </a:pPr>
            <a:r>
              <a:rPr lang="nl-BE" b="1" dirty="0">
                <a:solidFill>
                  <a:srgbClr val="B0C4D8"/>
                </a:solidFill>
              </a:rPr>
              <a:t>Advantage:</a:t>
            </a:r>
            <a:r>
              <a:rPr lang="nl-BE" dirty="0">
                <a:solidFill>
                  <a:srgbClr val="B0C4D8"/>
                </a:solidFill>
              </a:rPr>
              <a:t> hoe goed een actie is binnen die state</a:t>
            </a:r>
          </a:p>
          <a:p>
            <a:pPr marL="285750" marR="0" lvl="0" indent="-285750" algn="l" defTabSz="4572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sz="1800" b="0" i="0" u="none" strike="noStrike" kern="1200" cap="none" spc="0" normalizeH="0" baseline="0" noProof="0" dirty="0">
              <a:ln>
                <a:noFill/>
              </a:ln>
              <a:solidFill>
                <a:srgbClr val="B0C4D8"/>
              </a:solidFill>
              <a:effectLst/>
              <a:uLnTx/>
              <a:uFillTx/>
              <a:latin typeface="Calibri"/>
              <a:ea typeface="+mn-ea"/>
              <a:cs typeface="+mn-cs"/>
            </a:endParaRPr>
          </a:p>
        </p:txBody>
      </p:sp>
      <p:pic>
        <p:nvPicPr>
          <p:cNvPr id="11" name="Afbeelding 10">
            <a:extLst>
              <a:ext uri="{FF2B5EF4-FFF2-40B4-BE49-F238E27FC236}">
                <a16:creationId xmlns:a16="http://schemas.microsoft.com/office/drawing/2014/main" id="{0933D784-26CA-39B0-451B-E502B8F39617}"/>
              </a:ext>
            </a:extLst>
          </p:cNvPr>
          <p:cNvPicPr>
            <a:picLocks noChangeAspect="1"/>
          </p:cNvPicPr>
          <p:nvPr/>
        </p:nvPicPr>
        <p:blipFill>
          <a:blip r:embed="rId2"/>
          <a:stretch>
            <a:fillRect/>
          </a:stretch>
        </p:blipFill>
        <p:spPr>
          <a:xfrm>
            <a:off x="6042665" y="1225296"/>
            <a:ext cx="5871839" cy="53126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921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50" grpId="0"/>
      <p:bldP spid="51"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BC08079-186D-E3C7-80A5-F1522972CA7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7473E2-53E0-448D-F208-5075FF280FEC}"/>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D3E4FE0C-221D-F97C-6C0C-CB13E4221AE9}"/>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C447EB0F-A36F-26ED-F5D6-00D0173135E7}"/>
              </a:ext>
            </a:extLst>
          </p:cNvPr>
          <p:cNvSpPr txBox="1"/>
          <p:nvPr/>
        </p:nvSpPr>
        <p:spPr>
          <a:xfrm>
            <a:off x="1371600" y="1645920"/>
            <a:ext cx="9144000" cy="230832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l-BE" sz="7200" b="1" dirty="0">
                <a:solidFill>
                  <a:srgbClr val="0099FF"/>
                </a:solidFill>
                <a:latin typeface="Calibri"/>
              </a:rPr>
              <a:t>Architectuurdiagram</a:t>
            </a: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9AEAEEBA-2C24-67D2-CB12-941CCEC3E5E1}"/>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478A227B-6249-392A-E9E1-613D97FC7F35}"/>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62732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8128F70A-98F4-5950-A3A1-C559716653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BF16D12-8B1E-8F74-A812-E8954C4DF406}"/>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78196F30-FA4A-79E3-6FE3-11E2C51D5B01}"/>
              </a:ext>
            </a:extLst>
          </p:cNvPr>
          <p:cNvSpPr/>
          <p:nvPr/>
        </p:nvSpPr>
        <p:spPr>
          <a:xfrm>
            <a:off x="0" y="0"/>
            <a:ext cx="73152" cy="100584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C6409534-868A-48CE-A71B-EB200681A16E}"/>
              </a:ext>
            </a:extLst>
          </p:cNvPr>
          <p:cNvSpPr txBox="1"/>
          <p:nvPr/>
        </p:nvSpPr>
        <p:spPr>
          <a:xfrm>
            <a:off x="201168" y="73152"/>
            <a:ext cx="9144000" cy="5486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FFFFFF"/>
                </a:solidFill>
                <a:effectLst/>
                <a:uLnTx/>
                <a:uFillTx/>
                <a:latin typeface="Calibri"/>
                <a:ea typeface="+mn-ea"/>
                <a:cs typeface="+mn-cs"/>
              </a:rPr>
              <a:t>Architectuurdiagram</a:t>
            </a:r>
          </a:p>
        </p:txBody>
      </p:sp>
      <p:sp>
        <p:nvSpPr>
          <p:cNvPr id="12" name="Tijdelijke aanduiding voor dianummer 11">
            <a:extLst>
              <a:ext uri="{FF2B5EF4-FFF2-40B4-BE49-F238E27FC236}">
                <a16:creationId xmlns:a16="http://schemas.microsoft.com/office/drawing/2014/main" id="{9CEFB2FF-150C-4734-2179-F97E9E58011C}"/>
              </a:ext>
            </a:extLst>
          </p:cNvPr>
          <p:cNvSpPr>
            <a:spLocks noGrp="1"/>
          </p:cNvSpPr>
          <p:nvPr>
            <p:ph type="sldNum" sz="quarter" idx="12"/>
          </p:nvPr>
        </p:nvSpPr>
        <p:spPr>
          <a:xfrm>
            <a:off x="10055352"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17" name="Afbeelding 16">
            <a:extLst>
              <a:ext uri="{FF2B5EF4-FFF2-40B4-BE49-F238E27FC236}">
                <a16:creationId xmlns:a16="http://schemas.microsoft.com/office/drawing/2014/main" id="{D9A45702-F806-E36C-6B3F-914AC9F35C8E}"/>
              </a:ext>
            </a:extLst>
          </p:cNvPr>
          <p:cNvPicPr>
            <a:picLocks noChangeAspect="1"/>
          </p:cNvPicPr>
          <p:nvPr/>
        </p:nvPicPr>
        <p:blipFill>
          <a:blip r:embed="rId2"/>
          <a:stretch>
            <a:fillRect/>
          </a:stretch>
        </p:blipFill>
        <p:spPr>
          <a:xfrm>
            <a:off x="0" y="1016898"/>
            <a:ext cx="12188825" cy="5831958"/>
          </a:xfrm>
          <a:prstGeom prst="rect">
            <a:avLst/>
          </a:prstGeom>
        </p:spPr>
      </p:pic>
    </p:spTree>
    <p:extLst>
      <p:ext uri="{BB962C8B-B14F-4D97-AF65-F5344CB8AC3E}">
        <p14:creationId xmlns:p14="http://schemas.microsoft.com/office/powerpoint/2010/main" val="2154315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6BF9774F-D3F8-C8B4-CC80-7208997F47D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BB3FF1-18BE-6B82-1192-F7DA33E2389F}"/>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12EBDDC9-DBBC-BC2A-46EE-D55C17E6A214}"/>
              </a:ext>
            </a:extLst>
          </p:cNvPr>
          <p:cNvSpPr/>
          <p:nvPr/>
        </p:nvSpPr>
        <p:spPr>
          <a:xfrm>
            <a:off x="0" y="0"/>
            <a:ext cx="73152" cy="100584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0DEDE7A2-0088-E9CE-11E8-8D60224F7560}"/>
              </a:ext>
            </a:extLst>
          </p:cNvPr>
          <p:cNvSpPr txBox="1"/>
          <p:nvPr/>
        </p:nvSpPr>
        <p:spPr>
          <a:xfrm>
            <a:off x="201168" y="73152"/>
            <a:ext cx="5682710"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dirty="0" err="1">
                <a:ln>
                  <a:noFill/>
                </a:ln>
                <a:solidFill>
                  <a:srgbClr val="FFFFFF"/>
                </a:solidFill>
                <a:effectLst/>
                <a:uLnTx/>
                <a:uFillTx/>
                <a:latin typeface="Calibri"/>
                <a:ea typeface="+mn-ea"/>
                <a:cs typeface="+mn-cs"/>
              </a:rPr>
              <a:t>Architectuurdiagram</a:t>
            </a:r>
            <a:r>
              <a:rPr kumimoji="0" lang="nl-BE" sz="3000" b="1" i="0" u="none" strike="noStrike" kern="1200" cap="none" spc="0" normalizeH="0" baseline="0" noProof="0" dirty="0">
                <a:ln>
                  <a:noFill/>
                </a:ln>
                <a:solidFill>
                  <a:srgbClr val="FFFFFF"/>
                </a:solidFill>
                <a:effectLst/>
                <a:uLnTx/>
                <a:uFillTx/>
                <a:latin typeface="Calibri"/>
                <a:ea typeface="+mn-ea"/>
                <a:cs typeface="+mn-cs"/>
              </a:rPr>
              <a:t> development</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12" name="Tijdelijke aanduiding voor dianummer 11">
            <a:extLst>
              <a:ext uri="{FF2B5EF4-FFF2-40B4-BE49-F238E27FC236}">
                <a16:creationId xmlns:a16="http://schemas.microsoft.com/office/drawing/2014/main" id="{A9F7EF58-98DD-CFD0-1292-CE8142D9754E}"/>
              </a:ext>
            </a:extLst>
          </p:cNvPr>
          <p:cNvSpPr>
            <a:spLocks noGrp="1"/>
          </p:cNvSpPr>
          <p:nvPr>
            <p:ph type="sldNum" sz="quarter" idx="12"/>
          </p:nvPr>
        </p:nvSpPr>
        <p:spPr>
          <a:xfrm>
            <a:off x="10055352"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11" name="Afbeelding 10">
            <a:extLst>
              <a:ext uri="{FF2B5EF4-FFF2-40B4-BE49-F238E27FC236}">
                <a16:creationId xmlns:a16="http://schemas.microsoft.com/office/drawing/2014/main" id="{BB1EA253-6EF9-CB3B-11B6-FA05F567C550}"/>
              </a:ext>
            </a:extLst>
          </p:cNvPr>
          <p:cNvPicPr>
            <a:picLocks noChangeAspect="1"/>
          </p:cNvPicPr>
          <p:nvPr/>
        </p:nvPicPr>
        <p:blipFill>
          <a:blip r:embed="rId2"/>
          <a:stretch>
            <a:fillRect/>
          </a:stretch>
        </p:blipFill>
        <p:spPr>
          <a:xfrm>
            <a:off x="5078868" y="2342088"/>
            <a:ext cx="7109830" cy="2173824"/>
          </a:xfrm>
          <a:prstGeom prst="rect">
            <a:avLst/>
          </a:prstGeom>
        </p:spPr>
      </p:pic>
      <p:sp>
        <p:nvSpPr>
          <p:cNvPr id="14" name="Rectangle 26">
            <a:extLst>
              <a:ext uri="{FF2B5EF4-FFF2-40B4-BE49-F238E27FC236}">
                <a16:creationId xmlns:a16="http://schemas.microsoft.com/office/drawing/2014/main" id="{6A8E63B3-FC65-C97C-8380-30EEB8FB4295}"/>
              </a:ext>
            </a:extLst>
          </p:cNvPr>
          <p:cNvSpPr/>
          <p:nvPr/>
        </p:nvSpPr>
        <p:spPr>
          <a:xfrm>
            <a:off x="466344" y="1504800"/>
            <a:ext cx="4206240" cy="650854"/>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27">
            <a:extLst>
              <a:ext uri="{FF2B5EF4-FFF2-40B4-BE49-F238E27FC236}">
                <a16:creationId xmlns:a16="http://schemas.microsoft.com/office/drawing/2014/main" id="{D207534C-9AE7-9663-31D7-09FA9FB88B21}"/>
              </a:ext>
            </a:extLst>
          </p:cNvPr>
          <p:cNvSpPr txBox="1"/>
          <p:nvPr/>
        </p:nvSpPr>
        <p:spPr>
          <a:xfrm>
            <a:off x="466344" y="1414728"/>
            <a:ext cx="4206240" cy="830997"/>
          </a:xfrm>
          <a:prstGeom prst="rect">
            <a:avLst/>
          </a:prstGeom>
          <a:noFill/>
        </p:spPr>
        <p:txBody>
          <a:bodyPr wrap="square">
            <a:spAutoFit/>
          </a:bodyPr>
          <a:lstStyle/>
          <a:p>
            <a:pPr algn="ctr"/>
            <a:r>
              <a:rPr lang="nl-BE" sz="2400" b="1" dirty="0">
                <a:solidFill>
                  <a:srgbClr val="FFFFFF"/>
                </a:solidFill>
              </a:rPr>
              <a:t>Lokaal</a:t>
            </a:r>
          </a:p>
          <a:p>
            <a:pPr algn="ctr"/>
            <a:r>
              <a:rPr lang="nl-BE" sz="2400" b="1" i="0" dirty="0">
                <a:solidFill>
                  <a:srgbClr val="FFFFFF"/>
                </a:solidFill>
              </a:rPr>
              <a:t>Docker Desktop</a:t>
            </a:r>
            <a:endParaRPr sz="2400" b="1" i="0" dirty="0">
              <a:solidFill>
                <a:srgbClr val="FFFFFF"/>
              </a:solidFill>
            </a:endParaRPr>
          </a:p>
        </p:txBody>
      </p:sp>
      <p:sp>
        <p:nvSpPr>
          <p:cNvPr id="16" name="Rectangle 26">
            <a:extLst>
              <a:ext uri="{FF2B5EF4-FFF2-40B4-BE49-F238E27FC236}">
                <a16:creationId xmlns:a16="http://schemas.microsoft.com/office/drawing/2014/main" id="{5C42FDD1-2E14-0E20-DA53-DC2725925DB2}"/>
              </a:ext>
            </a:extLst>
          </p:cNvPr>
          <p:cNvSpPr/>
          <p:nvPr/>
        </p:nvSpPr>
        <p:spPr>
          <a:xfrm>
            <a:off x="6571488" y="1499210"/>
            <a:ext cx="4206240" cy="650854"/>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7">
            <a:extLst>
              <a:ext uri="{FF2B5EF4-FFF2-40B4-BE49-F238E27FC236}">
                <a16:creationId xmlns:a16="http://schemas.microsoft.com/office/drawing/2014/main" id="{12FED298-4A2D-C6B8-BE15-AE1EAB8C8120}"/>
              </a:ext>
            </a:extLst>
          </p:cNvPr>
          <p:cNvSpPr txBox="1"/>
          <p:nvPr/>
        </p:nvSpPr>
        <p:spPr>
          <a:xfrm>
            <a:off x="6571488" y="1401271"/>
            <a:ext cx="4206240" cy="830997"/>
          </a:xfrm>
          <a:prstGeom prst="rect">
            <a:avLst/>
          </a:prstGeom>
          <a:noFill/>
        </p:spPr>
        <p:txBody>
          <a:bodyPr wrap="square">
            <a:spAutoFit/>
          </a:bodyPr>
          <a:lstStyle/>
          <a:p>
            <a:pPr algn="ctr"/>
            <a:r>
              <a:rPr lang="nl-BE" sz="2400" b="1" dirty="0" err="1">
                <a:solidFill>
                  <a:srgbClr val="FFFFFF"/>
                </a:solidFill>
              </a:rPr>
              <a:t>Deployed</a:t>
            </a:r>
            <a:endParaRPr lang="nl-BE" sz="2400" b="1" dirty="0">
              <a:solidFill>
                <a:srgbClr val="FFFFFF"/>
              </a:solidFill>
            </a:endParaRPr>
          </a:p>
          <a:p>
            <a:pPr algn="ctr"/>
            <a:r>
              <a:rPr lang="nl-BE" sz="2400" b="1" dirty="0">
                <a:solidFill>
                  <a:srgbClr val="FFFFFF"/>
                </a:solidFill>
              </a:rPr>
              <a:t>Docker Hub</a:t>
            </a:r>
            <a:endParaRPr sz="2400" b="1" i="0" dirty="0">
              <a:solidFill>
                <a:srgbClr val="FFFFFF"/>
              </a:solidFill>
            </a:endParaRPr>
          </a:p>
        </p:txBody>
      </p:sp>
      <p:sp>
        <p:nvSpPr>
          <p:cNvPr id="18" name="Pijl: rechts 17">
            <a:extLst>
              <a:ext uri="{FF2B5EF4-FFF2-40B4-BE49-F238E27FC236}">
                <a16:creationId xmlns:a16="http://schemas.microsoft.com/office/drawing/2014/main" id="{81B274BE-FFB6-64D6-E41C-4C233E15DFD6}"/>
              </a:ext>
            </a:extLst>
          </p:cNvPr>
          <p:cNvSpPr/>
          <p:nvPr/>
        </p:nvSpPr>
        <p:spPr>
          <a:xfrm>
            <a:off x="4773168" y="1735085"/>
            <a:ext cx="1645920" cy="169776"/>
          </a:xfrm>
          <a:prstGeom prst="rightArrow">
            <a:avLst/>
          </a:prstGeom>
          <a:solidFill>
            <a:srgbClr val="FFFFFF"/>
          </a:solidFill>
          <a:ln>
            <a:solidFill>
              <a:srgbClr val="00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pic>
        <p:nvPicPr>
          <p:cNvPr id="10" name="Afbeelding 9">
            <a:extLst>
              <a:ext uri="{FF2B5EF4-FFF2-40B4-BE49-F238E27FC236}">
                <a16:creationId xmlns:a16="http://schemas.microsoft.com/office/drawing/2014/main" id="{713B2A49-75D4-24AE-9A6E-EBFAB5B34347}"/>
              </a:ext>
            </a:extLst>
          </p:cNvPr>
          <p:cNvPicPr>
            <a:picLocks noChangeAspect="1"/>
          </p:cNvPicPr>
          <p:nvPr/>
        </p:nvPicPr>
        <p:blipFill>
          <a:blip r:embed="rId3"/>
          <a:stretch>
            <a:fillRect/>
          </a:stretch>
        </p:blipFill>
        <p:spPr>
          <a:xfrm>
            <a:off x="329184" y="2299055"/>
            <a:ext cx="4343400" cy="4549801"/>
          </a:xfrm>
          <a:prstGeom prst="rect">
            <a:avLst/>
          </a:prstGeom>
        </p:spPr>
      </p:pic>
      <p:sp>
        <p:nvSpPr>
          <p:cNvPr id="13" name="Niet toegestaan-symbool 12">
            <a:extLst>
              <a:ext uri="{FF2B5EF4-FFF2-40B4-BE49-F238E27FC236}">
                <a16:creationId xmlns:a16="http://schemas.microsoft.com/office/drawing/2014/main" id="{7E5C0A01-8C11-9A2E-CCCE-B0D098835DD5}"/>
              </a:ext>
            </a:extLst>
          </p:cNvPr>
          <p:cNvSpPr/>
          <p:nvPr/>
        </p:nvSpPr>
        <p:spPr>
          <a:xfrm>
            <a:off x="7109956" y="2299055"/>
            <a:ext cx="3250756" cy="2216857"/>
          </a:xfrm>
          <a:prstGeom prst="noSmoking">
            <a:avLst/>
          </a:prstGeom>
          <a:solidFill>
            <a:srgbClr val="FF33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solidFill>
                <a:schemeClr val="tx1"/>
              </a:solidFill>
            </a:endParaRPr>
          </a:p>
        </p:txBody>
      </p:sp>
    </p:spTree>
    <p:extLst>
      <p:ext uri="{BB962C8B-B14F-4D97-AF65-F5344CB8AC3E}">
        <p14:creationId xmlns:p14="http://schemas.microsoft.com/office/powerpoint/2010/main" val="95152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FE1266DD-7FFC-387F-F849-399DC6F117D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33A94FD-6AAB-9099-D59F-81BED15423B1}"/>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13F4CA39-E530-4F44-DFFD-E30282E97C01}"/>
              </a:ext>
            </a:extLst>
          </p:cNvPr>
          <p:cNvSpPr/>
          <p:nvPr/>
        </p:nvSpPr>
        <p:spPr>
          <a:xfrm>
            <a:off x="0" y="0"/>
            <a:ext cx="73152" cy="100584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E77A89F4-1566-2921-1566-AAF881825F48}"/>
              </a:ext>
            </a:extLst>
          </p:cNvPr>
          <p:cNvSpPr txBox="1"/>
          <p:nvPr/>
        </p:nvSpPr>
        <p:spPr>
          <a:xfrm>
            <a:off x="201168" y="73152"/>
            <a:ext cx="5319983"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dirty="0" err="1">
                <a:ln>
                  <a:noFill/>
                </a:ln>
                <a:solidFill>
                  <a:srgbClr val="FFFFFF"/>
                </a:solidFill>
                <a:effectLst/>
                <a:uLnTx/>
                <a:uFillTx/>
                <a:latin typeface="Calibri"/>
                <a:ea typeface="+mn-ea"/>
                <a:cs typeface="+mn-cs"/>
              </a:rPr>
              <a:t>Architectuurdiagram</a:t>
            </a:r>
            <a:r>
              <a:rPr kumimoji="0" lang="nl-BE" sz="3000" b="1" i="0" u="none" strike="noStrike" kern="1200" cap="none" spc="0" normalizeH="0" baseline="0" noProof="0" dirty="0">
                <a:ln>
                  <a:noFill/>
                </a:ln>
                <a:solidFill>
                  <a:srgbClr val="FFFFFF"/>
                </a:solidFill>
                <a:effectLst/>
                <a:uLnTx/>
                <a:uFillTx/>
                <a:latin typeface="Calibri"/>
                <a:ea typeface="+mn-ea"/>
                <a:cs typeface="+mn-cs"/>
              </a:rPr>
              <a:t> </a:t>
            </a:r>
            <a:r>
              <a:rPr kumimoji="0" lang="nl-BE" sz="3000" b="1" i="0" u="none" strike="noStrike" kern="1200" cap="none" spc="0" normalizeH="0" baseline="0" noProof="0" dirty="0" err="1">
                <a:ln>
                  <a:noFill/>
                </a:ln>
                <a:solidFill>
                  <a:srgbClr val="FFFFFF"/>
                </a:solidFill>
                <a:effectLst/>
                <a:uLnTx/>
                <a:uFillTx/>
                <a:latin typeface="Calibri"/>
                <a:ea typeface="+mn-ea"/>
                <a:cs typeface="+mn-cs"/>
              </a:rPr>
              <a:t>production</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12" name="Tijdelijke aanduiding voor dianummer 11">
            <a:extLst>
              <a:ext uri="{FF2B5EF4-FFF2-40B4-BE49-F238E27FC236}">
                <a16:creationId xmlns:a16="http://schemas.microsoft.com/office/drawing/2014/main" id="{C5762C5A-44BC-A51B-00F0-68A7C03492BA}"/>
              </a:ext>
            </a:extLst>
          </p:cNvPr>
          <p:cNvSpPr>
            <a:spLocks noGrp="1"/>
          </p:cNvSpPr>
          <p:nvPr>
            <p:ph type="sldNum" sz="quarter" idx="12"/>
          </p:nvPr>
        </p:nvSpPr>
        <p:spPr>
          <a:xfrm>
            <a:off x="10055352"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4" name="Rectangle 26">
            <a:extLst>
              <a:ext uri="{FF2B5EF4-FFF2-40B4-BE49-F238E27FC236}">
                <a16:creationId xmlns:a16="http://schemas.microsoft.com/office/drawing/2014/main" id="{FCC836F4-A731-58D0-5F42-A66E768D75C7}"/>
              </a:ext>
            </a:extLst>
          </p:cNvPr>
          <p:cNvSpPr/>
          <p:nvPr/>
        </p:nvSpPr>
        <p:spPr>
          <a:xfrm>
            <a:off x="466344" y="1504800"/>
            <a:ext cx="4206240" cy="650854"/>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27">
            <a:extLst>
              <a:ext uri="{FF2B5EF4-FFF2-40B4-BE49-F238E27FC236}">
                <a16:creationId xmlns:a16="http://schemas.microsoft.com/office/drawing/2014/main" id="{4EA697F7-AC75-0BF9-7453-F2C16574E1B6}"/>
              </a:ext>
            </a:extLst>
          </p:cNvPr>
          <p:cNvSpPr txBox="1"/>
          <p:nvPr/>
        </p:nvSpPr>
        <p:spPr>
          <a:xfrm>
            <a:off x="466344" y="1414728"/>
            <a:ext cx="4206240"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nl-BE" sz="2400" b="1" i="0" u="none" strike="noStrike" kern="1200" cap="none" spc="0" normalizeH="0" baseline="0" noProof="0" dirty="0">
                <a:ln>
                  <a:noFill/>
                </a:ln>
                <a:solidFill>
                  <a:srgbClr val="FFFFFF"/>
                </a:solidFill>
                <a:effectLst/>
                <a:uLnTx/>
                <a:uFillTx/>
                <a:latin typeface="Calibri"/>
                <a:ea typeface="+mn-ea"/>
                <a:cs typeface="+mn-cs"/>
              </a:rPr>
              <a:t>Lokaal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nl-BE" sz="2400" b="1" i="0" u="none" strike="noStrike" kern="1200" cap="none" spc="0" normalizeH="0" baseline="0" noProof="0" dirty="0">
                <a:ln>
                  <a:noFill/>
                </a:ln>
                <a:solidFill>
                  <a:srgbClr val="FFFFFF"/>
                </a:solidFill>
                <a:effectLst/>
                <a:uLnTx/>
                <a:uFillTx/>
                <a:latin typeface="Calibri"/>
                <a:ea typeface="+mn-ea"/>
                <a:cs typeface="+mn-cs"/>
              </a:rPr>
              <a:t>Docker Desktop</a:t>
            </a:r>
            <a:endParaRPr kumimoji="0" sz="2400" b="1"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Rectangle 26">
            <a:extLst>
              <a:ext uri="{FF2B5EF4-FFF2-40B4-BE49-F238E27FC236}">
                <a16:creationId xmlns:a16="http://schemas.microsoft.com/office/drawing/2014/main" id="{54A21875-7787-1DE6-D984-FD4C61CAF873}"/>
              </a:ext>
            </a:extLst>
          </p:cNvPr>
          <p:cNvSpPr/>
          <p:nvPr/>
        </p:nvSpPr>
        <p:spPr>
          <a:xfrm>
            <a:off x="6571488" y="1499210"/>
            <a:ext cx="4206240" cy="650854"/>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27">
            <a:extLst>
              <a:ext uri="{FF2B5EF4-FFF2-40B4-BE49-F238E27FC236}">
                <a16:creationId xmlns:a16="http://schemas.microsoft.com/office/drawing/2014/main" id="{7DCE3BB4-8085-707B-CD4A-D94B12AA23D0}"/>
              </a:ext>
            </a:extLst>
          </p:cNvPr>
          <p:cNvSpPr txBox="1"/>
          <p:nvPr/>
        </p:nvSpPr>
        <p:spPr>
          <a:xfrm>
            <a:off x="6571488" y="1401271"/>
            <a:ext cx="4206240"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nl-BE" sz="2400" b="1" i="0" u="none" strike="noStrike" kern="1200" cap="none" spc="0" normalizeH="0" baseline="0" noProof="0" dirty="0" err="1">
                <a:ln>
                  <a:noFill/>
                </a:ln>
                <a:solidFill>
                  <a:srgbClr val="FFFFFF"/>
                </a:solidFill>
                <a:effectLst/>
                <a:uLnTx/>
                <a:uFillTx/>
                <a:latin typeface="Calibri"/>
                <a:ea typeface="+mn-ea"/>
                <a:cs typeface="+mn-cs"/>
              </a:rPr>
              <a:t>Deployed</a:t>
            </a:r>
            <a:endParaRPr kumimoji="0" lang="nl-BE" sz="2400" b="1" i="0" u="none" strike="noStrike" kern="1200" cap="none" spc="0" normalizeH="0" baseline="0" noProof="0" dirty="0">
              <a:ln>
                <a:noFill/>
              </a:ln>
              <a:solidFill>
                <a:srgbClr val="FFFFFF"/>
              </a:solidFill>
              <a:effectLst/>
              <a:uLnTx/>
              <a:uFillTx/>
              <a:latin typeface="Calibri"/>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nl-BE" sz="2400" b="1" i="0" u="none" strike="noStrike" kern="1200" cap="none" spc="0" normalizeH="0" baseline="0" noProof="0" dirty="0">
                <a:ln>
                  <a:noFill/>
                </a:ln>
                <a:solidFill>
                  <a:srgbClr val="FFFFFF"/>
                </a:solidFill>
                <a:effectLst/>
                <a:uLnTx/>
                <a:uFillTx/>
                <a:latin typeface="Calibri"/>
                <a:ea typeface="+mn-ea"/>
                <a:cs typeface="+mn-cs"/>
              </a:rPr>
              <a:t>Docker Hub</a:t>
            </a:r>
            <a:endParaRPr kumimoji="0" sz="2400" b="1" i="0" u="none" strike="noStrike" kern="1200" cap="none" spc="0" normalizeH="0" baseline="0" noProof="0" dirty="0">
              <a:ln>
                <a:noFill/>
              </a:ln>
              <a:solidFill>
                <a:srgbClr val="FFFFFF"/>
              </a:solidFill>
              <a:effectLst/>
              <a:uLnTx/>
              <a:uFillTx/>
              <a:latin typeface="Calibri"/>
              <a:ea typeface="+mn-ea"/>
              <a:cs typeface="+mn-cs"/>
            </a:endParaRPr>
          </a:p>
        </p:txBody>
      </p:sp>
      <p:sp>
        <p:nvSpPr>
          <p:cNvPr id="18" name="Pijl: rechts 17">
            <a:extLst>
              <a:ext uri="{FF2B5EF4-FFF2-40B4-BE49-F238E27FC236}">
                <a16:creationId xmlns:a16="http://schemas.microsoft.com/office/drawing/2014/main" id="{CA9588E0-3F7A-E3FB-B6EA-08E5941DE9F1}"/>
              </a:ext>
            </a:extLst>
          </p:cNvPr>
          <p:cNvSpPr/>
          <p:nvPr/>
        </p:nvSpPr>
        <p:spPr>
          <a:xfrm>
            <a:off x="4773168" y="1735085"/>
            <a:ext cx="1645920" cy="169776"/>
          </a:xfrm>
          <a:prstGeom prst="rightArrow">
            <a:avLst/>
          </a:prstGeom>
          <a:solidFill>
            <a:srgbClr val="FFFFFF"/>
          </a:solidFill>
          <a:ln>
            <a:solidFill>
              <a:srgbClr val="009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prstClr val="white"/>
              </a:solidFill>
              <a:effectLst/>
              <a:uLnTx/>
              <a:uFillTx/>
              <a:latin typeface="Calibri"/>
              <a:ea typeface="+mn-ea"/>
              <a:cs typeface="+mn-cs"/>
            </a:endParaRPr>
          </a:p>
        </p:txBody>
      </p:sp>
      <p:pic>
        <p:nvPicPr>
          <p:cNvPr id="20" name="Afbeelding 19">
            <a:extLst>
              <a:ext uri="{FF2B5EF4-FFF2-40B4-BE49-F238E27FC236}">
                <a16:creationId xmlns:a16="http://schemas.microsoft.com/office/drawing/2014/main" id="{5E014D6B-F8F2-D421-E83F-3B2117BE55E1}"/>
              </a:ext>
            </a:extLst>
          </p:cNvPr>
          <p:cNvPicPr>
            <a:picLocks noChangeAspect="1"/>
          </p:cNvPicPr>
          <p:nvPr/>
        </p:nvPicPr>
        <p:blipFill>
          <a:blip r:embed="rId2"/>
          <a:srcRect l="56989"/>
          <a:stretch>
            <a:fillRect/>
          </a:stretch>
        </p:blipFill>
        <p:spPr>
          <a:xfrm>
            <a:off x="8067829" y="2489188"/>
            <a:ext cx="3975046" cy="2136545"/>
          </a:xfrm>
          <a:prstGeom prst="rect">
            <a:avLst/>
          </a:prstGeom>
        </p:spPr>
      </p:pic>
      <p:pic>
        <p:nvPicPr>
          <p:cNvPr id="21" name="Afbeelding 20">
            <a:extLst>
              <a:ext uri="{FF2B5EF4-FFF2-40B4-BE49-F238E27FC236}">
                <a16:creationId xmlns:a16="http://schemas.microsoft.com/office/drawing/2014/main" id="{4496C01D-5CD1-0299-564B-E555A055708F}"/>
              </a:ext>
            </a:extLst>
          </p:cNvPr>
          <p:cNvPicPr>
            <a:picLocks noChangeAspect="1"/>
          </p:cNvPicPr>
          <p:nvPr/>
        </p:nvPicPr>
        <p:blipFill>
          <a:blip r:embed="rId2"/>
          <a:srcRect r="68923"/>
          <a:stretch>
            <a:fillRect/>
          </a:stretch>
        </p:blipFill>
        <p:spPr>
          <a:xfrm>
            <a:off x="5195700" y="2489187"/>
            <a:ext cx="2872129" cy="2136545"/>
          </a:xfrm>
          <a:prstGeom prst="rect">
            <a:avLst/>
          </a:prstGeom>
        </p:spPr>
      </p:pic>
      <p:pic>
        <p:nvPicPr>
          <p:cNvPr id="23" name="Afbeelding 22">
            <a:extLst>
              <a:ext uri="{FF2B5EF4-FFF2-40B4-BE49-F238E27FC236}">
                <a16:creationId xmlns:a16="http://schemas.microsoft.com/office/drawing/2014/main" id="{45819061-15D5-B5F2-D76D-6CDD19AA0866}"/>
              </a:ext>
            </a:extLst>
          </p:cNvPr>
          <p:cNvPicPr>
            <a:picLocks noChangeAspect="1"/>
          </p:cNvPicPr>
          <p:nvPr/>
        </p:nvPicPr>
        <p:blipFill>
          <a:blip r:embed="rId3"/>
          <a:stretch>
            <a:fillRect/>
          </a:stretch>
        </p:blipFill>
        <p:spPr>
          <a:xfrm>
            <a:off x="201168" y="2245725"/>
            <a:ext cx="4762573" cy="4612275"/>
          </a:xfrm>
          <a:prstGeom prst="rect">
            <a:avLst/>
          </a:prstGeom>
        </p:spPr>
      </p:pic>
    </p:spTree>
    <p:extLst>
      <p:ext uri="{BB962C8B-B14F-4D97-AF65-F5344CB8AC3E}">
        <p14:creationId xmlns:p14="http://schemas.microsoft.com/office/powerpoint/2010/main" val="2243343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B01E1167-1AFE-A75C-3168-B7DE1485498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108D338-D0F8-0E58-AA81-5C36BC27EDC5}"/>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A7A91117-B132-D330-7230-F2DC77CD993E}"/>
              </a:ext>
            </a:extLst>
          </p:cNvPr>
          <p:cNvSpPr/>
          <p:nvPr/>
        </p:nvSpPr>
        <p:spPr>
          <a:xfrm>
            <a:off x="0" y="0"/>
            <a:ext cx="73152" cy="100584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D79064E5-BDDC-6EAD-F218-F04D4D4B97DB}"/>
              </a:ext>
            </a:extLst>
          </p:cNvPr>
          <p:cNvSpPr txBox="1"/>
          <p:nvPr/>
        </p:nvSpPr>
        <p:spPr>
          <a:xfrm>
            <a:off x="201168" y="73152"/>
            <a:ext cx="4795159"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dirty="0" err="1">
                <a:ln>
                  <a:noFill/>
                </a:ln>
                <a:solidFill>
                  <a:srgbClr val="FFFFFF"/>
                </a:solidFill>
                <a:effectLst/>
                <a:uLnTx/>
                <a:uFillTx/>
                <a:latin typeface="Calibri"/>
                <a:ea typeface="+mn-ea"/>
                <a:cs typeface="+mn-cs"/>
              </a:rPr>
              <a:t>Architectuurdiagram</a:t>
            </a:r>
            <a:r>
              <a:rPr lang="nl-BE" sz="3000" b="1" dirty="0">
                <a:solidFill>
                  <a:srgbClr val="FFFFFF"/>
                </a:solidFill>
                <a:latin typeface="Calibri"/>
              </a:rPr>
              <a:t> </a:t>
            </a:r>
            <a:r>
              <a:rPr lang="nl-BE" sz="3000" b="1" dirty="0" err="1">
                <a:solidFill>
                  <a:srgbClr val="FFFFFF"/>
                </a:solidFill>
                <a:latin typeface="Calibri"/>
              </a:rPr>
              <a:t>DevOps</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12" name="Tijdelijke aanduiding voor dianummer 11">
            <a:extLst>
              <a:ext uri="{FF2B5EF4-FFF2-40B4-BE49-F238E27FC236}">
                <a16:creationId xmlns:a16="http://schemas.microsoft.com/office/drawing/2014/main" id="{EACD203D-8F23-28E7-3B0F-20035063F606}"/>
              </a:ext>
            </a:extLst>
          </p:cNvPr>
          <p:cNvSpPr>
            <a:spLocks noGrp="1"/>
          </p:cNvSpPr>
          <p:nvPr>
            <p:ph type="sldNum" sz="quarter" idx="12"/>
          </p:nvPr>
        </p:nvSpPr>
        <p:spPr>
          <a:xfrm>
            <a:off x="10055352"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6" name="Afbeelding 5" descr="What is DevOps?">
            <a:extLst>
              <a:ext uri="{FF2B5EF4-FFF2-40B4-BE49-F238E27FC236}">
                <a16:creationId xmlns:a16="http://schemas.microsoft.com/office/drawing/2014/main" id="{9868FA79-4BC0-B06C-EF48-6D918718E1E1}"/>
              </a:ext>
            </a:extLst>
          </p:cNvPr>
          <p:cNvPicPr>
            <a:picLocks noChangeAspect="1"/>
          </p:cNvPicPr>
          <p:nvPr/>
        </p:nvPicPr>
        <p:blipFill>
          <a:blip r:embed="rId2"/>
          <a:stretch>
            <a:fillRect/>
          </a:stretch>
        </p:blipFill>
        <p:spPr>
          <a:xfrm>
            <a:off x="5988304" y="1682496"/>
            <a:ext cx="6209792" cy="3493008"/>
          </a:xfrm>
          <a:prstGeom prst="rect">
            <a:avLst/>
          </a:prstGeom>
        </p:spPr>
      </p:pic>
      <p:sp>
        <p:nvSpPr>
          <p:cNvPr id="7" name="Rectangle 5">
            <a:extLst>
              <a:ext uri="{FF2B5EF4-FFF2-40B4-BE49-F238E27FC236}">
                <a16:creationId xmlns:a16="http://schemas.microsoft.com/office/drawing/2014/main" id="{16EC3A49-3067-B941-C5BB-EFEE270E44AA}"/>
              </a:ext>
            </a:extLst>
          </p:cNvPr>
          <p:cNvSpPr/>
          <p:nvPr/>
        </p:nvSpPr>
        <p:spPr>
          <a:xfrm>
            <a:off x="274320" y="1188720"/>
            <a:ext cx="5577840" cy="534924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6">
            <a:extLst>
              <a:ext uri="{FF2B5EF4-FFF2-40B4-BE49-F238E27FC236}">
                <a16:creationId xmlns:a16="http://schemas.microsoft.com/office/drawing/2014/main" id="{92005315-97FD-0304-A5CC-9E6E1922A2DD}"/>
              </a:ext>
            </a:extLst>
          </p:cNvPr>
          <p:cNvSpPr/>
          <p:nvPr/>
        </p:nvSpPr>
        <p:spPr>
          <a:xfrm>
            <a:off x="274320" y="1188720"/>
            <a:ext cx="5577840" cy="36576"/>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7">
            <a:extLst>
              <a:ext uri="{FF2B5EF4-FFF2-40B4-BE49-F238E27FC236}">
                <a16:creationId xmlns:a16="http://schemas.microsoft.com/office/drawing/2014/main" id="{1A72E103-6AF1-B9A0-9834-26BF78A34A85}"/>
              </a:ext>
            </a:extLst>
          </p:cNvPr>
          <p:cNvSpPr txBox="1"/>
          <p:nvPr/>
        </p:nvSpPr>
        <p:spPr>
          <a:xfrm>
            <a:off x="411480" y="1261872"/>
            <a:ext cx="2193293" cy="307777"/>
          </a:xfrm>
          <a:prstGeom prst="rect">
            <a:avLst/>
          </a:prstGeom>
          <a:noFill/>
        </p:spPr>
        <p:txBody>
          <a:bodyPr wrap="none">
            <a:spAutoFit/>
          </a:bodyPr>
          <a:lstStyle/>
          <a:p>
            <a:pPr lvl="0">
              <a:defRPr/>
            </a:pPr>
            <a:r>
              <a:rPr kumimoji="0" lang="nl-BE" sz="1400" b="1" i="0" u="none" strike="noStrike" kern="1200" cap="none" spc="0" normalizeH="0" baseline="0" noProof="0" dirty="0">
                <a:ln>
                  <a:noFill/>
                </a:ln>
                <a:solidFill>
                  <a:srgbClr val="0099FF"/>
                </a:solidFill>
                <a:effectLst/>
                <a:uLnTx/>
                <a:uFillTx/>
                <a:latin typeface="Calibri"/>
                <a:ea typeface="+mn-ea"/>
                <a:cs typeface="+mn-cs"/>
              </a:rPr>
              <a:t>CI</a:t>
            </a:r>
            <a:r>
              <a:rPr kumimoji="0" lang="nl-BE" sz="1400" b="1" i="0" u="none" strike="noStrike" kern="1200" cap="none" spc="0" normalizeH="0" noProof="0" dirty="0">
                <a:ln>
                  <a:noFill/>
                </a:ln>
                <a:solidFill>
                  <a:srgbClr val="0099FF"/>
                </a:solidFill>
                <a:effectLst/>
                <a:uLnTx/>
                <a:uFillTx/>
                <a:latin typeface="Calibri"/>
                <a:ea typeface="+mn-ea"/>
                <a:cs typeface="+mn-cs"/>
              </a:rPr>
              <a:t> (</a:t>
            </a:r>
            <a:r>
              <a:rPr kumimoji="0" lang="nl-BE" sz="1400" b="1" i="0" u="none" strike="noStrike" kern="1200" cap="none" spc="0" normalizeH="0" noProof="0" dirty="0" err="1">
                <a:ln>
                  <a:noFill/>
                </a:ln>
                <a:solidFill>
                  <a:srgbClr val="0099FF"/>
                </a:solidFill>
                <a:effectLst/>
                <a:uLnTx/>
                <a:uFillTx/>
                <a:latin typeface="Calibri"/>
                <a:ea typeface="+mn-ea"/>
                <a:cs typeface="+mn-cs"/>
              </a:rPr>
              <a:t>Continuous</a:t>
            </a:r>
            <a:r>
              <a:rPr lang="nl-BE" sz="1400" b="1" dirty="0">
                <a:solidFill>
                  <a:srgbClr val="0099FF"/>
                </a:solidFill>
                <a:latin typeface="Calibri"/>
              </a:rPr>
              <a:t> Integration</a:t>
            </a:r>
            <a:r>
              <a:rPr kumimoji="0" lang="nl-BE" sz="1400" b="1" i="0" u="none" strike="noStrike" kern="1200" cap="none" spc="0" normalizeH="0" noProof="0" dirty="0">
                <a:ln>
                  <a:noFill/>
                </a:ln>
                <a:solidFill>
                  <a:srgbClr val="0099FF"/>
                </a:solidFill>
                <a:effectLst/>
                <a:uLnTx/>
                <a:uFillTx/>
                <a:latin typeface="Calibri"/>
                <a:ea typeface="+mn-ea"/>
                <a:cs typeface="+mn-cs"/>
              </a:rPr>
              <a:t>)</a:t>
            </a:r>
            <a:endParaRPr kumimoji="0" sz="1400" b="1" i="0" u="none" strike="noStrike" kern="1200" cap="none" spc="0" normalizeH="0" baseline="0" noProof="0" dirty="0">
              <a:ln>
                <a:noFill/>
              </a:ln>
              <a:solidFill>
                <a:srgbClr val="0099FF"/>
              </a:solidFill>
              <a:effectLst/>
              <a:uLnTx/>
              <a:uFillTx/>
              <a:latin typeface="Calibri"/>
              <a:ea typeface="+mn-ea"/>
              <a:cs typeface="+mn-cs"/>
            </a:endParaRPr>
          </a:p>
        </p:txBody>
      </p:sp>
      <p:sp>
        <p:nvSpPr>
          <p:cNvPr id="10" name="TextBox 7">
            <a:extLst>
              <a:ext uri="{FF2B5EF4-FFF2-40B4-BE49-F238E27FC236}">
                <a16:creationId xmlns:a16="http://schemas.microsoft.com/office/drawing/2014/main" id="{C0DD8B40-93B4-C553-2259-FFA12C02A970}"/>
              </a:ext>
            </a:extLst>
          </p:cNvPr>
          <p:cNvSpPr txBox="1"/>
          <p:nvPr/>
        </p:nvSpPr>
        <p:spPr>
          <a:xfrm>
            <a:off x="386709" y="3994723"/>
            <a:ext cx="2352375"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1400" b="1" i="0" u="none" strike="noStrike" kern="1200" cap="none" spc="0" normalizeH="0" baseline="0" noProof="0" dirty="0">
                <a:ln>
                  <a:noFill/>
                </a:ln>
                <a:solidFill>
                  <a:srgbClr val="0099FF"/>
                </a:solidFill>
                <a:effectLst/>
                <a:uLnTx/>
                <a:uFillTx/>
                <a:latin typeface="Calibri"/>
                <a:ea typeface="+mn-ea"/>
                <a:cs typeface="+mn-cs"/>
              </a:rPr>
              <a:t>CD</a:t>
            </a:r>
            <a:r>
              <a:rPr kumimoji="0" lang="nl-BE" sz="1400" b="1" i="0" u="none" strike="noStrike" kern="1200" cap="none" spc="0" normalizeH="0" noProof="0" dirty="0">
                <a:ln>
                  <a:noFill/>
                </a:ln>
                <a:solidFill>
                  <a:srgbClr val="0099FF"/>
                </a:solidFill>
                <a:effectLst/>
                <a:uLnTx/>
                <a:uFillTx/>
                <a:latin typeface="Calibri"/>
                <a:ea typeface="+mn-ea"/>
                <a:cs typeface="+mn-cs"/>
              </a:rPr>
              <a:t> (</a:t>
            </a:r>
            <a:r>
              <a:rPr kumimoji="0" lang="nl-BE" sz="1400" b="1" i="0" u="none" strike="noStrike" kern="1200" cap="none" spc="0" normalizeH="0" noProof="0" dirty="0" err="1">
                <a:ln>
                  <a:noFill/>
                </a:ln>
                <a:solidFill>
                  <a:srgbClr val="0099FF"/>
                </a:solidFill>
                <a:effectLst/>
                <a:uLnTx/>
                <a:uFillTx/>
                <a:latin typeface="Calibri"/>
                <a:ea typeface="+mn-ea"/>
                <a:cs typeface="+mn-cs"/>
              </a:rPr>
              <a:t>Continuous</a:t>
            </a:r>
            <a:r>
              <a:rPr kumimoji="0" lang="nl-BE" sz="1400" b="1" i="0" u="none" strike="noStrike" kern="1200" cap="none" spc="0" normalizeH="0" noProof="0" dirty="0">
                <a:ln>
                  <a:noFill/>
                </a:ln>
                <a:solidFill>
                  <a:srgbClr val="0099FF"/>
                </a:solidFill>
                <a:effectLst/>
                <a:uLnTx/>
                <a:uFillTx/>
                <a:latin typeface="Calibri"/>
                <a:ea typeface="+mn-ea"/>
                <a:cs typeface="+mn-cs"/>
              </a:rPr>
              <a:t> Deployment)</a:t>
            </a:r>
            <a:endParaRPr kumimoji="0" sz="1400" b="1" i="0" u="none" strike="noStrike" kern="1200" cap="none" spc="0" normalizeH="0" baseline="0" noProof="0" dirty="0">
              <a:ln>
                <a:noFill/>
              </a:ln>
              <a:solidFill>
                <a:srgbClr val="0099FF"/>
              </a:solidFill>
              <a:effectLst/>
              <a:uLnTx/>
              <a:uFillTx/>
              <a:latin typeface="Calibri"/>
              <a:ea typeface="+mn-ea"/>
              <a:cs typeface="+mn-cs"/>
            </a:endParaRPr>
          </a:p>
        </p:txBody>
      </p:sp>
      <p:sp>
        <p:nvSpPr>
          <p:cNvPr id="11" name="TextBox 8">
            <a:extLst>
              <a:ext uri="{FF2B5EF4-FFF2-40B4-BE49-F238E27FC236}">
                <a16:creationId xmlns:a16="http://schemas.microsoft.com/office/drawing/2014/main" id="{A00ECA54-4B4D-B403-B470-09FA1870E73F}"/>
              </a:ext>
            </a:extLst>
          </p:cNvPr>
          <p:cNvSpPr txBox="1"/>
          <p:nvPr/>
        </p:nvSpPr>
        <p:spPr>
          <a:xfrm>
            <a:off x="365125" y="1731805"/>
            <a:ext cx="5550535" cy="1515158"/>
          </a:xfrm>
          <a:prstGeom prst="rect">
            <a:avLst/>
          </a:prstGeom>
          <a:noFill/>
        </p:spPr>
        <p:txBody>
          <a:bodyPr wrap="square">
            <a:spAutoFit/>
          </a:bodyPr>
          <a:lstStyle/>
          <a:p>
            <a:pPr marL="285750" lvl="0" indent="-285750">
              <a:lnSpc>
                <a:spcPct val="120000"/>
              </a:lnSpc>
              <a:spcBef>
                <a:spcPts val="300"/>
              </a:spcBef>
              <a:buFont typeface="Arial" panose="020B0604020202020204" pitchFamily="34" charset="0"/>
              <a:buChar char="•"/>
            </a:pPr>
            <a:r>
              <a:rPr kumimoji="0" lang="nl-BE" sz="1800" i="0" u="none" strike="noStrike" kern="1200" cap="none" spc="0" normalizeH="0" baseline="0" noProof="0" dirty="0">
                <a:ln>
                  <a:noFill/>
                </a:ln>
                <a:solidFill>
                  <a:srgbClr val="B0C4D8"/>
                </a:solidFill>
                <a:effectLst/>
                <a:uLnTx/>
                <a:uFillTx/>
                <a:latin typeface="Calibri"/>
              </a:rPr>
              <a:t>80%</a:t>
            </a:r>
            <a:r>
              <a:rPr kumimoji="0" lang="nl-BE" sz="1800" i="0" u="none" strike="noStrike" kern="1200" cap="none" spc="0" normalizeH="0" noProof="0" dirty="0">
                <a:ln>
                  <a:noFill/>
                </a:ln>
                <a:solidFill>
                  <a:srgbClr val="B0C4D8"/>
                </a:solidFill>
                <a:effectLst/>
                <a:uLnTx/>
                <a:uFillTx/>
                <a:latin typeface="Calibri"/>
              </a:rPr>
              <a:t> code </a:t>
            </a:r>
            <a:r>
              <a:rPr kumimoji="0" lang="nl-BE" sz="1800" i="0" u="none" strike="noStrike" kern="1200" cap="none" spc="0" normalizeH="0" noProof="0" dirty="0" err="1">
                <a:ln>
                  <a:noFill/>
                </a:ln>
                <a:solidFill>
                  <a:srgbClr val="B0C4D8"/>
                </a:solidFill>
                <a:effectLst/>
                <a:uLnTx/>
                <a:uFillTx/>
                <a:latin typeface="Calibri"/>
              </a:rPr>
              <a:t>coverage</a:t>
            </a:r>
            <a:r>
              <a:rPr kumimoji="0" lang="nl-BE" sz="1800" i="0" u="none" strike="noStrike" kern="1200" cap="none" spc="0" normalizeH="0" noProof="0" dirty="0">
                <a:ln>
                  <a:noFill/>
                </a:ln>
                <a:solidFill>
                  <a:srgbClr val="B0C4D8"/>
                </a:solidFill>
                <a:effectLst/>
                <a:uLnTx/>
                <a:uFillTx/>
                <a:latin typeface="Calibri"/>
              </a:rPr>
              <a:t> (</a:t>
            </a:r>
            <a:r>
              <a:rPr kumimoji="0" lang="nl-BE" sz="1800" i="0" u="none" strike="noStrike" kern="1200" cap="none" spc="0" normalizeH="0" noProof="0" dirty="0" err="1">
                <a:ln>
                  <a:noFill/>
                </a:ln>
                <a:solidFill>
                  <a:srgbClr val="B0C4D8"/>
                </a:solidFill>
                <a:effectLst/>
                <a:uLnTx/>
                <a:uFillTx/>
                <a:latin typeface="Calibri"/>
              </a:rPr>
              <a:t>Frontend</a:t>
            </a:r>
            <a:r>
              <a:rPr lang="nl-BE" dirty="0">
                <a:solidFill>
                  <a:srgbClr val="B0C4D8"/>
                </a:solidFill>
                <a:latin typeface="Calibri"/>
              </a:rPr>
              <a:t> &amp; Backend</a:t>
            </a:r>
            <a:r>
              <a:rPr kumimoji="0" lang="nl-BE" sz="1800" i="0" u="none" strike="noStrike" kern="1200" cap="none" spc="0" normalizeH="0" noProof="0" dirty="0">
                <a:ln>
                  <a:noFill/>
                </a:ln>
                <a:solidFill>
                  <a:srgbClr val="B0C4D8"/>
                </a:solidFill>
                <a:effectLst/>
                <a:uLnTx/>
                <a:uFillTx/>
                <a:latin typeface="Calibri"/>
              </a:rPr>
              <a:t>)</a:t>
            </a:r>
          </a:p>
          <a:p>
            <a:pPr marL="285750" lvl="0" indent="-285750">
              <a:lnSpc>
                <a:spcPct val="120000"/>
              </a:lnSpc>
              <a:spcBef>
                <a:spcPts val="300"/>
              </a:spcBef>
              <a:buFont typeface="Arial" panose="020B0604020202020204" pitchFamily="34" charset="0"/>
              <a:buChar char="•"/>
            </a:pPr>
            <a:r>
              <a:rPr lang="nl-BE" dirty="0">
                <a:solidFill>
                  <a:srgbClr val="B0C4D8"/>
                </a:solidFill>
                <a:latin typeface="Calibri"/>
              </a:rPr>
              <a:t>Containers builden</a:t>
            </a:r>
          </a:p>
          <a:p>
            <a:pPr marL="285750" lvl="0" indent="-285750">
              <a:lnSpc>
                <a:spcPct val="120000"/>
              </a:lnSpc>
              <a:spcBef>
                <a:spcPts val="300"/>
              </a:spcBef>
              <a:buFont typeface="Arial" panose="020B0604020202020204" pitchFamily="34" charset="0"/>
              <a:buChar char="•"/>
            </a:pPr>
            <a:r>
              <a:rPr kumimoji="0" lang="nl-BE" sz="1800" i="0" u="none" strike="noStrike" kern="1200" cap="none" spc="0" normalizeH="0" noProof="0" dirty="0">
                <a:ln>
                  <a:noFill/>
                </a:ln>
                <a:solidFill>
                  <a:srgbClr val="B0C4D8"/>
                </a:solidFill>
                <a:effectLst/>
                <a:uLnTx/>
                <a:uFillTx/>
                <a:latin typeface="Calibri"/>
              </a:rPr>
              <a:t>Unit testen</a:t>
            </a:r>
          </a:p>
          <a:p>
            <a:pPr marL="285750" lvl="0" indent="-285750">
              <a:lnSpc>
                <a:spcPct val="120000"/>
              </a:lnSpc>
              <a:spcBef>
                <a:spcPts val="300"/>
              </a:spcBef>
              <a:buFont typeface="Arial" panose="020B0604020202020204" pitchFamily="34" charset="0"/>
              <a:buChar char="•"/>
            </a:pPr>
            <a:endParaRPr kumimoji="0" sz="1800" i="0" u="none" strike="noStrike" kern="1200" cap="none" spc="0" normalizeH="0" baseline="0" noProof="0" dirty="0">
              <a:ln>
                <a:noFill/>
              </a:ln>
              <a:solidFill>
                <a:srgbClr val="B0C4D8"/>
              </a:solidFill>
              <a:effectLst/>
              <a:uLnTx/>
              <a:uFillTx/>
              <a:latin typeface="Calibri"/>
            </a:endParaRPr>
          </a:p>
        </p:txBody>
      </p:sp>
      <p:sp>
        <p:nvSpPr>
          <p:cNvPr id="13" name="TextBox 8">
            <a:extLst>
              <a:ext uri="{FF2B5EF4-FFF2-40B4-BE49-F238E27FC236}">
                <a16:creationId xmlns:a16="http://schemas.microsoft.com/office/drawing/2014/main" id="{2CB3B6FC-C496-DA9A-1C9F-D41DAF9AF22F}"/>
              </a:ext>
            </a:extLst>
          </p:cNvPr>
          <p:cNvSpPr txBox="1"/>
          <p:nvPr/>
        </p:nvSpPr>
        <p:spPr>
          <a:xfrm>
            <a:off x="333375" y="4384340"/>
            <a:ext cx="5550535" cy="773417"/>
          </a:xfrm>
          <a:prstGeom prst="rect">
            <a:avLst/>
          </a:prstGeom>
          <a:noFill/>
        </p:spPr>
        <p:txBody>
          <a:bodyPr wrap="square">
            <a:spAutoFit/>
          </a:bodyPr>
          <a:lstStyle/>
          <a:p>
            <a:pPr marL="285750" lvl="0" indent="-285750">
              <a:lnSpc>
                <a:spcPct val="120000"/>
              </a:lnSpc>
              <a:spcBef>
                <a:spcPts val="300"/>
              </a:spcBef>
              <a:buFont typeface="Arial" panose="020B0604020202020204" pitchFamily="34" charset="0"/>
              <a:buChar char="•"/>
            </a:pPr>
            <a:r>
              <a:rPr lang="nl-BE" dirty="0" err="1">
                <a:solidFill>
                  <a:srgbClr val="B0C4D8"/>
                </a:solidFill>
                <a:latin typeface="Calibri"/>
              </a:rPr>
              <a:t>Branch</a:t>
            </a:r>
            <a:r>
              <a:rPr lang="nl-BE" dirty="0">
                <a:solidFill>
                  <a:srgbClr val="B0C4D8"/>
                </a:solidFill>
                <a:latin typeface="Calibri"/>
              </a:rPr>
              <a:t> (</a:t>
            </a:r>
            <a:r>
              <a:rPr lang="nl-BE" dirty="0" err="1">
                <a:solidFill>
                  <a:srgbClr val="B0C4D8"/>
                </a:solidFill>
                <a:latin typeface="Calibri"/>
              </a:rPr>
              <a:t>Main</a:t>
            </a:r>
            <a:r>
              <a:rPr lang="nl-BE" dirty="0">
                <a:solidFill>
                  <a:srgbClr val="B0C4D8"/>
                </a:solidFill>
                <a:latin typeface="Calibri"/>
              </a:rPr>
              <a:t>) </a:t>
            </a:r>
            <a:r>
              <a:rPr lang="nl-BE" dirty="0">
                <a:solidFill>
                  <a:srgbClr val="B0C4D8"/>
                </a:solidFill>
                <a:latin typeface="Calibri"/>
                <a:sym typeface="Wingdings" panose="05000000000000000000" pitchFamily="2" charset="2"/>
              </a:rPr>
              <a:t> </a:t>
            </a:r>
            <a:r>
              <a:rPr lang="nl-BE" dirty="0" err="1">
                <a:solidFill>
                  <a:srgbClr val="B0C4D8"/>
                </a:solidFill>
                <a:latin typeface="Calibri"/>
                <a:sym typeface="Wingdings" panose="05000000000000000000" pitchFamily="2" charset="2"/>
              </a:rPr>
              <a:t>Dockerhub</a:t>
            </a:r>
            <a:endParaRPr lang="nl-BE" dirty="0">
              <a:solidFill>
                <a:srgbClr val="B0C4D8"/>
              </a:solidFill>
              <a:latin typeface="Calibri"/>
              <a:sym typeface="Wingdings" panose="05000000000000000000" pitchFamily="2" charset="2"/>
            </a:endParaRPr>
          </a:p>
          <a:p>
            <a:pPr marL="285750" lvl="0" indent="-285750">
              <a:lnSpc>
                <a:spcPct val="120000"/>
              </a:lnSpc>
              <a:spcBef>
                <a:spcPts val="300"/>
              </a:spcBef>
              <a:buFont typeface="Arial" panose="020B0604020202020204" pitchFamily="34" charset="0"/>
              <a:buChar char="•"/>
            </a:pPr>
            <a:r>
              <a:rPr kumimoji="0" lang="nl-BE" sz="1800" i="0" u="none" strike="noStrike" kern="1200" cap="none" spc="0" normalizeH="0" baseline="0" noProof="0" dirty="0">
                <a:ln>
                  <a:noFill/>
                </a:ln>
                <a:solidFill>
                  <a:srgbClr val="B0C4D8"/>
                </a:solidFill>
                <a:effectLst/>
                <a:uLnTx/>
                <a:uFillTx/>
                <a:latin typeface="Calibri"/>
                <a:sym typeface="Wingdings" panose="05000000000000000000" pitchFamily="2" charset="2"/>
              </a:rPr>
              <a:t>Update README badges</a:t>
            </a:r>
            <a:endParaRPr kumimoji="0" sz="1800" i="0" u="none" strike="noStrike" kern="1200" cap="none" spc="0" normalizeH="0" baseline="0" noProof="0" dirty="0">
              <a:ln>
                <a:noFill/>
              </a:ln>
              <a:solidFill>
                <a:srgbClr val="B0C4D8"/>
              </a:solidFill>
              <a:effectLst/>
              <a:uLnTx/>
              <a:uFillTx/>
              <a:latin typeface="Calibri"/>
            </a:endParaRPr>
          </a:p>
        </p:txBody>
      </p:sp>
    </p:spTree>
    <p:extLst>
      <p:ext uri="{BB962C8B-B14F-4D97-AF65-F5344CB8AC3E}">
        <p14:creationId xmlns:p14="http://schemas.microsoft.com/office/powerpoint/2010/main" val="3555539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2FE9610F-53A7-E5AF-A7AC-5C9EDE5397E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EABDEC8-903A-8472-2D64-71A386EA436C}"/>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535BAE86-895B-830A-D12F-CC8C8E830E02}"/>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7CF27FE2-CCDF-2ED5-69BB-8ED5D32F2163}"/>
              </a:ext>
            </a:extLst>
          </p:cNvPr>
          <p:cNvSpPr txBox="1"/>
          <p:nvPr/>
        </p:nvSpPr>
        <p:spPr>
          <a:xfrm>
            <a:off x="1371600" y="1645920"/>
            <a:ext cx="9144000" cy="230832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l-BE" sz="7200" b="1" dirty="0">
                <a:solidFill>
                  <a:srgbClr val="0099FF"/>
                </a:solidFill>
                <a:latin typeface="Calibri"/>
              </a:rPr>
              <a:t>Ontwikkeling &amp; Sprints</a:t>
            </a: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C1C441F3-FE35-94FB-9DF2-02475A2AA440}"/>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52459581-3458-C9A1-5410-58DAD2FF9FB9}"/>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86690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BB71566F-36FF-CCF0-4419-8EFE84EBC1F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5AC9725-50C7-0494-F0A3-4DE8AC080B88}"/>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0EE46F36-45F6-EDE8-CB70-E2DD9B7533E8}"/>
              </a:ext>
            </a:extLst>
          </p:cNvPr>
          <p:cNvSpPr/>
          <p:nvPr/>
        </p:nvSpPr>
        <p:spPr>
          <a:xfrm>
            <a:off x="0" y="0"/>
            <a:ext cx="73152" cy="100584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A34F2F36-46D6-614E-F9EF-AAA35026B198}"/>
              </a:ext>
            </a:extLst>
          </p:cNvPr>
          <p:cNvSpPr txBox="1"/>
          <p:nvPr/>
        </p:nvSpPr>
        <p:spPr>
          <a:xfrm>
            <a:off x="201168" y="73152"/>
            <a:ext cx="3845861"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3000" b="1" i="0" u="none" strike="noStrike" kern="1200" cap="none" spc="0" normalizeH="0" baseline="0" noProof="0" dirty="0">
                <a:ln>
                  <a:noFill/>
                </a:ln>
                <a:solidFill>
                  <a:srgbClr val="FFFFFF"/>
                </a:solidFill>
                <a:effectLst/>
                <a:uLnTx/>
                <a:uFillTx/>
                <a:latin typeface="Calibri"/>
                <a:ea typeface="+mn-ea"/>
                <a:cs typeface="+mn-cs"/>
              </a:rPr>
              <a:t>Ontwikkeling &amp; Sprints</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41" name="Tijdelijke aanduiding voor dianummer 40">
            <a:extLst>
              <a:ext uri="{FF2B5EF4-FFF2-40B4-BE49-F238E27FC236}">
                <a16:creationId xmlns:a16="http://schemas.microsoft.com/office/drawing/2014/main" id="{2C81A32A-0856-7E10-2130-9DB7FE717092}"/>
              </a:ext>
            </a:extLst>
          </p:cNvPr>
          <p:cNvSpPr>
            <a:spLocks noGrp="1"/>
          </p:cNvSpPr>
          <p:nvPr>
            <p:ph type="sldNum" sz="quarter" idx="12"/>
          </p:nvPr>
        </p:nvSpPr>
        <p:spPr>
          <a:xfrm>
            <a:off x="10055352" y="6492875"/>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0" name="Afbeelding 9">
            <a:extLst>
              <a:ext uri="{FF2B5EF4-FFF2-40B4-BE49-F238E27FC236}">
                <a16:creationId xmlns:a16="http://schemas.microsoft.com/office/drawing/2014/main" id="{A9B6BDEC-EDAF-A3E1-4ECC-89296C46F30D}"/>
              </a:ext>
            </a:extLst>
          </p:cNvPr>
          <p:cNvPicPr>
            <a:picLocks noChangeAspect="1"/>
          </p:cNvPicPr>
          <p:nvPr/>
        </p:nvPicPr>
        <p:blipFill>
          <a:blip r:embed="rId2"/>
          <a:stretch>
            <a:fillRect/>
          </a:stretch>
        </p:blipFill>
        <p:spPr>
          <a:xfrm>
            <a:off x="-1" y="1005840"/>
            <a:ext cx="12188825" cy="5487035"/>
          </a:xfrm>
          <a:prstGeom prst="rect">
            <a:avLst/>
          </a:prstGeom>
        </p:spPr>
      </p:pic>
    </p:spTree>
    <p:extLst>
      <p:ext uri="{BB962C8B-B14F-4D97-AF65-F5344CB8AC3E}">
        <p14:creationId xmlns:p14="http://schemas.microsoft.com/office/powerpoint/2010/main" val="3972712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D58F3655-E291-27F9-E091-CB25DC9512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37CD5BD-124A-4209-5CEB-6D6AB372ADE0}"/>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D79A6D4A-A685-33F0-707F-7DB51D3BA4FA}"/>
              </a:ext>
            </a:extLst>
          </p:cNvPr>
          <p:cNvSpPr/>
          <p:nvPr/>
        </p:nvSpPr>
        <p:spPr>
          <a:xfrm>
            <a:off x="0" y="0"/>
            <a:ext cx="73152" cy="100584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D6A6F9EC-8E34-10CF-835A-976646255F4C}"/>
              </a:ext>
            </a:extLst>
          </p:cNvPr>
          <p:cNvSpPr txBox="1"/>
          <p:nvPr/>
        </p:nvSpPr>
        <p:spPr>
          <a:xfrm>
            <a:off x="201168" y="73152"/>
            <a:ext cx="3845861"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3000" b="1" i="0" u="none" strike="noStrike" kern="1200" cap="none" spc="0" normalizeH="0" baseline="0" noProof="0" dirty="0">
                <a:ln>
                  <a:noFill/>
                </a:ln>
                <a:solidFill>
                  <a:srgbClr val="FFFFFF"/>
                </a:solidFill>
                <a:effectLst/>
                <a:uLnTx/>
                <a:uFillTx/>
                <a:latin typeface="Calibri"/>
                <a:ea typeface="+mn-ea"/>
                <a:cs typeface="+mn-cs"/>
              </a:rPr>
              <a:t>Ontwikkeling &amp; Sprints</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41" name="Tijdelijke aanduiding voor dianummer 40">
            <a:extLst>
              <a:ext uri="{FF2B5EF4-FFF2-40B4-BE49-F238E27FC236}">
                <a16:creationId xmlns:a16="http://schemas.microsoft.com/office/drawing/2014/main" id="{B0AA3FD8-0FCF-E713-3D29-516A350C0148}"/>
              </a:ext>
            </a:extLst>
          </p:cNvPr>
          <p:cNvSpPr>
            <a:spLocks noGrp="1"/>
          </p:cNvSpPr>
          <p:nvPr>
            <p:ph type="sldNum" sz="quarter" idx="12"/>
          </p:nvPr>
        </p:nvSpPr>
        <p:spPr>
          <a:xfrm>
            <a:off x="10055352" y="6492875"/>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Afbeelding 5">
            <a:extLst>
              <a:ext uri="{FF2B5EF4-FFF2-40B4-BE49-F238E27FC236}">
                <a16:creationId xmlns:a16="http://schemas.microsoft.com/office/drawing/2014/main" id="{65332581-D5EA-0F59-68CD-E694B127E15C}"/>
              </a:ext>
            </a:extLst>
          </p:cNvPr>
          <p:cNvPicPr>
            <a:picLocks noChangeAspect="1"/>
          </p:cNvPicPr>
          <p:nvPr/>
        </p:nvPicPr>
        <p:blipFill>
          <a:blip r:embed="rId2"/>
          <a:stretch>
            <a:fillRect/>
          </a:stretch>
        </p:blipFill>
        <p:spPr>
          <a:xfrm>
            <a:off x="-1" y="1021079"/>
            <a:ext cx="12188825" cy="5471795"/>
          </a:xfrm>
          <a:prstGeom prst="rect">
            <a:avLst/>
          </a:prstGeom>
        </p:spPr>
      </p:pic>
    </p:spTree>
    <p:extLst>
      <p:ext uri="{BB962C8B-B14F-4D97-AF65-F5344CB8AC3E}">
        <p14:creationId xmlns:p14="http://schemas.microsoft.com/office/powerpoint/2010/main" val="2680518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959FAFC2-60F2-8066-D3DD-7B33DA33A8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14FC2BA-52A1-0974-B9AB-26AC87C2C379}"/>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F0B18A63-6253-48E4-7AFA-746D039602DA}"/>
              </a:ext>
            </a:extLst>
          </p:cNvPr>
          <p:cNvSpPr/>
          <p:nvPr/>
        </p:nvSpPr>
        <p:spPr>
          <a:xfrm>
            <a:off x="0" y="0"/>
            <a:ext cx="73152" cy="100584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C2F26BE2-A52C-8E37-D6C7-38C0CD499B90}"/>
              </a:ext>
            </a:extLst>
          </p:cNvPr>
          <p:cNvSpPr txBox="1"/>
          <p:nvPr/>
        </p:nvSpPr>
        <p:spPr>
          <a:xfrm>
            <a:off x="201168" y="73152"/>
            <a:ext cx="3845861"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3000" b="1" i="0" u="none" strike="noStrike" kern="1200" cap="none" spc="0" normalizeH="0" baseline="0" noProof="0" dirty="0">
                <a:ln>
                  <a:noFill/>
                </a:ln>
                <a:solidFill>
                  <a:srgbClr val="FFFFFF"/>
                </a:solidFill>
                <a:effectLst/>
                <a:uLnTx/>
                <a:uFillTx/>
                <a:latin typeface="Calibri"/>
                <a:ea typeface="+mn-ea"/>
                <a:cs typeface="+mn-cs"/>
              </a:rPr>
              <a:t>Ontwikkeling &amp; Sprints</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41" name="Tijdelijke aanduiding voor dianummer 40">
            <a:extLst>
              <a:ext uri="{FF2B5EF4-FFF2-40B4-BE49-F238E27FC236}">
                <a16:creationId xmlns:a16="http://schemas.microsoft.com/office/drawing/2014/main" id="{1298976E-F3C3-AFCF-9CAC-FB0ABF102338}"/>
              </a:ext>
            </a:extLst>
          </p:cNvPr>
          <p:cNvSpPr>
            <a:spLocks noGrp="1"/>
          </p:cNvSpPr>
          <p:nvPr>
            <p:ph type="sldNum" sz="quarter" idx="12"/>
          </p:nvPr>
        </p:nvSpPr>
        <p:spPr>
          <a:xfrm>
            <a:off x="10055352" y="6492875"/>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Afbeelding 5">
            <a:extLst>
              <a:ext uri="{FF2B5EF4-FFF2-40B4-BE49-F238E27FC236}">
                <a16:creationId xmlns:a16="http://schemas.microsoft.com/office/drawing/2014/main" id="{3D2A65BB-038F-6728-CBF6-1AEA8243730A}"/>
              </a:ext>
            </a:extLst>
          </p:cNvPr>
          <p:cNvPicPr>
            <a:picLocks noChangeAspect="1"/>
          </p:cNvPicPr>
          <p:nvPr/>
        </p:nvPicPr>
        <p:blipFill>
          <a:blip r:embed="rId2"/>
          <a:stretch>
            <a:fillRect/>
          </a:stretch>
        </p:blipFill>
        <p:spPr>
          <a:xfrm>
            <a:off x="-1" y="1005839"/>
            <a:ext cx="12188825" cy="5487035"/>
          </a:xfrm>
          <a:prstGeom prst="rect">
            <a:avLst/>
          </a:prstGeom>
        </p:spPr>
      </p:pic>
    </p:spTree>
    <p:extLst>
      <p:ext uri="{BB962C8B-B14F-4D97-AF65-F5344CB8AC3E}">
        <p14:creationId xmlns:p14="http://schemas.microsoft.com/office/powerpoint/2010/main" val="379990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8D26B65A-C4EC-5DE0-3B7A-781977B9A43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E787AB9-C921-5312-46F4-939604228AD6}"/>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F5FF3406-3B37-754B-CDED-A25A9D1D4011}"/>
              </a:ext>
            </a:extLst>
          </p:cNvPr>
          <p:cNvSpPr/>
          <p:nvPr/>
        </p:nvSpPr>
        <p:spPr>
          <a:xfrm>
            <a:off x="0" y="0"/>
            <a:ext cx="73152" cy="100584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2230EA45-7526-AB10-F70A-B501AAC4F9CD}"/>
              </a:ext>
            </a:extLst>
          </p:cNvPr>
          <p:cNvSpPr txBox="1"/>
          <p:nvPr/>
        </p:nvSpPr>
        <p:spPr>
          <a:xfrm>
            <a:off x="201168" y="73152"/>
            <a:ext cx="3845861"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l-BE" sz="3000" b="1" dirty="0">
                <a:solidFill>
                  <a:srgbClr val="FFFFFF"/>
                </a:solidFill>
                <a:latin typeface="Calibri"/>
              </a:rPr>
              <a:t>Ontwikkeling &amp; Sprints</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E7531E8F-00D2-96C2-7707-0BC2BFD60D54}"/>
              </a:ext>
            </a:extLst>
          </p:cNvPr>
          <p:cNvSpPr/>
          <p:nvPr/>
        </p:nvSpPr>
        <p:spPr>
          <a:xfrm>
            <a:off x="274320" y="1188720"/>
            <a:ext cx="5577840" cy="534924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41AFC9B6-5400-6B81-5590-18A22F499A1D}"/>
              </a:ext>
            </a:extLst>
          </p:cNvPr>
          <p:cNvSpPr/>
          <p:nvPr/>
        </p:nvSpPr>
        <p:spPr>
          <a:xfrm>
            <a:off x="274320" y="1188720"/>
            <a:ext cx="5577840" cy="36576"/>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2B9F6450-9646-E81E-F895-73689577B7A5}"/>
              </a:ext>
            </a:extLst>
          </p:cNvPr>
          <p:cNvSpPr txBox="1"/>
          <p:nvPr/>
        </p:nvSpPr>
        <p:spPr>
          <a:xfrm>
            <a:off x="411480" y="1261872"/>
            <a:ext cx="1370632"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0099FF"/>
                </a:solidFill>
                <a:effectLst/>
                <a:uLnTx/>
                <a:uFillTx/>
                <a:latin typeface="Calibri"/>
                <a:ea typeface="+mn-ea"/>
                <a:cs typeface="+mn-cs"/>
              </a:rPr>
              <a:t>Wat </a:t>
            </a:r>
            <a:r>
              <a:rPr lang="nl-BE" sz="1400" b="1" dirty="0">
                <a:solidFill>
                  <a:srgbClr val="0099FF"/>
                </a:solidFill>
                <a:latin typeface="Calibri"/>
              </a:rPr>
              <a:t>ging goed </a:t>
            </a:r>
            <a:r>
              <a:rPr kumimoji="0" sz="1400" b="1" i="0" u="none" strike="noStrike" kern="1200" cap="none" spc="0" normalizeH="0" baseline="0" noProof="0" dirty="0">
                <a:ln>
                  <a:noFill/>
                </a:ln>
                <a:solidFill>
                  <a:srgbClr val="0099FF"/>
                </a:solidFill>
                <a:effectLst/>
                <a:uLnTx/>
                <a:uFillTx/>
                <a:latin typeface="Calibri"/>
                <a:ea typeface="+mn-ea"/>
                <a:cs typeface="+mn-cs"/>
              </a:rPr>
              <a:t>?</a:t>
            </a:r>
          </a:p>
        </p:txBody>
      </p:sp>
      <p:sp>
        <p:nvSpPr>
          <p:cNvPr id="9" name="TextBox 8">
            <a:extLst>
              <a:ext uri="{FF2B5EF4-FFF2-40B4-BE49-F238E27FC236}">
                <a16:creationId xmlns:a16="http://schemas.microsoft.com/office/drawing/2014/main" id="{61DD5935-42D5-A0C9-F9CA-C2957BFFDAA9}"/>
              </a:ext>
            </a:extLst>
          </p:cNvPr>
          <p:cNvSpPr txBox="1"/>
          <p:nvPr/>
        </p:nvSpPr>
        <p:spPr>
          <a:xfrm>
            <a:off x="468471" y="1691640"/>
            <a:ext cx="5550535" cy="2916183"/>
          </a:xfrm>
          <a:prstGeom prst="rect">
            <a:avLst/>
          </a:prstGeom>
          <a:noFill/>
        </p:spPr>
        <p:txBody>
          <a:bodyPr wrap="square">
            <a:spAutoFit/>
          </a:bodyPr>
          <a:lstStyle/>
          <a:p>
            <a:pPr marL="0" marR="0" lvl="0" indent="0" algn="l" defTabSz="457200" rtl="0" eaLnBrk="1" fontAlgn="auto" latinLnBrk="0" hangingPunct="1">
              <a:lnSpc>
                <a:spcPct val="150000"/>
              </a:lnSpc>
              <a:spcBef>
                <a:spcPts val="300"/>
              </a:spcBef>
              <a:spcAft>
                <a:spcPts val="0"/>
              </a:spcAft>
              <a:buClrTx/>
              <a:buSzTx/>
              <a:buFontTx/>
              <a:buNone/>
              <a:tabLst/>
              <a:defRPr/>
            </a:pPr>
            <a:r>
              <a:rPr kumimoji="0" lang="nl-BE" sz="1800" b="0" i="0" u="none" strike="noStrike" kern="1200" cap="none" spc="0" normalizeH="0" baseline="0" noProof="0" dirty="0">
                <a:ln>
                  <a:noFill/>
                </a:ln>
                <a:solidFill>
                  <a:srgbClr val="B0C4D8"/>
                </a:solidFill>
                <a:effectLst/>
                <a:uLnTx/>
                <a:uFillTx/>
                <a:latin typeface="Calibri"/>
                <a:ea typeface="+mn-ea"/>
                <a:cs typeface="+mn-cs"/>
              </a:rPr>
              <a:t>🔹 </a:t>
            </a:r>
            <a:r>
              <a:rPr lang="nl-BE" dirty="0">
                <a:solidFill>
                  <a:srgbClr val="B0C4D8"/>
                </a:solidFill>
                <a:latin typeface="Calibri"/>
              </a:rPr>
              <a:t>User </a:t>
            </a:r>
            <a:r>
              <a:rPr lang="nl-BE" dirty="0" err="1">
                <a:solidFill>
                  <a:srgbClr val="B0C4D8"/>
                </a:solidFill>
                <a:latin typeface="Calibri"/>
              </a:rPr>
              <a:t>stories</a:t>
            </a:r>
            <a:r>
              <a:rPr lang="nl-BE" dirty="0">
                <a:solidFill>
                  <a:srgbClr val="B0C4D8"/>
                </a:solidFill>
                <a:latin typeface="Calibri"/>
              </a:rPr>
              <a:t> werden elke week afgewerkt</a:t>
            </a:r>
            <a:endParaRPr kumimoji="0" lang="nl-BE" sz="1800" b="0" i="1" u="none" strike="noStrike" kern="1200" cap="none" spc="0" normalizeH="0" baseline="0" noProof="0" dirty="0">
              <a:ln>
                <a:noFill/>
              </a:ln>
              <a:solidFill>
                <a:srgbClr val="B0C4D8"/>
              </a:solidFill>
              <a:effectLst/>
              <a:uLnTx/>
              <a:uFillTx/>
              <a:latin typeface="Calibri"/>
              <a:ea typeface="+mn-ea"/>
              <a:cs typeface="+mn-cs"/>
            </a:endParaRPr>
          </a:p>
          <a:p>
            <a:pPr marL="0" marR="0" lvl="0" indent="0" algn="l" defTabSz="457200" rtl="0" eaLnBrk="1" fontAlgn="auto" latinLnBrk="0" hangingPunct="1">
              <a:lnSpc>
                <a:spcPct val="150000"/>
              </a:lnSpc>
              <a:spcBef>
                <a:spcPts val="300"/>
              </a:spcBef>
              <a:spcAft>
                <a:spcPts val="0"/>
              </a:spcAft>
              <a:buClrTx/>
              <a:buSzTx/>
              <a:buFontTx/>
              <a:buNone/>
              <a:tabLst/>
              <a:defRPr/>
            </a:pPr>
            <a:r>
              <a:rPr kumimoji="0" lang="nl-BE" sz="1800" b="0" i="0" u="none" strike="noStrike" kern="1200" cap="none" spc="0" normalizeH="0" baseline="0" noProof="0" dirty="0">
                <a:ln>
                  <a:noFill/>
                </a:ln>
                <a:solidFill>
                  <a:srgbClr val="B0C4D8"/>
                </a:solidFill>
                <a:effectLst/>
                <a:uLnTx/>
                <a:uFillTx/>
                <a:latin typeface="Calibri"/>
                <a:ea typeface="+mn-ea"/>
                <a:cs typeface="+mn-cs"/>
              </a:rPr>
              <a:t>🔹 Goede communicatie</a:t>
            </a:r>
          </a:p>
          <a:p>
            <a:pPr marL="0" marR="0" lvl="0" indent="0" algn="l" defTabSz="457200" rtl="0" eaLnBrk="1" fontAlgn="auto" latinLnBrk="0" hangingPunct="1">
              <a:lnSpc>
                <a:spcPct val="150000"/>
              </a:lnSpc>
              <a:spcBef>
                <a:spcPts val="300"/>
              </a:spcBef>
              <a:spcAft>
                <a:spcPts val="0"/>
              </a:spcAft>
              <a:buClrTx/>
              <a:buSzTx/>
              <a:buFontTx/>
              <a:buNone/>
              <a:tabLst/>
              <a:defRPr/>
            </a:pPr>
            <a:r>
              <a:rPr kumimoji="0" lang="nl-BE" sz="1800" b="0" i="0" u="none" strike="noStrike" kern="1200" cap="none" spc="0" normalizeH="0" baseline="0" noProof="0" dirty="0">
                <a:ln>
                  <a:noFill/>
                </a:ln>
                <a:solidFill>
                  <a:srgbClr val="B0C4D8"/>
                </a:solidFill>
                <a:effectLst/>
                <a:uLnTx/>
                <a:uFillTx/>
                <a:latin typeface="Calibri"/>
                <a:ea typeface="+mn-ea"/>
                <a:cs typeface="+mn-cs"/>
              </a:rPr>
              <a:t>🔹Bugs werden zo snel mogelijk</a:t>
            </a:r>
            <a:r>
              <a:rPr kumimoji="0" lang="nl-BE" sz="1800" b="0" i="0" u="none" strike="noStrike" kern="1200" cap="none" spc="0" normalizeH="0" noProof="0" dirty="0">
                <a:ln>
                  <a:noFill/>
                </a:ln>
                <a:solidFill>
                  <a:srgbClr val="B0C4D8"/>
                </a:solidFill>
                <a:effectLst/>
                <a:uLnTx/>
                <a:uFillTx/>
                <a:latin typeface="Calibri"/>
                <a:ea typeface="+mn-ea"/>
                <a:cs typeface="+mn-cs"/>
              </a:rPr>
              <a:t> opgelost</a:t>
            </a:r>
            <a:endParaRPr kumimoji="0" lang="nl-BE" sz="1800" b="0" i="0" u="none" strike="noStrike" kern="1200" cap="none" spc="0" normalizeH="0" baseline="0" noProof="0" dirty="0">
              <a:ln>
                <a:noFill/>
              </a:ln>
              <a:solidFill>
                <a:srgbClr val="B0C4D8"/>
              </a:solidFill>
              <a:effectLst/>
              <a:uLnTx/>
              <a:uFillTx/>
              <a:latin typeface="Calibri"/>
              <a:ea typeface="+mn-ea"/>
              <a:cs typeface="+mn-cs"/>
            </a:endParaRPr>
          </a:p>
          <a:p>
            <a:pPr marL="0" marR="0" lvl="0" indent="0" algn="l" defTabSz="457200" rtl="0" eaLnBrk="1" fontAlgn="auto" latinLnBrk="0" hangingPunct="1">
              <a:lnSpc>
                <a:spcPct val="150000"/>
              </a:lnSpc>
              <a:spcBef>
                <a:spcPts val="300"/>
              </a:spcBef>
              <a:spcAft>
                <a:spcPts val="0"/>
              </a:spcAft>
              <a:buClrTx/>
              <a:buSzTx/>
              <a:buFontTx/>
              <a:buNone/>
              <a:tabLst/>
              <a:defRPr/>
            </a:pPr>
            <a:r>
              <a:rPr kumimoji="0" lang="nl-BE" sz="1800" b="0" i="0" u="none" strike="noStrike" kern="1200" cap="none" spc="0" normalizeH="0" baseline="0" noProof="0" dirty="0">
                <a:ln>
                  <a:noFill/>
                </a:ln>
                <a:solidFill>
                  <a:srgbClr val="B0C4D8"/>
                </a:solidFill>
                <a:effectLst/>
                <a:uLnTx/>
                <a:uFillTx/>
                <a:latin typeface="Calibri"/>
                <a:ea typeface="+mn-ea"/>
                <a:cs typeface="+mn-cs"/>
              </a:rPr>
              <a:t>🔹We hielpen mekaar bij het ondersteunen</a:t>
            </a:r>
            <a:r>
              <a:rPr kumimoji="0" lang="nl-BE" sz="1800" b="0" i="0" u="none" strike="noStrike" kern="1200" cap="none" spc="0" normalizeH="0" noProof="0" dirty="0">
                <a:ln>
                  <a:noFill/>
                </a:ln>
                <a:solidFill>
                  <a:srgbClr val="B0C4D8"/>
                </a:solidFill>
                <a:effectLst/>
                <a:uLnTx/>
                <a:uFillTx/>
                <a:latin typeface="Calibri"/>
                <a:ea typeface="+mn-ea"/>
                <a:cs typeface="+mn-cs"/>
              </a:rPr>
              <a:t> van user </a:t>
            </a:r>
            <a:r>
              <a:rPr kumimoji="0" lang="nl-BE" sz="1800" b="0" i="0" u="none" strike="noStrike" kern="1200" cap="none" spc="0" normalizeH="0" noProof="0" dirty="0" err="1">
                <a:ln>
                  <a:noFill/>
                </a:ln>
                <a:solidFill>
                  <a:srgbClr val="B0C4D8"/>
                </a:solidFill>
                <a:effectLst/>
                <a:uLnTx/>
                <a:uFillTx/>
                <a:latin typeface="Calibri"/>
                <a:ea typeface="+mn-ea"/>
                <a:cs typeface="+mn-cs"/>
              </a:rPr>
              <a:t>stories</a:t>
            </a:r>
            <a:r>
              <a:rPr kumimoji="0" lang="nl-BE" sz="1800" b="0" i="0" u="none" strike="noStrike" kern="1200" cap="none" spc="0" normalizeH="0" noProof="0" dirty="0">
                <a:ln>
                  <a:noFill/>
                </a:ln>
                <a:solidFill>
                  <a:srgbClr val="B0C4D8"/>
                </a:solidFill>
                <a:effectLst/>
                <a:uLnTx/>
                <a:uFillTx/>
                <a:latin typeface="Calibri"/>
                <a:ea typeface="+mn-ea"/>
                <a:cs typeface="+mn-cs"/>
              </a:rPr>
              <a:t> om zo de snelheid hoog te houden</a:t>
            </a:r>
            <a:endParaRPr kumimoji="0" lang="nl-BE" sz="1800" b="0" i="0" u="none" strike="noStrike" kern="1200" cap="none" spc="0" normalizeH="0" baseline="0" noProof="0" dirty="0">
              <a:ln>
                <a:noFill/>
              </a:ln>
              <a:solidFill>
                <a:srgbClr val="B0C4D8"/>
              </a:solidFill>
              <a:effectLst/>
              <a:uLnTx/>
              <a:uFillTx/>
              <a:latin typeface="Calibri"/>
              <a:ea typeface="+mn-ea"/>
              <a:cs typeface="+mn-cs"/>
            </a:endParaRPr>
          </a:p>
          <a:p>
            <a:pPr marL="0" marR="0" lvl="0" indent="0" algn="l" defTabSz="457200" rtl="0" eaLnBrk="1" fontAlgn="auto" latinLnBrk="0" hangingPunct="1">
              <a:lnSpc>
                <a:spcPct val="100000"/>
              </a:lnSpc>
              <a:spcBef>
                <a:spcPts val="300"/>
              </a:spcBef>
              <a:spcAft>
                <a:spcPts val="0"/>
              </a:spcAft>
              <a:buClrTx/>
              <a:buSzTx/>
              <a:buFontTx/>
              <a:buNone/>
              <a:tabLst/>
              <a:defRPr/>
            </a:pPr>
            <a:endParaRPr kumimoji="0" lang="nl-BE" sz="1800" b="0" i="0" u="none" strike="noStrike" kern="1200" cap="none" spc="0" normalizeH="0" baseline="0" noProof="0" dirty="0">
              <a:ln>
                <a:noFill/>
              </a:ln>
              <a:solidFill>
                <a:srgbClr val="B0C4D8"/>
              </a:solidFill>
              <a:effectLst/>
              <a:uLnTx/>
              <a:uFillTx/>
              <a:latin typeface="Calibri"/>
              <a:ea typeface="+mn-ea"/>
              <a:cs typeface="+mn-cs"/>
            </a:endParaRPr>
          </a:p>
          <a:p>
            <a:pPr marL="0" marR="0" lvl="0" indent="0" algn="l" defTabSz="457200" rtl="0" eaLnBrk="1" fontAlgn="auto" latinLnBrk="0" hangingPunct="1">
              <a:lnSpc>
                <a:spcPct val="100000"/>
              </a:lnSpc>
              <a:spcBef>
                <a:spcPts val="300"/>
              </a:spcBef>
              <a:spcAft>
                <a:spcPts val="0"/>
              </a:spcAft>
              <a:buClrTx/>
              <a:buSzTx/>
              <a:buFontTx/>
              <a:buNone/>
              <a:tabLst/>
              <a:defRPr/>
            </a:pPr>
            <a:endParaRPr kumimoji="0" lang="nl-BE" sz="1800" b="0" i="1" u="none" strike="noStrike" kern="1200" cap="none" spc="0" normalizeH="0" baseline="0" noProof="0" dirty="0">
              <a:ln>
                <a:noFill/>
              </a:ln>
              <a:solidFill>
                <a:srgbClr val="B0C4D8"/>
              </a:solidFill>
              <a:effectLst/>
              <a:uLnTx/>
              <a:uFillTx/>
              <a:latin typeface="Calibri"/>
              <a:ea typeface="+mn-ea"/>
              <a:cs typeface="+mn-cs"/>
            </a:endParaRPr>
          </a:p>
        </p:txBody>
      </p:sp>
      <p:sp>
        <p:nvSpPr>
          <p:cNvPr id="41" name="Tijdelijke aanduiding voor dianummer 40">
            <a:extLst>
              <a:ext uri="{FF2B5EF4-FFF2-40B4-BE49-F238E27FC236}">
                <a16:creationId xmlns:a16="http://schemas.microsoft.com/office/drawing/2014/main" id="{556D95DA-4E03-6867-2FA1-44180BCE1C1E}"/>
              </a:ext>
            </a:extLst>
          </p:cNvPr>
          <p:cNvSpPr>
            <a:spLocks noGrp="1"/>
          </p:cNvSpPr>
          <p:nvPr>
            <p:ph type="sldNum" sz="quarter" idx="12"/>
          </p:nvPr>
        </p:nvSpPr>
        <p:spPr>
          <a:xfrm>
            <a:off x="10055352" y="6492875"/>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Rectangle 5">
            <a:extLst>
              <a:ext uri="{FF2B5EF4-FFF2-40B4-BE49-F238E27FC236}">
                <a16:creationId xmlns:a16="http://schemas.microsoft.com/office/drawing/2014/main" id="{7EC167F0-0631-DC79-39AF-CFD4FEDA927C}"/>
              </a:ext>
            </a:extLst>
          </p:cNvPr>
          <p:cNvSpPr/>
          <p:nvPr/>
        </p:nvSpPr>
        <p:spPr>
          <a:xfrm>
            <a:off x="6094412" y="1188720"/>
            <a:ext cx="5577840" cy="534924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6">
            <a:extLst>
              <a:ext uri="{FF2B5EF4-FFF2-40B4-BE49-F238E27FC236}">
                <a16:creationId xmlns:a16="http://schemas.microsoft.com/office/drawing/2014/main" id="{7675ADE4-A4C3-C22C-CDD9-DDB4A5738E23}"/>
              </a:ext>
            </a:extLst>
          </p:cNvPr>
          <p:cNvSpPr/>
          <p:nvPr/>
        </p:nvSpPr>
        <p:spPr>
          <a:xfrm>
            <a:off x="6094412" y="1188720"/>
            <a:ext cx="5577840" cy="36576"/>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7">
            <a:extLst>
              <a:ext uri="{FF2B5EF4-FFF2-40B4-BE49-F238E27FC236}">
                <a16:creationId xmlns:a16="http://schemas.microsoft.com/office/drawing/2014/main" id="{C22CDFA0-0CD3-FEC8-4827-5D22F8A442E9}"/>
              </a:ext>
            </a:extLst>
          </p:cNvPr>
          <p:cNvSpPr txBox="1"/>
          <p:nvPr/>
        </p:nvSpPr>
        <p:spPr>
          <a:xfrm>
            <a:off x="6231572" y="1261872"/>
            <a:ext cx="1947713"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0099FF"/>
                </a:solidFill>
                <a:effectLst/>
                <a:uLnTx/>
                <a:uFillTx/>
                <a:latin typeface="Calibri"/>
                <a:ea typeface="+mn-ea"/>
                <a:cs typeface="+mn-cs"/>
              </a:rPr>
              <a:t>Wat </a:t>
            </a:r>
            <a:r>
              <a:rPr lang="nl-BE" sz="1400" b="1" dirty="0">
                <a:solidFill>
                  <a:srgbClr val="0099FF"/>
                </a:solidFill>
                <a:latin typeface="Calibri"/>
              </a:rPr>
              <a:t>ging minder goed </a:t>
            </a:r>
            <a:r>
              <a:rPr kumimoji="0" sz="1400" b="1" i="0" u="none" strike="noStrike" kern="1200" cap="none" spc="0" normalizeH="0" baseline="0" noProof="0" dirty="0">
                <a:ln>
                  <a:noFill/>
                </a:ln>
                <a:solidFill>
                  <a:srgbClr val="0099FF"/>
                </a:solidFill>
                <a:effectLst/>
                <a:uLnTx/>
                <a:uFillTx/>
                <a:latin typeface="Calibri"/>
                <a:ea typeface="+mn-ea"/>
                <a:cs typeface="+mn-cs"/>
              </a:rPr>
              <a:t>?</a:t>
            </a:r>
          </a:p>
        </p:txBody>
      </p:sp>
      <p:sp>
        <p:nvSpPr>
          <p:cNvPr id="22" name="TextBox 8">
            <a:extLst>
              <a:ext uri="{FF2B5EF4-FFF2-40B4-BE49-F238E27FC236}">
                <a16:creationId xmlns:a16="http://schemas.microsoft.com/office/drawing/2014/main" id="{FCE604E8-4A08-5721-657C-CA88213B2BB9}"/>
              </a:ext>
            </a:extLst>
          </p:cNvPr>
          <p:cNvSpPr txBox="1"/>
          <p:nvPr/>
        </p:nvSpPr>
        <p:spPr>
          <a:xfrm>
            <a:off x="6288563" y="1691640"/>
            <a:ext cx="5550535" cy="2046714"/>
          </a:xfrm>
          <a:prstGeom prst="rect">
            <a:avLst/>
          </a:prstGeom>
          <a:noFill/>
        </p:spPr>
        <p:txBody>
          <a:bodyPr wrap="square">
            <a:spAutoFit/>
          </a:bodyPr>
          <a:lstStyle/>
          <a:p>
            <a:pPr lvl="0">
              <a:lnSpc>
                <a:spcPct val="150000"/>
              </a:lnSpc>
              <a:spcBef>
                <a:spcPts val="300"/>
              </a:spcBef>
            </a:pPr>
            <a:r>
              <a:rPr kumimoji="0" lang="nl-BE" sz="1800" b="0" i="0" u="none" strike="noStrike" kern="1200" cap="none" spc="0" normalizeH="0" baseline="0" noProof="0" dirty="0">
                <a:ln>
                  <a:noFill/>
                </a:ln>
                <a:solidFill>
                  <a:srgbClr val="B0C4D8"/>
                </a:solidFill>
                <a:effectLst/>
                <a:uLnTx/>
                <a:uFillTx/>
                <a:latin typeface="Calibri"/>
                <a:ea typeface="+mn-ea"/>
                <a:cs typeface="+mn-cs"/>
              </a:rPr>
              <a:t>🔹 </a:t>
            </a:r>
            <a:r>
              <a:rPr lang="nl-BE" dirty="0">
                <a:solidFill>
                  <a:srgbClr val="B0C4D8"/>
                </a:solidFill>
                <a:latin typeface="Calibri"/>
              </a:rPr>
              <a:t>Sprint 1: </a:t>
            </a:r>
            <a:r>
              <a:rPr lang="nl-BE" dirty="0" err="1">
                <a:solidFill>
                  <a:srgbClr val="B0C4D8"/>
                </a:solidFill>
              </a:rPr>
              <a:t>DoD</a:t>
            </a:r>
            <a:r>
              <a:rPr lang="nl-BE" dirty="0">
                <a:solidFill>
                  <a:srgbClr val="B0C4D8"/>
                </a:solidFill>
              </a:rPr>
              <a:t> waardoor </a:t>
            </a:r>
            <a:r>
              <a:rPr lang="nl-BE" i="1" dirty="0" err="1">
                <a:solidFill>
                  <a:srgbClr val="B0C4D8"/>
                </a:solidFill>
              </a:rPr>
              <a:t>burndown</a:t>
            </a:r>
            <a:r>
              <a:rPr lang="nl-BE" i="1" dirty="0">
                <a:solidFill>
                  <a:srgbClr val="B0C4D8"/>
                </a:solidFill>
              </a:rPr>
              <a:t> </a:t>
            </a:r>
            <a:r>
              <a:rPr lang="nl-BE" i="1" dirty="0" err="1">
                <a:solidFill>
                  <a:srgbClr val="B0C4D8"/>
                </a:solidFill>
              </a:rPr>
              <a:t>chart</a:t>
            </a:r>
            <a:r>
              <a:rPr lang="nl-BE" i="1" dirty="0">
                <a:solidFill>
                  <a:srgbClr val="B0C4D8"/>
                </a:solidFill>
              </a:rPr>
              <a:t> </a:t>
            </a:r>
            <a:r>
              <a:rPr lang="nl-BE" dirty="0">
                <a:solidFill>
                  <a:srgbClr val="B0C4D8"/>
                </a:solidFill>
              </a:rPr>
              <a:t>fluctueert</a:t>
            </a:r>
            <a:endParaRPr kumimoji="0" lang="nl-BE" sz="1800" b="0" i="1" u="none" strike="noStrike" kern="1200" cap="none" spc="0" normalizeH="0" baseline="0" noProof="0" dirty="0">
              <a:ln>
                <a:noFill/>
              </a:ln>
              <a:solidFill>
                <a:srgbClr val="B0C4D8"/>
              </a:solidFill>
              <a:effectLst/>
              <a:uLnTx/>
              <a:uFillTx/>
              <a:latin typeface="Calibri"/>
            </a:endParaRPr>
          </a:p>
          <a:p>
            <a:pPr marL="0" marR="0" lvl="0" indent="0" algn="l" defTabSz="457200" rtl="0" eaLnBrk="1" fontAlgn="auto" latinLnBrk="0" hangingPunct="1">
              <a:lnSpc>
                <a:spcPct val="150000"/>
              </a:lnSpc>
              <a:spcBef>
                <a:spcPts val="300"/>
              </a:spcBef>
              <a:spcAft>
                <a:spcPts val="0"/>
              </a:spcAft>
              <a:buClrTx/>
              <a:buSzTx/>
              <a:buFontTx/>
              <a:buNone/>
              <a:tabLst/>
              <a:defRPr/>
            </a:pPr>
            <a:r>
              <a:rPr kumimoji="0" lang="nl-BE" sz="1800" b="0" i="0" u="none" strike="noStrike" kern="1200" cap="none" spc="0" normalizeH="0" baseline="0" noProof="0" dirty="0">
                <a:ln>
                  <a:noFill/>
                </a:ln>
                <a:solidFill>
                  <a:srgbClr val="B0C4D8"/>
                </a:solidFill>
                <a:effectLst/>
                <a:uLnTx/>
                <a:uFillTx/>
                <a:latin typeface="Calibri"/>
                <a:ea typeface="+mn-ea"/>
                <a:cs typeface="+mn-cs"/>
              </a:rPr>
              <a:t>🔹 </a:t>
            </a:r>
            <a:r>
              <a:rPr lang="nl-BE" dirty="0">
                <a:solidFill>
                  <a:srgbClr val="B0C4D8"/>
                </a:solidFill>
                <a:latin typeface="Calibri"/>
              </a:rPr>
              <a:t>Sprint 2: één user story vergeten</a:t>
            </a:r>
            <a:endParaRPr kumimoji="0" lang="nl-BE" sz="1800" b="0" i="0" u="none" strike="noStrike" kern="1200" cap="none" spc="0" normalizeH="0" baseline="0" noProof="0" dirty="0">
              <a:ln>
                <a:noFill/>
              </a:ln>
              <a:solidFill>
                <a:srgbClr val="B0C4D8"/>
              </a:solidFill>
              <a:effectLst/>
              <a:uLnTx/>
              <a:uFillTx/>
              <a:latin typeface="Calibri"/>
              <a:ea typeface="+mn-ea"/>
              <a:cs typeface="+mn-cs"/>
            </a:endParaRPr>
          </a:p>
          <a:p>
            <a:pPr marL="0" marR="0" lvl="0" indent="0" algn="l" defTabSz="457200" rtl="0" eaLnBrk="1" fontAlgn="auto" latinLnBrk="0" hangingPunct="1">
              <a:lnSpc>
                <a:spcPct val="150000"/>
              </a:lnSpc>
              <a:spcBef>
                <a:spcPts val="300"/>
              </a:spcBef>
              <a:spcAft>
                <a:spcPts val="0"/>
              </a:spcAft>
              <a:buClrTx/>
              <a:buSzTx/>
              <a:buFontTx/>
              <a:buNone/>
              <a:tabLst/>
              <a:defRPr/>
            </a:pPr>
            <a:r>
              <a:rPr kumimoji="0" lang="nl-BE" sz="1800" b="0" i="0" u="none" strike="noStrike" kern="1200" cap="none" spc="0" normalizeH="0" baseline="0" noProof="0" dirty="0">
                <a:ln>
                  <a:noFill/>
                </a:ln>
                <a:solidFill>
                  <a:srgbClr val="B0C4D8"/>
                </a:solidFill>
                <a:effectLst/>
                <a:uLnTx/>
                <a:uFillTx/>
                <a:latin typeface="Calibri"/>
                <a:ea typeface="+mn-ea"/>
                <a:cs typeface="+mn-cs"/>
              </a:rPr>
              <a:t>🔹Het</a:t>
            </a:r>
            <a:r>
              <a:rPr kumimoji="0" lang="nl-BE" sz="1800" b="0" i="0" u="none" strike="noStrike" kern="1200" cap="none" spc="0" normalizeH="0" noProof="0" dirty="0">
                <a:ln>
                  <a:noFill/>
                </a:ln>
                <a:solidFill>
                  <a:srgbClr val="B0C4D8"/>
                </a:solidFill>
                <a:effectLst/>
                <a:uLnTx/>
                <a:uFillTx/>
                <a:latin typeface="Calibri"/>
                <a:ea typeface="+mn-ea"/>
                <a:cs typeface="+mn-cs"/>
              </a:rPr>
              <a:t> model trainen heeft ons veel tijd gekost</a:t>
            </a:r>
            <a:endParaRPr kumimoji="0" lang="nl-BE" sz="1800" b="0" i="0" u="none" strike="noStrike" kern="1200" cap="none" spc="0" normalizeH="0" baseline="0" noProof="0" dirty="0">
              <a:ln>
                <a:noFill/>
              </a:ln>
              <a:solidFill>
                <a:srgbClr val="B0C4D8"/>
              </a:solidFill>
              <a:effectLst/>
              <a:uLnTx/>
              <a:uFillTx/>
              <a:latin typeface="Calibri"/>
              <a:ea typeface="+mn-ea"/>
              <a:cs typeface="+mn-cs"/>
            </a:endParaRPr>
          </a:p>
          <a:p>
            <a:pPr marL="0" marR="0" lvl="0" indent="0" algn="l" defTabSz="457200" rtl="0" eaLnBrk="1" fontAlgn="auto" latinLnBrk="0" hangingPunct="1">
              <a:lnSpc>
                <a:spcPct val="100000"/>
              </a:lnSpc>
              <a:spcBef>
                <a:spcPts val="300"/>
              </a:spcBef>
              <a:spcAft>
                <a:spcPts val="0"/>
              </a:spcAft>
              <a:buClrTx/>
              <a:buSzTx/>
              <a:buFontTx/>
              <a:buNone/>
              <a:tabLst/>
              <a:defRPr/>
            </a:pPr>
            <a:endParaRPr kumimoji="0" lang="nl-BE" sz="1800" b="0" i="0" u="none" strike="noStrike" kern="1200" cap="none" spc="0" normalizeH="0" baseline="0" noProof="0" dirty="0">
              <a:ln>
                <a:noFill/>
              </a:ln>
              <a:solidFill>
                <a:srgbClr val="B0C4D8"/>
              </a:solidFill>
              <a:effectLst/>
              <a:uLnTx/>
              <a:uFillTx/>
              <a:latin typeface="Calibri"/>
              <a:ea typeface="+mn-ea"/>
              <a:cs typeface="+mn-cs"/>
            </a:endParaRPr>
          </a:p>
          <a:p>
            <a:pPr marL="0" marR="0" lvl="0" indent="0" algn="l" defTabSz="457200" rtl="0" eaLnBrk="1" fontAlgn="auto" latinLnBrk="0" hangingPunct="1">
              <a:lnSpc>
                <a:spcPct val="100000"/>
              </a:lnSpc>
              <a:spcBef>
                <a:spcPts val="300"/>
              </a:spcBef>
              <a:spcAft>
                <a:spcPts val="0"/>
              </a:spcAft>
              <a:buClrTx/>
              <a:buSzTx/>
              <a:buFontTx/>
              <a:buNone/>
              <a:tabLst/>
              <a:defRPr/>
            </a:pPr>
            <a:endParaRPr kumimoji="0" lang="nl-BE" sz="1800" b="0" i="1" u="none" strike="noStrike" kern="1200" cap="none" spc="0" normalizeH="0" baseline="0" noProof="0" dirty="0">
              <a:ln>
                <a:noFill/>
              </a:ln>
              <a:solidFill>
                <a:srgbClr val="B0C4D8"/>
              </a:solidFill>
              <a:effectLst/>
              <a:uLnTx/>
              <a:uFillTx/>
              <a:latin typeface="Calibri"/>
              <a:ea typeface="+mn-ea"/>
              <a:cs typeface="+mn-cs"/>
            </a:endParaRPr>
          </a:p>
        </p:txBody>
      </p:sp>
    </p:spTree>
    <p:extLst>
      <p:ext uri="{BB962C8B-B14F-4D97-AF65-F5344CB8AC3E}">
        <p14:creationId xmlns:p14="http://schemas.microsoft.com/office/powerpoint/2010/main" val="1133317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2" grpId="0" animBg="1"/>
      <p:bldP spid="13" grpId="0" animBg="1"/>
      <p:bldP spid="19" grpId="0"/>
      <p:bldP spid="2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A9394C68-FBED-1E7F-DBB5-D281CD9A7D9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CC5918E-BE1D-9591-D4E9-7DD122208A3D}"/>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DB01AF21-BCB8-D94A-18B5-DCE1D4A00E21}"/>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14A25DCE-FA3A-CAEA-A8C4-FA810D53E011}"/>
              </a:ext>
            </a:extLst>
          </p:cNvPr>
          <p:cNvSpPr txBox="1"/>
          <p:nvPr/>
        </p:nvSpPr>
        <p:spPr>
          <a:xfrm>
            <a:off x="1371600" y="1645920"/>
            <a:ext cx="9144000" cy="230832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l-BE" sz="7200" b="1" dirty="0">
                <a:solidFill>
                  <a:srgbClr val="0099FF"/>
                </a:solidFill>
                <a:latin typeface="Calibri"/>
              </a:rPr>
              <a:t>Demo</a:t>
            </a: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8B153548-0FAD-A4CC-B458-1263BE779DD6}"/>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BFE24713-AAB4-9007-7BBF-4D87C6CABB11}"/>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9261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DBD705EF-BFF7-8435-5B63-2BF0C13F47A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D502E8-D669-1D98-23E8-283F788DF2CB}"/>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E5A02CC2-6C80-167B-CB89-B2010133FC21}"/>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04CAF8B9-3546-52EC-39E2-3FD53F27BF00}"/>
              </a:ext>
            </a:extLst>
          </p:cNvPr>
          <p:cNvSpPr txBox="1"/>
          <p:nvPr/>
        </p:nvSpPr>
        <p:spPr>
          <a:xfrm>
            <a:off x="1371600" y="1645920"/>
            <a:ext cx="9144000" cy="4524315"/>
          </a:xfrm>
          <a:prstGeom prst="rect">
            <a:avLst/>
          </a:prstGeom>
          <a:noFill/>
        </p:spPr>
        <p:txBody>
          <a:bodyPr wrap="square">
            <a:spAutoFit/>
          </a:bodyPr>
          <a:lstStyle/>
          <a:p>
            <a:pPr lvl="0" algn="ctr">
              <a:defRPr/>
            </a:pPr>
            <a:r>
              <a:rPr lang="nl-BE" sz="7200" b="1" dirty="0">
                <a:solidFill>
                  <a:srgbClr val="0099FF"/>
                </a:solidFill>
                <a:hlinkClick r:id="rId2"/>
              </a:rPr>
              <a:t>http://localhost</a:t>
            </a:r>
            <a:endParaRPr lang="nl-BE" sz="7200" b="1" dirty="0">
              <a:solidFill>
                <a:srgbClr val="0099FF"/>
              </a:solidFill>
            </a:endParaRPr>
          </a:p>
          <a:p>
            <a:pPr lvl="0" algn="ctr">
              <a:defRPr/>
            </a:pPr>
            <a:endParaRPr lang="nl-BE" sz="7200" b="1" dirty="0">
              <a:solidFill>
                <a:srgbClr val="0099FF"/>
              </a:solidFill>
            </a:endParaRPr>
          </a:p>
          <a:p>
            <a:pPr lvl="0" algn="ctr">
              <a:defRPr/>
            </a:pPr>
            <a:endParaRPr lang="nl-BE" sz="7200" b="1" dirty="0">
              <a:solidFill>
                <a:srgbClr val="0099FF"/>
              </a:solidFill>
            </a:endParaRPr>
          </a:p>
          <a:p>
            <a:pPr lvl="0" algn="ctr">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4DF69F3F-B42C-F5AF-FCB4-49447731988F}"/>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71DF78AA-B9B9-5094-9479-65D41086D534}"/>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86790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D6DC1FD4-EC67-C762-555B-C36E94BD3C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30BB167-7C08-3DB0-BF33-85F758458D76}"/>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14064AA0-3CC7-CAF0-A3ED-4F20BBC7CB18}"/>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6F5A210A-9018-A040-C823-0843F630E602}"/>
              </a:ext>
            </a:extLst>
          </p:cNvPr>
          <p:cNvSpPr txBox="1"/>
          <p:nvPr/>
        </p:nvSpPr>
        <p:spPr>
          <a:xfrm>
            <a:off x="1371600" y="1645920"/>
            <a:ext cx="9144000" cy="230832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l-BE" sz="7200" b="1" dirty="0">
                <a:solidFill>
                  <a:srgbClr val="0099FF"/>
                </a:solidFill>
                <a:latin typeface="Calibri"/>
              </a:rPr>
              <a:t>Conclusie</a:t>
            </a: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403072A6-27AE-5774-0FB8-D8A3E1D2CF6A}"/>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27EA1E14-4541-E350-79C8-3B2CEDB70A4D}"/>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34754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E825F19C-D5F8-956B-F6DC-76FA762ECDB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9C64CE-FE23-FA1B-4438-941A55ECE667}"/>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7AB0231-9E7C-639A-DAA9-5BDF2D9A86CD}"/>
              </a:ext>
            </a:extLst>
          </p:cNvPr>
          <p:cNvSpPr/>
          <p:nvPr/>
        </p:nvSpPr>
        <p:spPr>
          <a:xfrm>
            <a:off x="0" y="0"/>
            <a:ext cx="73152" cy="1005840"/>
          </a:xfrm>
          <a:prstGeom prst="rect">
            <a:avLst/>
          </a:prstGeom>
          <a:solidFill>
            <a:srgbClr val="33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D043A07D-0919-264A-A984-ADF9A725BADE}"/>
              </a:ext>
            </a:extLst>
          </p:cNvPr>
          <p:cNvSpPr txBox="1"/>
          <p:nvPr/>
        </p:nvSpPr>
        <p:spPr>
          <a:xfrm>
            <a:off x="201168" y="73152"/>
            <a:ext cx="1705916"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l-BE" sz="3000" b="1" dirty="0">
                <a:solidFill>
                  <a:srgbClr val="FFFFFF"/>
                </a:solidFill>
                <a:latin typeface="Calibri"/>
              </a:rPr>
              <a:t>Conclusie</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271E572E-3E73-7082-12CF-315E458B1034}"/>
              </a:ext>
            </a:extLst>
          </p:cNvPr>
          <p:cNvSpPr/>
          <p:nvPr/>
        </p:nvSpPr>
        <p:spPr>
          <a:xfrm>
            <a:off x="274320" y="1188720"/>
            <a:ext cx="11640312" cy="1417320"/>
          </a:xfrm>
          <a:prstGeom prst="rect">
            <a:avLst/>
          </a:prstGeom>
          <a:solidFill>
            <a:srgbClr val="0A1E35"/>
          </a:solidFill>
          <a:ln w="31750">
            <a:solidFill>
              <a:srgbClr val="FF65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EC67E1C3-7ABF-F754-B3B9-B92B63E85830}"/>
              </a:ext>
            </a:extLst>
          </p:cNvPr>
          <p:cNvSpPr/>
          <p:nvPr/>
        </p:nvSpPr>
        <p:spPr>
          <a:xfrm>
            <a:off x="274320" y="1188720"/>
            <a:ext cx="128016" cy="1417320"/>
          </a:xfrm>
          <a:prstGeom prst="rect">
            <a:avLst/>
          </a:prstGeom>
          <a:solidFill>
            <a:srgbClr val="FF6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C3132D72-0162-97A8-C2A2-F7D459FC3CBB}"/>
              </a:ext>
            </a:extLst>
          </p:cNvPr>
          <p:cNvSpPr txBox="1"/>
          <p:nvPr/>
        </p:nvSpPr>
        <p:spPr>
          <a:xfrm>
            <a:off x="548640" y="1207008"/>
            <a:ext cx="2743200"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err="1">
                <a:ln>
                  <a:noFill/>
                </a:ln>
                <a:solidFill>
                  <a:srgbClr val="FF6500"/>
                </a:solidFill>
                <a:effectLst/>
                <a:uLnTx/>
                <a:uFillTx/>
                <a:latin typeface="Calibri"/>
                <a:ea typeface="+mn-ea"/>
                <a:cs typeface="+mn-cs"/>
              </a:rPr>
              <a:t>Hoofdvraag</a:t>
            </a:r>
            <a:endParaRPr kumimoji="0" sz="1300" b="1" i="0" u="none" strike="noStrike" kern="1200" cap="none" spc="0" normalizeH="0" baseline="0" noProof="0" dirty="0">
              <a:ln>
                <a:noFill/>
              </a:ln>
              <a:solidFill>
                <a:srgbClr val="FF6500"/>
              </a:solidFill>
              <a:effectLst/>
              <a:uLnTx/>
              <a:uFillTx/>
              <a:latin typeface="Calibri"/>
              <a:ea typeface="+mn-ea"/>
              <a:cs typeface="+mn-cs"/>
            </a:endParaRPr>
          </a:p>
        </p:txBody>
      </p:sp>
      <p:sp>
        <p:nvSpPr>
          <p:cNvPr id="9" name="TextBox 8">
            <a:extLst>
              <a:ext uri="{FF2B5EF4-FFF2-40B4-BE49-F238E27FC236}">
                <a16:creationId xmlns:a16="http://schemas.microsoft.com/office/drawing/2014/main" id="{38E0F2BF-A879-C008-FC3C-41E6B5E0206C}"/>
              </a:ext>
            </a:extLst>
          </p:cNvPr>
          <p:cNvSpPr txBox="1"/>
          <p:nvPr/>
        </p:nvSpPr>
        <p:spPr>
          <a:xfrm>
            <a:off x="562292" y="1386641"/>
            <a:ext cx="11064240" cy="143885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2400" b="0" i="1" u="none" strike="noStrike" kern="1200" cap="none" spc="0" normalizeH="0" baseline="0" noProof="0" dirty="0">
                <a:ln>
                  <a:noFill/>
                </a:ln>
                <a:solidFill>
                  <a:prstClr val="white"/>
                </a:solidFill>
                <a:effectLst/>
                <a:uLnTx/>
                <a:uFillTx/>
                <a:latin typeface="Calibri"/>
                <a:ea typeface="+mn-ea"/>
                <a:cs typeface="+mn-cs"/>
              </a:rPr>
              <a:t>Wat is het effect van de SAM </a:t>
            </a:r>
            <a:r>
              <a:rPr kumimoji="0" lang="nl-BE" sz="2400" b="0" i="1" u="none" strike="noStrike" kern="1200" cap="none" spc="0" normalizeH="0" baseline="0" noProof="0" dirty="0" err="1">
                <a:ln>
                  <a:noFill/>
                </a:ln>
                <a:solidFill>
                  <a:prstClr val="white"/>
                </a:solidFill>
                <a:effectLst/>
                <a:uLnTx/>
                <a:uFillTx/>
                <a:latin typeface="Calibri"/>
                <a:ea typeface="+mn-ea"/>
                <a:cs typeface="+mn-cs"/>
              </a:rPr>
              <a:t>reinforcement</a:t>
            </a:r>
            <a:r>
              <a:rPr kumimoji="0" lang="nl-BE" sz="2400" b="0" i="1" u="none" strike="noStrike" kern="1200" cap="none" spc="0" normalizeH="0" baseline="0" noProof="0" dirty="0">
                <a:ln>
                  <a:noFill/>
                </a:ln>
                <a:solidFill>
                  <a:prstClr val="white"/>
                </a:solidFill>
                <a:effectLst/>
                <a:uLnTx/>
                <a:uFillTx/>
                <a:latin typeface="Calibri"/>
                <a:ea typeface="+mn-ea"/>
                <a:cs typeface="+mn-cs"/>
              </a:rPr>
              <a:t> </a:t>
            </a:r>
            <a:r>
              <a:rPr kumimoji="0" lang="nl-BE" sz="2400" b="0" i="1" u="none" strike="noStrike" kern="1200" cap="none" spc="0" normalizeH="0" baseline="0" noProof="0" dirty="0" err="1">
                <a:ln>
                  <a:noFill/>
                </a:ln>
                <a:solidFill>
                  <a:prstClr val="white"/>
                </a:solidFill>
                <a:effectLst/>
                <a:uLnTx/>
                <a:uFillTx/>
                <a:latin typeface="Calibri"/>
                <a:ea typeface="+mn-ea"/>
                <a:cs typeface="+mn-cs"/>
              </a:rPr>
              <a:t>learning</a:t>
            </a:r>
            <a:r>
              <a:rPr kumimoji="0" lang="nl-BE" sz="2400" b="0" i="1" u="none" strike="noStrike" kern="1200" cap="none" spc="0" normalizeH="0" baseline="0" noProof="0" dirty="0">
                <a:ln>
                  <a:noFill/>
                </a:ln>
                <a:solidFill>
                  <a:prstClr val="white"/>
                </a:solidFill>
                <a:effectLst/>
                <a:uLnTx/>
                <a:uFillTx/>
                <a:latin typeface="Calibri"/>
                <a:ea typeface="+mn-ea"/>
                <a:cs typeface="+mn-cs"/>
              </a:rPr>
              <a:t>-controller op de verkeersprestatie in vergelijking met een vaste tijdsregeling binnen vooraf gedefinieerde SUMO-scenario’s met variërende verkeersintensiteit?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sz="1550" b="1" i="0" u="none" strike="noStrike" kern="1200" cap="none" spc="0" normalizeH="0" baseline="0" noProof="0" dirty="0">
              <a:ln>
                <a:noFill/>
              </a:ln>
              <a:solidFill>
                <a:srgbClr val="FFFFFF"/>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B84FEDEA-0345-0D11-2F8A-3D95F02F9BF8}"/>
              </a:ext>
            </a:extLst>
          </p:cNvPr>
          <p:cNvSpPr/>
          <p:nvPr/>
        </p:nvSpPr>
        <p:spPr>
          <a:xfrm>
            <a:off x="274320" y="2834640"/>
            <a:ext cx="3813048" cy="1691640"/>
          </a:xfrm>
          <a:prstGeom prst="rect">
            <a:avLst/>
          </a:prstGeom>
          <a:solidFill>
            <a:srgbClr val="16283E"/>
          </a:solidFill>
          <a:ln w="19050">
            <a:solidFill>
              <a:srgbClr val="009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7A7BC9D7-4E01-049D-50D9-728B95C2B50A}"/>
              </a:ext>
            </a:extLst>
          </p:cNvPr>
          <p:cNvSpPr/>
          <p:nvPr/>
        </p:nvSpPr>
        <p:spPr>
          <a:xfrm>
            <a:off x="274320" y="2834640"/>
            <a:ext cx="3813048" cy="4572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2E6C956D-7349-399A-3E04-F78ACB4698C5}"/>
              </a:ext>
            </a:extLst>
          </p:cNvPr>
          <p:cNvSpPr/>
          <p:nvPr/>
        </p:nvSpPr>
        <p:spPr>
          <a:xfrm>
            <a:off x="384048" y="2944368"/>
            <a:ext cx="457200" cy="274320"/>
          </a:xfrm>
          <a:prstGeom prst="round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4AB74832-D9FC-97A0-5B46-1B7AF1D19F9A}"/>
              </a:ext>
            </a:extLst>
          </p:cNvPr>
          <p:cNvSpPr txBox="1"/>
          <p:nvPr/>
        </p:nvSpPr>
        <p:spPr>
          <a:xfrm>
            <a:off x="384048" y="2944368"/>
            <a:ext cx="457200" cy="2743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D1B2A"/>
                </a:solidFill>
                <a:effectLst/>
                <a:uLnTx/>
                <a:uFillTx/>
                <a:latin typeface="Calibri"/>
                <a:ea typeface="+mn-ea"/>
                <a:cs typeface="+mn-cs"/>
              </a:rPr>
              <a:t>SQ1</a:t>
            </a:r>
          </a:p>
        </p:txBody>
      </p:sp>
      <p:sp>
        <p:nvSpPr>
          <p:cNvPr id="14" name="TextBox 13">
            <a:extLst>
              <a:ext uri="{FF2B5EF4-FFF2-40B4-BE49-F238E27FC236}">
                <a16:creationId xmlns:a16="http://schemas.microsoft.com/office/drawing/2014/main" id="{B29135FC-C2D9-34D1-43B9-8A62C3312F3D}"/>
              </a:ext>
            </a:extLst>
          </p:cNvPr>
          <p:cNvSpPr txBox="1"/>
          <p:nvPr/>
        </p:nvSpPr>
        <p:spPr>
          <a:xfrm>
            <a:off x="932688" y="2944368"/>
            <a:ext cx="3017520" cy="29260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099FF"/>
                </a:solidFill>
                <a:effectLst/>
                <a:uLnTx/>
                <a:uFillTx/>
                <a:latin typeface="Calibri"/>
                <a:ea typeface="+mn-ea"/>
                <a:cs typeface="+mn-cs"/>
              </a:rPr>
              <a:t>RL-</a:t>
            </a:r>
            <a:r>
              <a:rPr kumimoji="0" sz="1300" b="1" i="0" u="none" strike="noStrike" kern="1200" cap="none" spc="0" normalizeH="0" baseline="0" noProof="0" dirty="0" err="1">
                <a:ln>
                  <a:noFill/>
                </a:ln>
                <a:solidFill>
                  <a:srgbClr val="0099FF"/>
                </a:solidFill>
                <a:effectLst/>
                <a:uLnTx/>
                <a:uFillTx/>
                <a:latin typeface="Calibri"/>
                <a:ea typeface="+mn-ea"/>
                <a:cs typeface="+mn-cs"/>
              </a:rPr>
              <a:t>Techniek</a:t>
            </a:r>
            <a:endParaRPr kumimoji="0" sz="1300" b="1" i="0" u="none" strike="noStrike" kern="1200" cap="none" spc="0" normalizeH="0" baseline="0" noProof="0" dirty="0">
              <a:ln>
                <a:noFill/>
              </a:ln>
              <a:solidFill>
                <a:srgbClr val="0099FF"/>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2F503C3B-CD76-30B3-79DE-C8B8C7F49023}"/>
              </a:ext>
            </a:extLst>
          </p:cNvPr>
          <p:cNvSpPr txBox="1"/>
          <p:nvPr/>
        </p:nvSpPr>
        <p:spPr>
          <a:xfrm>
            <a:off x="411480" y="3310128"/>
            <a:ext cx="3538728" cy="95410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B0C4D8"/>
                </a:solidFill>
                <a:effectLst/>
                <a:uLnTx/>
                <a:uFillTx/>
                <a:latin typeface="Calibri"/>
                <a:ea typeface="+mn-ea"/>
                <a:cs typeface="+mn-cs"/>
              </a:rPr>
              <a:t>Welke reinforcement learning-</a:t>
            </a:r>
            <a:r>
              <a:rPr kumimoji="0" sz="1400" b="0" i="0" u="none" strike="noStrike" kern="1200" cap="none" spc="0" normalizeH="0" baseline="0" noProof="0" dirty="0" err="1">
                <a:ln>
                  <a:noFill/>
                </a:ln>
                <a:solidFill>
                  <a:srgbClr val="B0C4D8"/>
                </a:solidFill>
                <a:effectLst/>
                <a:uLnTx/>
                <a:uFillTx/>
                <a:latin typeface="Calibri"/>
                <a:ea typeface="+mn-ea"/>
                <a:cs typeface="+mn-cs"/>
              </a:rPr>
              <a:t>techniek</a:t>
            </a:r>
            <a:r>
              <a:rPr kumimoji="0" sz="1400" b="0" i="0" u="none" strike="noStrike" kern="1200" cap="none" spc="0" normalizeH="0" baseline="0" noProof="0" dirty="0">
                <a:ln>
                  <a:noFill/>
                </a:ln>
                <a:solidFill>
                  <a:srgbClr val="B0C4D8"/>
                </a:solidFill>
                <a:effectLst/>
                <a:uLnTx/>
                <a:uFillTx/>
                <a:latin typeface="Calibri"/>
                <a:ea typeface="+mn-ea"/>
                <a:cs typeface="+mn-cs"/>
              </a:rPr>
              <a:t> is het </a:t>
            </a:r>
            <a:r>
              <a:rPr kumimoji="0" sz="1400" b="0" i="0" u="none" strike="noStrike" kern="1200" cap="none" spc="0" normalizeH="0" baseline="0" noProof="0" dirty="0" err="1">
                <a:ln>
                  <a:noFill/>
                </a:ln>
                <a:solidFill>
                  <a:srgbClr val="B0C4D8"/>
                </a:solidFill>
                <a:effectLst/>
                <a:uLnTx/>
                <a:uFillTx/>
                <a:latin typeface="Calibri"/>
                <a:ea typeface="+mn-ea"/>
                <a:cs typeface="+mn-cs"/>
              </a:rPr>
              <a:t>meest</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geschikt</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voor</a:t>
            </a:r>
            <a:r>
              <a:rPr kumimoji="0" sz="1400" b="0" i="0" u="none" strike="noStrike" kern="1200" cap="none" spc="0" normalizeH="0" baseline="0" noProof="0" dirty="0">
                <a:ln>
                  <a:noFill/>
                </a:ln>
                <a:solidFill>
                  <a:srgbClr val="B0C4D8"/>
                </a:solidFill>
                <a:effectLst/>
                <a:uLnTx/>
                <a:uFillTx/>
                <a:latin typeface="Calibri"/>
                <a:ea typeface="+mn-ea"/>
                <a:cs typeface="+mn-cs"/>
              </a:rPr>
              <a:t> de </a:t>
            </a:r>
            <a:r>
              <a:rPr kumimoji="0" sz="1400" b="0" i="0" u="none" strike="noStrike" kern="1200" cap="none" spc="0" normalizeH="0" baseline="0" noProof="0" dirty="0" err="1">
                <a:ln>
                  <a:noFill/>
                </a:ln>
                <a:solidFill>
                  <a:srgbClr val="B0C4D8"/>
                </a:solidFill>
                <a:effectLst/>
                <a:uLnTx/>
                <a:uFillTx/>
                <a:latin typeface="Calibri"/>
                <a:ea typeface="+mn-ea"/>
                <a:cs typeface="+mn-cs"/>
              </a:rPr>
              <a:t>implementatie</a:t>
            </a:r>
            <a:r>
              <a:rPr kumimoji="0" sz="1400" b="0" i="0" u="none" strike="noStrike" kern="1200" cap="none" spc="0" normalizeH="0" baseline="0" noProof="0" dirty="0">
                <a:ln>
                  <a:noFill/>
                </a:ln>
                <a:solidFill>
                  <a:srgbClr val="B0C4D8"/>
                </a:solidFill>
                <a:effectLst/>
                <a:uLnTx/>
                <a:uFillTx/>
                <a:latin typeface="Calibri"/>
                <a:ea typeface="+mn-ea"/>
                <a:cs typeface="+mn-cs"/>
              </a:rPr>
              <a:t> van de SAM-controller </a:t>
            </a:r>
            <a:r>
              <a:rPr kumimoji="0" sz="1400" b="0" i="0" u="none" strike="noStrike" kern="1200" cap="none" spc="0" normalizeH="0" baseline="0" noProof="0" dirty="0" err="1">
                <a:ln>
                  <a:noFill/>
                </a:ln>
                <a:solidFill>
                  <a:srgbClr val="B0C4D8"/>
                </a:solidFill>
                <a:effectLst/>
                <a:uLnTx/>
                <a:uFillTx/>
                <a:latin typeface="Calibri"/>
                <a:ea typeface="+mn-ea"/>
                <a:cs typeface="+mn-cs"/>
              </a:rPr>
              <a:t>binnen</a:t>
            </a:r>
            <a:r>
              <a:rPr kumimoji="0" sz="1400" b="0" i="0" u="none" strike="noStrike" kern="1200" cap="none" spc="0" normalizeH="0" baseline="0" noProof="0" dirty="0">
                <a:ln>
                  <a:noFill/>
                </a:ln>
                <a:solidFill>
                  <a:srgbClr val="B0C4D8"/>
                </a:solidFill>
                <a:effectLst/>
                <a:uLnTx/>
                <a:uFillTx/>
                <a:latin typeface="Calibri"/>
                <a:ea typeface="+mn-ea"/>
                <a:cs typeface="+mn-cs"/>
              </a:rPr>
              <a:t> het </a:t>
            </a:r>
            <a:r>
              <a:rPr kumimoji="0" sz="1400" b="0" i="0" u="none" strike="noStrike" kern="1200" cap="none" spc="0" normalizeH="0" baseline="0" noProof="0" dirty="0" err="1">
                <a:ln>
                  <a:noFill/>
                </a:ln>
                <a:solidFill>
                  <a:srgbClr val="B0C4D8"/>
                </a:solidFill>
                <a:effectLst/>
                <a:uLnTx/>
                <a:uFillTx/>
                <a:latin typeface="Calibri"/>
                <a:ea typeface="+mn-ea"/>
                <a:cs typeface="+mn-cs"/>
              </a:rPr>
              <a:t>gekozen</a:t>
            </a:r>
            <a:r>
              <a:rPr kumimoji="0" sz="1400" b="0" i="0" u="none" strike="noStrike" kern="1200" cap="none" spc="0" normalizeH="0" baseline="0" noProof="0" dirty="0">
                <a:ln>
                  <a:noFill/>
                </a:ln>
                <a:solidFill>
                  <a:srgbClr val="B0C4D8"/>
                </a:solidFill>
                <a:effectLst/>
                <a:uLnTx/>
                <a:uFillTx/>
                <a:latin typeface="Calibri"/>
                <a:ea typeface="+mn-ea"/>
                <a:cs typeface="+mn-cs"/>
              </a:rPr>
              <a:t> SUMO-scenario?</a:t>
            </a:r>
          </a:p>
        </p:txBody>
      </p:sp>
      <p:sp>
        <p:nvSpPr>
          <p:cNvPr id="16" name="Rectangle 15">
            <a:extLst>
              <a:ext uri="{FF2B5EF4-FFF2-40B4-BE49-F238E27FC236}">
                <a16:creationId xmlns:a16="http://schemas.microsoft.com/office/drawing/2014/main" id="{986E2E99-D00A-1081-63ED-4410188664CB}"/>
              </a:ext>
            </a:extLst>
          </p:cNvPr>
          <p:cNvSpPr/>
          <p:nvPr/>
        </p:nvSpPr>
        <p:spPr>
          <a:xfrm>
            <a:off x="4224528" y="2834640"/>
            <a:ext cx="3813048" cy="1691640"/>
          </a:xfrm>
          <a:prstGeom prst="rect">
            <a:avLst/>
          </a:prstGeom>
          <a:solidFill>
            <a:srgbClr val="16283E"/>
          </a:solidFill>
          <a:ln w="1905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9638A3C4-5C96-5B2A-91AC-79A69FC34DBA}"/>
              </a:ext>
            </a:extLst>
          </p:cNvPr>
          <p:cNvSpPr/>
          <p:nvPr/>
        </p:nvSpPr>
        <p:spPr>
          <a:xfrm>
            <a:off x="4224528" y="2834640"/>
            <a:ext cx="3813048"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7C73B54C-8ED7-154D-2E25-DF6108B30ABC}"/>
              </a:ext>
            </a:extLst>
          </p:cNvPr>
          <p:cNvSpPr/>
          <p:nvPr/>
        </p:nvSpPr>
        <p:spPr>
          <a:xfrm>
            <a:off x="4334256" y="2944368"/>
            <a:ext cx="457200" cy="274320"/>
          </a:xfrm>
          <a:prstGeom prst="round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a:extLst>
              <a:ext uri="{FF2B5EF4-FFF2-40B4-BE49-F238E27FC236}">
                <a16:creationId xmlns:a16="http://schemas.microsoft.com/office/drawing/2014/main" id="{A6DEF4C9-DF31-F177-26CA-4DF229B05478}"/>
              </a:ext>
            </a:extLst>
          </p:cNvPr>
          <p:cNvSpPr txBox="1"/>
          <p:nvPr/>
        </p:nvSpPr>
        <p:spPr>
          <a:xfrm>
            <a:off x="4334256" y="2944368"/>
            <a:ext cx="457200"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D1B2A"/>
                </a:solidFill>
                <a:effectLst/>
                <a:uLnTx/>
                <a:uFillTx/>
                <a:latin typeface="Calibri"/>
                <a:ea typeface="+mn-ea"/>
                <a:cs typeface="+mn-cs"/>
              </a:rPr>
              <a:t>SQ2</a:t>
            </a:r>
          </a:p>
        </p:txBody>
      </p:sp>
      <p:sp>
        <p:nvSpPr>
          <p:cNvPr id="20" name="TextBox 19">
            <a:extLst>
              <a:ext uri="{FF2B5EF4-FFF2-40B4-BE49-F238E27FC236}">
                <a16:creationId xmlns:a16="http://schemas.microsoft.com/office/drawing/2014/main" id="{65C8FE3F-6CDF-A669-7188-0FD1A4A5745F}"/>
              </a:ext>
            </a:extLst>
          </p:cNvPr>
          <p:cNvSpPr txBox="1"/>
          <p:nvPr/>
        </p:nvSpPr>
        <p:spPr>
          <a:xfrm>
            <a:off x="4882896" y="2944368"/>
            <a:ext cx="3017520" cy="29260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0E596"/>
                </a:solidFill>
                <a:effectLst/>
                <a:uLnTx/>
                <a:uFillTx/>
                <a:latin typeface="Calibri"/>
                <a:ea typeface="+mn-ea"/>
                <a:cs typeface="+mn-cs"/>
              </a:rPr>
              <a:t>Metrieken</a:t>
            </a:r>
          </a:p>
        </p:txBody>
      </p:sp>
      <p:sp>
        <p:nvSpPr>
          <p:cNvPr id="21" name="TextBox 20">
            <a:extLst>
              <a:ext uri="{FF2B5EF4-FFF2-40B4-BE49-F238E27FC236}">
                <a16:creationId xmlns:a16="http://schemas.microsoft.com/office/drawing/2014/main" id="{D361F8DC-5208-25A4-4759-00A4DCB71D8B}"/>
              </a:ext>
            </a:extLst>
          </p:cNvPr>
          <p:cNvSpPr txBox="1"/>
          <p:nvPr/>
        </p:nvSpPr>
        <p:spPr>
          <a:xfrm>
            <a:off x="4361688" y="3310128"/>
            <a:ext cx="3538728" cy="95410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B0C4D8"/>
                </a:solidFill>
                <a:effectLst/>
                <a:uLnTx/>
                <a:uFillTx/>
                <a:latin typeface="Calibri"/>
                <a:ea typeface="+mn-ea"/>
                <a:cs typeface="+mn-cs"/>
              </a:rPr>
              <a:t>Welke </a:t>
            </a:r>
            <a:r>
              <a:rPr kumimoji="0" sz="1400" b="0" i="0" u="none" strike="noStrike" kern="1200" cap="none" spc="0" normalizeH="0" baseline="0" noProof="0" dirty="0" err="1">
                <a:ln>
                  <a:noFill/>
                </a:ln>
                <a:solidFill>
                  <a:srgbClr val="B0C4D8"/>
                </a:solidFill>
                <a:effectLst/>
                <a:uLnTx/>
                <a:uFillTx/>
                <a:latin typeface="Calibri"/>
                <a:ea typeface="+mn-ea"/>
                <a:cs typeface="+mn-cs"/>
              </a:rPr>
              <a:t>metrieken</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bieden</a:t>
            </a:r>
            <a:r>
              <a:rPr kumimoji="0" sz="1400" b="0" i="0" u="none" strike="noStrike" kern="1200" cap="none" spc="0" normalizeH="0" baseline="0" noProof="0" dirty="0">
                <a:ln>
                  <a:noFill/>
                </a:ln>
                <a:solidFill>
                  <a:srgbClr val="B0C4D8"/>
                </a:solidFill>
                <a:effectLst/>
                <a:uLnTx/>
                <a:uFillTx/>
                <a:latin typeface="Calibri"/>
                <a:ea typeface="+mn-ea"/>
                <a:cs typeface="+mn-cs"/>
              </a:rPr>
              <a:t> de </a:t>
            </a:r>
            <a:r>
              <a:rPr kumimoji="0" sz="1400" b="0" i="0" u="none" strike="noStrike" kern="1200" cap="none" spc="0" normalizeH="0" baseline="0" noProof="0" dirty="0" err="1">
                <a:ln>
                  <a:noFill/>
                </a:ln>
                <a:solidFill>
                  <a:srgbClr val="B0C4D8"/>
                </a:solidFill>
                <a:effectLst/>
                <a:uLnTx/>
                <a:uFillTx/>
                <a:latin typeface="Calibri"/>
                <a:ea typeface="+mn-ea"/>
                <a:cs typeface="+mn-cs"/>
              </a:rPr>
              <a:t>meeste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betrouwbare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en</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relevante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inzichten</a:t>
            </a:r>
            <a:r>
              <a:rPr kumimoji="0" sz="1400" b="0" i="0" u="none" strike="noStrike" kern="1200" cap="none" spc="0" normalizeH="0" baseline="0" noProof="0" dirty="0">
                <a:ln>
                  <a:noFill/>
                </a:ln>
                <a:solidFill>
                  <a:srgbClr val="B0C4D8"/>
                </a:solidFill>
                <a:effectLst/>
                <a:uLnTx/>
                <a:uFillTx/>
                <a:latin typeface="Calibri"/>
                <a:ea typeface="+mn-ea"/>
                <a:cs typeface="+mn-cs"/>
              </a:rPr>
              <a:t> om het effect van de SAM RL-controller op </a:t>
            </a:r>
            <a:r>
              <a:rPr kumimoji="0" sz="1400" b="0" i="0" u="none" strike="noStrike" kern="1200" cap="none" spc="0" normalizeH="0" baseline="0" noProof="0" dirty="0" err="1">
                <a:ln>
                  <a:noFill/>
                </a:ln>
                <a:solidFill>
                  <a:srgbClr val="B0C4D8"/>
                </a:solidFill>
                <a:effectLst/>
                <a:uLnTx/>
                <a:uFillTx/>
                <a:latin typeface="Calibri"/>
                <a:ea typeface="+mn-ea"/>
                <a:cs typeface="+mn-cs"/>
              </a:rPr>
              <a:t>verkeersprestaties</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te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beoordelen</a:t>
            </a:r>
            <a:r>
              <a:rPr kumimoji="0" sz="1400" b="0" i="0" u="none" strike="noStrike" kern="1200" cap="none" spc="0" normalizeH="0" baseline="0" noProof="0" dirty="0">
                <a:ln>
                  <a:noFill/>
                </a:ln>
                <a:solidFill>
                  <a:srgbClr val="B0C4D8"/>
                </a:solidFill>
                <a:effectLst/>
                <a:uLnTx/>
                <a:uFillTx/>
                <a:latin typeface="Calibri"/>
                <a:ea typeface="+mn-ea"/>
                <a:cs typeface="+mn-cs"/>
              </a:rPr>
              <a:t>?</a:t>
            </a:r>
          </a:p>
        </p:txBody>
      </p:sp>
      <p:sp>
        <p:nvSpPr>
          <p:cNvPr id="22" name="Rectangle 21">
            <a:extLst>
              <a:ext uri="{FF2B5EF4-FFF2-40B4-BE49-F238E27FC236}">
                <a16:creationId xmlns:a16="http://schemas.microsoft.com/office/drawing/2014/main" id="{5162A4E0-FFD0-9854-EA6A-F4223B526F51}"/>
              </a:ext>
            </a:extLst>
          </p:cNvPr>
          <p:cNvSpPr/>
          <p:nvPr/>
        </p:nvSpPr>
        <p:spPr>
          <a:xfrm>
            <a:off x="8174736" y="2834640"/>
            <a:ext cx="3813048" cy="1691640"/>
          </a:xfrm>
          <a:prstGeom prst="rect">
            <a:avLst/>
          </a:prstGeom>
          <a:solidFill>
            <a:srgbClr val="16283E"/>
          </a:solidFill>
          <a:ln w="19050">
            <a:solidFill>
              <a:srgbClr val="FFBF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B45B9F86-38A1-C385-9383-5DD4A4C1FC0B}"/>
              </a:ext>
            </a:extLst>
          </p:cNvPr>
          <p:cNvSpPr/>
          <p:nvPr/>
        </p:nvSpPr>
        <p:spPr>
          <a:xfrm>
            <a:off x="8174736" y="2834640"/>
            <a:ext cx="3813048"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Rectangle 23">
            <a:extLst>
              <a:ext uri="{FF2B5EF4-FFF2-40B4-BE49-F238E27FC236}">
                <a16:creationId xmlns:a16="http://schemas.microsoft.com/office/drawing/2014/main" id="{99A11263-D30D-3C78-6EB0-B595BE63A08B}"/>
              </a:ext>
            </a:extLst>
          </p:cNvPr>
          <p:cNvSpPr/>
          <p:nvPr/>
        </p:nvSpPr>
        <p:spPr>
          <a:xfrm>
            <a:off x="8284464" y="2944368"/>
            <a:ext cx="457200" cy="274320"/>
          </a:xfrm>
          <a:prstGeom prst="round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65E426A1-7B39-58E1-0F6B-E27154F7C5AF}"/>
              </a:ext>
            </a:extLst>
          </p:cNvPr>
          <p:cNvSpPr txBox="1"/>
          <p:nvPr/>
        </p:nvSpPr>
        <p:spPr>
          <a:xfrm>
            <a:off x="8284464" y="2944368"/>
            <a:ext cx="457200"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D1B2A"/>
                </a:solidFill>
                <a:effectLst/>
                <a:uLnTx/>
                <a:uFillTx/>
                <a:latin typeface="Calibri"/>
                <a:ea typeface="+mn-ea"/>
                <a:cs typeface="+mn-cs"/>
              </a:rPr>
              <a:t>SQ3</a:t>
            </a:r>
          </a:p>
        </p:txBody>
      </p:sp>
      <p:sp>
        <p:nvSpPr>
          <p:cNvPr id="26" name="TextBox 25">
            <a:extLst>
              <a:ext uri="{FF2B5EF4-FFF2-40B4-BE49-F238E27FC236}">
                <a16:creationId xmlns:a16="http://schemas.microsoft.com/office/drawing/2014/main" id="{B2FB38F8-F3C7-1D84-DCD8-B35152D62567}"/>
              </a:ext>
            </a:extLst>
          </p:cNvPr>
          <p:cNvSpPr txBox="1"/>
          <p:nvPr/>
        </p:nvSpPr>
        <p:spPr>
          <a:xfrm>
            <a:off x="8833104" y="2944368"/>
            <a:ext cx="3017520" cy="29260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BF00"/>
                </a:solidFill>
                <a:effectLst/>
                <a:uLnTx/>
                <a:uFillTx/>
                <a:latin typeface="Calibri"/>
                <a:ea typeface="+mn-ea"/>
                <a:cs typeface="+mn-cs"/>
              </a:rPr>
              <a:t>Piekuren</a:t>
            </a:r>
          </a:p>
        </p:txBody>
      </p:sp>
      <p:sp>
        <p:nvSpPr>
          <p:cNvPr id="27" name="TextBox 26">
            <a:extLst>
              <a:ext uri="{FF2B5EF4-FFF2-40B4-BE49-F238E27FC236}">
                <a16:creationId xmlns:a16="http://schemas.microsoft.com/office/drawing/2014/main" id="{06875770-DB2D-A961-B1DB-41D4F477B8D3}"/>
              </a:ext>
            </a:extLst>
          </p:cNvPr>
          <p:cNvSpPr txBox="1"/>
          <p:nvPr/>
        </p:nvSpPr>
        <p:spPr>
          <a:xfrm>
            <a:off x="8311896" y="3310128"/>
            <a:ext cx="3538728"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B0C4D8"/>
                </a:solidFill>
                <a:effectLst/>
                <a:uLnTx/>
                <a:uFillTx/>
                <a:latin typeface="Calibri"/>
                <a:ea typeface="+mn-ea"/>
                <a:cs typeface="+mn-cs"/>
              </a:rPr>
              <a:t>Hoe </a:t>
            </a:r>
            <a:r>
              <a:rPr kumimoji="0" sz="1400" b="0" i="0" u="none" strike="noStrike" kern="1200" cap="none" spc="0" normalizeH="0" baseline="0" noProof="0" dirty="0" err="1">
                <a:ln>
                  <a:noFill/>
                </a:ln>
                <a:solidFill>
                  <a:srgbClr val="B0C4D8"/>
                </a:solidFill>
                <a:effectLst/>
                <a:uLnTx/>
                <a:uFillTx/>
                <a:latin typeface="Calibri"/>
                <a:ea typeface="+mn-ea"/>
                <a:cs typeface="+mn-cs"/>
              </a:rPr>
              <a:t>presteert</a:t>
            </a:r>
            <a:r>
              <a:rPr kumimoji="0" sz="1400" b="0" i="0" u="none" strike="noStrike" kern="1200" cap="none" spc="0" normalizeH="0" baseline="0" noProof="0" dirty="0">
                <a:ln>
                  <a:noFill/>
                </a:ln>
                <a:solidFill>
                  <a:srgbClr val="B0C4D8"/>
                </a:solidFill>
                <a:effectLst/>
                <a:uLnTx/>
                <a:uFillTx/>
                <a:latin typeface="Calibri"/>
                <a:ea typeface="+mn-ea"/>
                <a:cs typeface="+mn-cs"/>
              </a:rPr>
              <a:t> de SAM RL-controller </a:t>
            </a:r>
            <a:r>
              <a:rPr kumimoji="0" sz="1400" b="0" i="0" u="none" strike="noStrike" kern="1200" cap="none" spc="0" normalizeH="0" baseline="0" noProof="0" dirty="0" err="1">
                <a:ln>
                  <a:noFill/>
                </a:ln>
                <a:solidFill>
                  <a:srgbClr val="B0C4D8"/>
                </a:solidFill>
                <a:effectLst/>
                <a:uLnTx/>
                <a:uFillTx/>
                <a:latin typeface="Calibri"/>
                <a:ea typeface="+mn-ea"/>
                <a:cs typeface="+mn-cs"/>
              </a:rPr>
              <a:t>bij</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hoge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verkeersintensiteit</a:t>
            </a:r>
            <a:r>
              <a:rPr kumimoji="0" sz="1400" b="0" i="0" u="none" strike="noStrike" kern="1200" cap="none" spc="0" normalizeH="0" baseline="0" noProof="0" dirty="0">
                <a:ln>
                  <a:noFill/>
                </a:ln>
                <a:solidFill>
                  <a:srgbClr val="B0C4D8"/>
                </a:solidFill>
                <a:effectLst/>
                <a:uLnTx/>
                <a:uFillTx/>
                <a:latin typeface="Calibri"/>
                <a:ea typeface="+mn-ea"/>
                <a:cs typeface="+mn-cs"/>
              </a:rPr>
              <a:t> of </a:t>
            </a:r>
            <a:r>
              <a:rPr kumimoji="0" sz="1400" b="0" i="0" u="none" strike="noStrike" kern="1200" cap="none" spc="0" normalizeH="0" baseline="0" noProof="0" dirty="0" err="1">
                <a:ln>
                  <a:noFill/>
                </a:ln>
                <a:solidFill>
                  <a:srgbClr val="B0C4D8"/>
                </a:solidFill>
                <a:effectLst/>
                <a:uLnTx/>
                <a:uFillTx/>
                <a:latin typeface="Calibri"/>
                <a:ea typeface="+mn-ea"/>
                <a:cs typeface="+mn-cs"/>
              </a:rPr>
              <a:t>tijdens</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piekuren</a:t>
            </a:r>
            <a:r>
              <a:rPr kumimoji="0" sz="1400" b="0" i="0" u="none" strike="noStrike" kern="1200" cap="none" spc="0" normalizeH="0" baseline="0" noProof="0" dirty="0">
                <a:ln>
                  <a:noFill/>
                </a:ln>
                <a:solidFill>
                  <a:srgbClr val="B0C4D8"/>
                </a:solidFill>
                <a:effectLst/>
                <a:uLnTx/>
                <a:uFillTx/>
                <a:latin typeface="Calibri"/>
                <a:ea typeface="+mn-ea"/>
                <a:cs typeface="+mn-cs"/>
              </a:rPr>
              <a:t>?</a:t>
            </a:r>
          </a:p>
        </p:txBody>
      </p:sp>
      <p:sp>
        <p:nvSpPr>
          <p:cNvPr id="28" name="Rectangle 27">
            <a:extLst>
              <a:ext uri="{FF2B5EF4-FFF2-40B4-BE49-F238E27FC236}">
                <a16:creationId xmlns:a16="http://schemas.microsoft.com/office/drawing/2014/main" id="{8DFDCAE5-8F8D-1AFE-BCA1-B89CDDFAF8EF}"/>
              </a:ext>
            </a:extLst>
          </p:cNvPr>
          <p:cNvSpPr/>
          <p:nvPr/>
        </p:nvSpPr>
        <p:spPr>
          <a:xfrm>
            <a:off x="274320" y="4690872"/>
            <a:ext cx="3813048" cy="1691640"/>
          </a:xfrm>
          <a:prstGeom prst="rect">
            <a:avLst/>
          </a:prstGeom>
          <a:solidFill>
            <a:srgbClr val="16283E"/>
          </a:solidFill>
          <a:ln w="19050">
            <a:solidFill>
              <a:srgbClr val="AB47B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Rectangle 28">
            <a:extLst>
              <a:ext uri="{FF2B5EF4-FFF2-40B4-BE49-F238E27FC236}">
                <a16:creationId xmlns:a16="http://schemas.microsoft.com/office/drawing/2014/main" id="{3E77C53B-66B7-0955-8525-7E5039F254B4}"/>
              </a:ext>
            </a:extLst>
          </p:cNvPr>
          <p:cNvSpPr/>
          <p:nvPr/>
        </p:nvSpPr>
        <p:spPr>
          <a:xfrm>
            <a:off x="274320" y="4690872"/>
            <a:ext cx="3813048" cy="45720"/>
          </a:xfrm>
          <a:prstGeom prst="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Rectangle 29">
            <a:extLst>
              <a:ext uri="{FF2B5EF4-FFF2-40B4-BE49-F238E27FC236}">
                <a16:creationId xmlns:a16="http://schemas.microsoft.com/office/drawing/2014/main" id="{B6E8E2B9-AC30-AC33-F546-6CD9B9BB7551}"/>
              </a:ext>
            </a:extLst>
          </p:cNvPr>
          <p:cNvSpPr/>
          <p:nvPr/>
        </p:nvSpPr>
        <p:spPr>
          <a:xfrm>
            <a:off x="384048" y="4800600"/>
            <a:ext cx="457200" cy="274320"/>
          </a:xfrm>
          <a:prstGeom prst="round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TextBox 30">
            <a:extLst>
              <a:ext uri="{FF2B5EF4-FFF2-40B4-BE49-F238E27FC236}">
                <a16:creationId xmlns:a16="http://schemas.microsoft.com/office/drawing/2014/main" id="{C4AEDB39-3F05-5349-582B-9AD1CFC83F88}"/>
              </a:ext>
            </a:extLst>
          </p:cNvPr>
          <p:cNvSpPr txBox="1"/>
          <p:nvPr/>
        </p:nvSpPr>
        <p:spPr>
          <a:xfrm>
            <a:off x="384047" y="4800600"/>
            <a:ext cx="457199"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D1B2A"/>
                </a:solidFill>
                <a:effectLst/>
                <a:uLnTx/>
                <a:uFillTx/>
                <a:latin typeface="Calibri"/>
                <a:ea typeface="+mn-ea"/>
                <a:cs typeface="+mn-cs"/>
              </a:rPr>
              <a:t>SQ4</a:t>
            </a:r>
          </a:p>
        </p:txBody>
      </p:sp>
      <p:sp>
        <p:nvSpPr>
          <p:cNvPr id="32" name="TextBox 31">
            <a:extLst>
              <a:ext uri="{FF2B5EF4-FFF2-40B4-BE49-F238E27FC236}">
                <a16:creationId xmlns:a16="http://schemas.microsoft.com/office/drawing/2014/main" id="{6D5B4EE9-EB1A-97EE-A04F-61DFBB1F3324}"/>
              </a:ext>
            </a:extLst>
          </p:cNvPr>
          <p:cNvSpPr txBox="1"/>
          <p:nvPr/>
        </p:nvSpPr>
        <p:spPr>
          <a:xfrm>
            <a:off x="932688" y="4800600"/>
            <a:ext cx="3017520" cy="29260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AB47BC"/>
                </a:solidFill>
                <a:effectLst/>
                <a:uLnTx/>
                <a:uFillTx/>
                <a:latin typeface="Calibri"/>
                <a:ea typeface="+mn-ea"/>
                <a:cs typeface="+mn-cs"/>
              </a:rPr>
              <a:t>Transfer</a:t>
            </a:r>
          </a:p>
        </p:txBody>
      </p:sp>
      <p:sp>
        <p:nvSpPr>
          <p:cNvPr id="33" name="TextBox 32">
            <a:extLst>
              <a:ext uri="{FF2B5EF4-FFF2-40B4-BE49-F238E27FC236}">
                <a16:creationId xmlns:a16="http://schemas.microsoft.com/office/drawing/2014/main" id="{5F42B87E-C3E1-0D4F-CE75-580002654463}"/>
              </a:ext>
            </a:extLst>
          </p:cNvPr>
          <p:cNvSpPr txBox="1"/>
          <p:nvPr/>
        </p:nvSpPr>
        <p:spPr>
          <a:xfrm>
            <a:off x="411480" y="5166360"/>
            <a:ext cx="3538728" cy="7386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B0C4D8"/>
                </a:solidFill>
                <a:effectLst/>
                <a:uLnTx/>
                <a:uFillTx/>
                <a:latin typeface="Calibri"/>
                <a:ea typeface="+mn-ea"/>
                <a:cs typeface="+mn-cs"/>
              </a:rPr>
              <a:t>Kan </a:t>
            </a:r>
            <a:r>
              <a:rPr kumimoji="0" sz="1400" b="0" i="0" u="none" strike="noStrike" kern="1200" cap="none" spc="0" normalizeH="0" baseline="0" noProof="0" dirty="0" err="1">
                <a:ln>
                  <a:noFill/>
                </a:ln>
                <a:solidFill>
                  <a:srgbClr val="B0C4D8"/>
                </a:solidFill>
                <a:effectLst/>
                <a:uLnTx/>
                <a:uFillTx/>
                <a:latin typeface="Calibri"/>
                <a:ea typeface="+mn-ea"/>
                <a:cs typeface="+mn-cs"/>
              </a:rPr>
              <a:t>een</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getrainde</a:t>
            </a:r>
            <a:r>
              <a:rPr kumimoji="0" sz="1400" b="0" i="0" u="none" strike="noStrike" kern="1200" cap="none" spc="0" normalizeH="0" baseline="0" noProof="0" dirty="0">
                <a:ln>
                  <a:noFill/>
                </a:ln>
                <a:solidFill>
                  <a:srgbClr val="B0C4D8"/>
                </a:solidFill>
                <a:effectLst/>
                <a:uLnTx/>
                <a:uFillTx/>
                <a:latin typeface="Calibri"/>
                <a:ea typeface="+mn-ea"/>
                <a:cs typeface="+mn-cs"/>
              </a:rPr>
              <a:t> SAM-controller </a:t>
            </a:r>
            <a:r>
              <a:rPr kumimoji="0" sz="1400" b="0" i="0" u="none" strike="noStrike" kern="1200" cap="none" spc="0" normalizeH="0" baseline="0" noProof="0" dirty="0" err="1">
                <a:ln>
                  <a:noFill/>
                </a:ln>
                <a:solidFill>
                  <a:srgbClr val="B0C4D8"/>
                </a:solidFill>
                <a:effectLst/>
                <a:uLnTx/>
                <a:uFillTx/>
                <a:latin typeface="Calibri"/>
                <a:ea typeface="+mn-ea"/>
                <a:cs typeface="+mn-cs"/>
              </a:rPr>
              <a:t>toegepast</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worden</a:t>
            </a:r>
            <a:r>
              <a:rPr kumimoji="0" sz="1400" b="0" i="0" u="none" strike="noStrike" kern="1200" cap="none" spc="0" normalizeH="0" baseline="0" noProof="0" dirty="0">
                <a:ln>
                  <a:noFill/>
                </a:ln>
                <a:solidFill>
                  <a:srgbClr val="B0C4D8"/>
                </a:solidFill>
                <a:effectLst/>
                <a:uLnTx/>
                <a:uFillTx/>
                <a:latin typeface="Calibri"/>
                <a:ea typeface="+mn-ea"/>
                <a:cs typeface="+mn-cs"/>
              </a:rPr>
              <a:t> op </a:t>
            </a:r>
            <a:r>
              <a:rPr kumimoji="0" sz="1400" b="0" i="0" u="none" strike="noStrike" kern="1200" cap="none" spc="0" normalizeH="0" baseline="0" noProof="0" dirty="0" err="1">
                <a:ln>
                  <a:noFill/>
                </a:ln>
                <a:solidFill>
                  <a:srgbClr val="B0C4D8"/>
                </a:solidFill>
                <a:effectLst/>
                <a:uLnTx/>
                <a:uFillTx/>
                <a:latin typeface="Calibri"/>
                <a:ea typeface="+mn-ea"/>
                <a:cs typeface="+mn-cs"/>
              </a:rPr>
              <a:t>nieuwe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steden</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zonder</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volledig</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opnieuw</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te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trainen</a:t>
            </a:r>
            <a:r>
              <a:rPr kumimoji="0" sz="1400" b="0" i="0" u="none" strike="noStrike" kern="1200" cap="none" spc="0" normalizeH="0" baseline="0" noProof="0" dirty="0">
                <a:ln>
                  <a:noFill/>
                </a:ln>
                <a:solidFill>
                  <a:srgbClr val="B0C4D8"/>
                </a:solidFill>
                <a:effectLst/>
                <a:uLnTx/>
                <a:uFillTx/>
                <a:latin typeface="Calibri"/>
                <a:ea typeface="+mn-ea"/>
                <a:cs typeface="+mn-cs"/>
              </a:rPr>
              <a:t>?</a:t>
            </a:r>
          </a:p>
        </p:txBody>
      </p:sp>
      <p:sp>
        <p:nvSpPr>
          <p:cNvPr id="34" name="Rectangle 33">
            <a:extLst>
              <a:ext uri="{FF2B5EF4-FFF2-40B4-BE49-F238E27FC236}">
                <a16:creationId xmlns:a16="http://schemas.microsoft.com/office/drawing/2014/main" id="{646C94B7-7A61-C32C-CC37-107B6F5C0C23}"/>
              </a:ext>
            </a:extLst>
          </p:cNvPr>
          <p:cNvSpPr/>
          <p:nvPr/>
        </p:nvSpPr>
        <p:spPr>
          <a:xfrm>
            <a:off x="4224528" y="4690872"/>
            <a:ext cx="3813048" cy="1691640"/>
          </a:xfrm>
          <a:prstGeom prst="rect">
            <a:avLst/>
          </a:prstGeom>
          <a:solidFill>
            <a:srgbClr val="16283E"/>
          </a:solidFill>
          <a:ln w="19050">
            <a:solidFill>
              <a:srgbClr val="F4515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a:extLst>
              <a:ext uri="{FF2B5EF4-FFF2-40B4-BE49-F238E27FC236}">
                <a16:creationId xmlns:a16="http://schemas.microsoft.com/office/drawing/2014/main" id="{5B93AA72-F4DB-B154-D492-37914B6B4EED}"/>
              </a:ext>
            </a:extLst>
          </p:cNvPr>
          <p:cNvSpPr/>
          <p:nvPr/>
        </p:nvSpPr>
        <p:spPr>
          <a:xfrm>
            <a:off x="4224528" y="4690872"/>
            <a:ext cx="3813048" cy="45720"/>
          </a:xfrm>
          <a:prstGeom prst="rect">
            <a:avLst/>
          </a:prstGeom>
          <a:solidFill>
            <a:srgbClr val="F451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35">
            <a:extLst>
              <a:ext uri="{FF2B5EF4-FFF2-40B4-BE49-F238E27FC236}">
                <a16:creationId xmlns:a16="http://schemas.microsoft.com/office/drawing/2014/main" id="{F016B446-6C46-D33A-49A0-4D02C61897CC}"/>
              </a:ext>
            </a:extLst>
          </p:cNvPr>
          <p:cNvSpPr/>
          <p:nvPr/>
        </p:nvSpPr>
        <p:spPr>
          <a:xfrm>
            <a:off x="4334256" y="4800600"/>
            <a:ext cx="457200" cy="274320"/>
          </a:xfrm>
          <a:prstGeom prst="roundRect">
            <a:avLst/>
          </a:prstGeom>
          <a:solidFill>
            <a:srgbClr val="F451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TextBox 36">
            <a:extLst>
              <a:ext uri="{FF2B5EF4-FFF2-40B4-BE49-F238E27FC236}">
                <a16:creationId xmlns:a16="http://schemas.microsoft.com/office/drawing/2014/main" id="{26A51F4D-B35F-5078-ACD9-49B760A05F0B}"/>
              </a:ext>
            </a:extLst>
          </p:cNvPr>
          <p:cNvSpPr txBox="1"/>
          <p:nvPr/>
        </p:nvSpPr>
        <p:spPr>
          <a:xfrm>
            <a:off x="4334256" y="4800600"/>
            <a:ext cx="457200" cy="2616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D1B2A"/>
                </a:solidFill>
                <a:effectLst/>
                <a:uLnTx/>
                <a:uFillTx/>
                <a:latin typeface="Calibri"/>
                <a:ea typeface="+mn-ea"/>
                <a:cs typeface="+mn-cs"/>
              </a:rPr>
              <a:t>SQ5</a:t>
            </a:r>
          </a:p>
        </p:txBody>
      </p:sp>
      <p:sp>
        <p:nvSpPr>
          <p:cNvPr id="38" name="TextBox 37">
            <a:extLst>
              <a:ext uri="{FF2B5EF4-FFF2-40B4-BE49-F238E27FC236}">
                <a16:creationId xmlns:a16="http://schemas.microsoft.com/office/drawing/2014/main" id="{82330CCA-4B10-6278-774D-D7CE1E8EB64D}"/>
              </a:ext>
            </a:extLst>
          </p:cNvPr>
          <p:cNvSpPr txBox="1"/>
          <p:nvPr/>
        </p:nvSpPr>
        <p:spPr>
          <a:xfrm>
            <a:off x="4882896" y="4800600"/>
            <a:ext cx="3017520" cy="29260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err="1">
                <a:ln>
                  <a:noFill/>
                </a:ln>
                <a:solidFill>
                  <a:srgbClr val="F4515E"/>
                </a:solidFill>
                <a:effectLst/>
                <a:uLnTx/>
                <a:uFillTx/>
                <a:latin typeface="Calibri"/>
                <a:ea typeface="+mn-ea"/>
                <a:cs typeface="+mn-cs"/>
              </a:rPr>
              <a:t>Adaptatie</a:t>
            </a:r>
            <a:endParaRPr kumimoji="0" sz="1300" b="1" i="0" u="none" strike="noStrike" kern="1200" cap="none" spc="0" normalizeH="0" baseline="0" noProof="0" dirty="0">
              <a:ln>
                <a:noFill/>
              </a:ln>
              <a:solidFill>
                <a:srgbClr val="F4515E"/>
              </a:solidFill>
              <a:effectLst/>
              <a:uLnTx/>
              <a:uFillTx/>
              <a:latin typeface="Calibri"/>
              <a:ea typeface="+mn-ea"/>
              <a:cs typeface="+mn-cs"/>
            </a:endParaRPr>
          </a:p>
        </p:txBody>
      </p:sp>
      <p:sp>
        <p:nvSpPr>
          <p:cNvPr id="39" name="TextBox 38">
            <a:extLst>
              <a:ext uri="{FF2B5EF4-FFF2-40B4-BE49-F238E27FC236}">
                <a16:creationId xmlns:a16="http://schemas.microsoft.com/office/drawing/2014/main" id="{37DDCE1C-9BC3-8E60-7AF4-5822EF4A19F1}"/>
              </a:ext>
            </a:extLst>
          </p:cNvPr>
          <p:cNvSpPr txBox="1"/>
          <p:nvPr/>
        </p:nvSpPr>
        <p:spPr>
          <a:xfrm>
            <a:off x="4361688" y="5166360"/>
            <a:ext cx="3538728" cy="7386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B0C4D8"/>
                </a:solidFill>
                <a:effectLst/>
                <a:uLnTx/>
                <a:uFillTx/>
                <a:latin typeface="Calibri"/>
                <a:ea typeface="+mn-ea"/>
                <a:cs typeface="+mn-cs"/>
              </a:rPr>
              <a:t>Hoe </a:t>
            </a:r>
            <a:r>
              <a:rPr kumimoji="0" sz="1400" b="0" i="0" u="none" strike="noStrike" kern="1200" cap="none" spc="0" normalizeH="0" baseline="0" noProof="0" dirty="0" err="1">
                <a:ln>
                  <a:noFill/>
                </a:ln>
                <a:solidFill>
                  <a:srgbClr val="B0C4D8"/>
                </a:solidFill>
                <a:effectLst/>
                <a:uLnTx/>
                <a:uFillTx/>
                <a:latin typeface="Calibri"/>
                <a:ea typeface="+mn-ea"/>
                <a:cs typeface="+mn-cs"/>
              </a:rPr>
              <a:t>snel</a:t>
            </a:r>
            <a:r>
              <a:rPr kumimoji="0" sz="1400" b="0" i="0" u="none" strike="noStrike" kern="1200" cap="none" spc="0" normalizeH="0" baseline="0" noProof="0" dirty="0">
                <a:ln>
                  <a:noFill/>
                </a:ln>
                <a:solidFill>
                  <a:srgbClr val="B0C4D8"/>
                </a:solidFill>
                <a:effectLst/>
                <a:uLnTx/>
                <a:uFillTx/>
                <a:latin typeface="Calibri"/>
                <a:ea typeface="+mn-ea"/>
                <a:cs typeface="+mn-cs"/>
              </a:rPr>
              <a:t> past de SAM-controller </a:t>
            </a:r>
            <a:r>
              <a:rPr kumimoji="0" sz="1400" b="0" i="0" u="none" strike="noStrike" kern="1200" cap="none" spc="0" normalizeH="0" baseline="0" noProof="0" dirty="0" err="1">
                <a:ln>
                  <a:noFill/>
                </a:ln>
                <a:solidFill>
                  <a:srgbClr val="B0C4D8"/>
                </a:solidFill>
                <a:effectLst/>
                <a:uLnTx/>
                <a:uFillTx/>
                <a:latin typeface="Calibri"/>
                <a:ea typeface="+mn-ea"/>
                <a:cs typeface="+mn-cs"/>
              </a:rPr>
              <a:t>zich</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aan</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wanneer</a:t>
            </a:r>
            <a:r>
              <a:rPr kumimoji="0" sz="1400" b="0" i="0" u="none" strike="noStrike" kern="1200" cap="none" spc="0" normalizeH="0" baseline="0" noProof="0" dirty="0">
                <a:ln>
                  <a:noFill/>
                </a:ln>
                <a:solidFill>
                  <a:srgbClr val="B0C4D8"/>
                </a:solidFill>
                <a:effectLst/>
                <a:uLnTx/>
                <a:uFillTx/>
                <a:latin typeface="Calibri"/>
                <a:ea typeface="+mn-ea"/>
                <a:cs typeface="+mn-cs"/>
              </a:rPr>
              <a:t> de </a:t>
            </a:r>
            <a:r>
              <a:rPr kumimoji="0" sz="1400" b="0" i="0" u="none" strike="noStrike" kern="1200" cap="none" spc="0" normalizeH="0" baseline="0" noProof="0" dirty="0" err="1">
                <a:ln>
                  <a:noFill/>
                </a:ln>
                <a:solidFill>
                  <a:srgbClr val="B0C4D8"/>
                </a:solidFill>
                <a:effectLst/>
                <a:uLnTx/>
                <a:uFillTx/>
                <a:latin typeface="Calibri"/>
                <a:ea typeface="+mn-ea"/>
                <a:cs typeface="+mn-cs"/>
              </a:rPr>
              <a:t>verkeersintensiteit</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gedurende</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een</a:t>
            </a:r>
            <a:r>
              <a:rPr kumimoji="0" sz="1400" b="0" i="0" u="none" strike="noStrike" kern="1200" cap="none" spc="0" normalizeH="0" baseline="0" noProof="0" dirty="0">
                <a:ln>
                  <a:noFill/>
                </a:ln>
                <a:solidFill>
                  <a:srgbClr val="B0C4D8"/>
                </a:solidFill>
                <a:effectLst/>
                <a:uLnTx/>
                <a:uFillTx/>
                <a:latin typeface="Calibri"/>
                <a:ea typeface="+mn-ea"/>
                <a:cs typeface="+mn-cs"/>
              </a:rPr>
              <a:t> </a:t>
            </a:r>
            <a:r>
              <a:rPr kumimoji="0" sz="1400" b="0" i="0" u="none" strike="noStrike" kern="1200" cap="none" spc="0" normalizeH="0" baseline="0" noProof="0" dirty="0" err="1">
                <a:ln>
                  <a:noFill/>
                </a:ln>
                <a:solidFill>
                  <a:srgbClr val="B0C4D8"/>
                </a:solidFill>
                <a:effectLst/>
                <a:uLnTx/>
                <a:uFillTx/>
                <a:latin typeface="Calibri"/>
                <a:ea typeface="+mn-ea"/>
                <a:cs typeface="+mn-cs"/>
              </a:rPr>
              <a:t>simulatie</a:t>
            </a:r>
            <a:r>
              <a:rPr kumimoji="0" sz="1400" b="0" i="0" u="none" strike="noStrike" kern="1200" cap="none" spc="0" normalizeH="0" baseline="0" noProof="0" dirty="0">
                <a:ln>
                  <a:noFill/>
                </a:ln>
                <a:solidFill>
                  <a:srgbClr val="B0C4D8"/>
                </a:solidFill>
                <a:effectLst/>
                <a:uLnTx/>
                <a:uFillTx/>
                <a:latin typeface="Calibri"/>
                <a:ea typeface="+mn-ea"/>
                <a:cs typeface="+mn-cs"/>
              </a:rPr>
              <a:t> abrupt </a:t>
            </a:r>
            <a:r>
              <a:rPr kumimoji="0" sz="1400" b="0" i="0" u="none" strike="noStrike" kern="1200" cap="none" spc="0" normalizeH="0" baseline="0" noProof="0" dirty="0" err="1">
                <a:ln>
                  <a:noFill/>
                </a:ln>
                <a:solidFill>
                  <a:srgbClr val="B0C4D8"/>
                </a:solidFill>
                <a:effectLst/>
                <a:uLnTx/>
                <a:uFillTx/>
                <a:latin typeface="Calibri"/>
                <a:ea typeface="+mn-ea"/>
                <a:cs typeface="+mn-cs"/>
              </a:rPr>
              <a:t>verandert</a:t>
            </a:r>
            <a:r>
              <a:rPr kumimoji="0" sz="1400" b="0" i="0" u="none" strike="noStrike" kern="1200" cap="none" spc="0" normalizeH="0" baseline="0" noProof="0" dirty="0">
                <a:ln>
                  <a:noFill/>
                </a:ln>
                <a:solidFill>
                  <a:srgbClr val="B0C4D8"/>
                </a:solidFill>
                <a:effectLst/>
                <a:uLnTx/>
                <a:uFillTx/>
                <a:latin typeface="Calibri"/>
                <a:ea typeface="+mn-ea"/>
                <a:cs typeface="+mn-cs"/>
              </a:rPr>
              <a:t>?</a:t>
            </a:r>
          </a:p>
        </p:txBody>
      </p:sp>
      <p:sp>
        <p:nvSpPr>
          <p:cNvPr id="40" name="Tijdelijke aanduiding voor dianummer 39">
            <a:extLst>
              <a:ext uri="{FF2B5EF4-FFF2-40B4-BE49-F238E27FC236}">
                <a16:creationId xmlns:a16="http://schemas.microsoft.com/office/drawing/2014/main" id="{BBC71008-F490-B66F-D498-D6495C2FA0FF}"/>
              </a:ext>
            </a:extLst>
          </p:cNvPr>
          <p:cNvSpPr>
            <a:spLocks noGrp="1"/>
          </p:cNvSpPr>
          <p:nvPr>
            <p:ph type="sldNum" sz="quarter" idx="12"/>
          </p:nvPr>
        </p:nvSpPr>
        <p:spPr>
          <a:xfrm>
            <a:off x="10055352"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3506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animBg="1"/>
      <p:bldP spid="13" grpId="0"/>
      <p:bldP spid="14" grpId="0"/>
      <p:bldP spid="15" grpId="0"/>
      <p:bldP spid="16" grpId="0" animBg="1"/>
      <p:bldP spid="17" grpId="0" animBg="1"/>
      <p:bldP spid="18" grpId="0" animBg="1"/>
      <p:bldP spid="19" grpId="0"/>
      <p:bldP spid="20" grpId="0"/>
      <p:bldP spid="21" grpId="0"/>
      <p:bldP spid="22" grpId="0" animBg="1"/>
      <p:bldP spid="23" grpId="0" animBg="1"/>
      <p:bldP spid="24" grpId="0" animBg="1"/>
      <p:bldP spid="25" grpId="0"/>
      <p:bldP spid="26" grpId="0"/>
      <p:bldP spid="27" grpId="0"/>
      <p:bldP spid="28" grpId="0" animBg="1"/>
      <p:bldP spid="29" grpId="0" animBg="1"/>
      <p:bldP spid="30" grpId="0" animBg="1"/>
      <p:bldP spid="31" grpId="0"/>
      <p:bldP spid="32" grpId="0"/>
      <p:bldP spid="33" grpId="0"/>
      <p:bldP spid="34" grpId="0" animBg="1"/>
      <p:bldP spid="35" grpId="0" animBg="1"/>
      <p:bldP spid="36" grpId="0" animBg="1"/>
      <p:bldP spid="37" grpId="0"/>
      <p:bldP spid="38" grpId="0"/>
      <p:bldP spid="39"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291D4E77-B292-FCA1-4726-30011C619D3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3EF54E-2FB0-E67F-12D9-07EF785A1546}"/>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412B1826-B4C8-FACA-1F4F-B434A2517B78}"/>
              </a:ext>
            </a:extLst>
          </p:cNvPr>
          <p:cNvSpPr/>
          <p:nvPr/>
        </p:nvSpPr>
        <p:spPr>
          <a:xfrm>
            <a:off x="0" y="0"/>
            <a:ext cx="73152" cy="100584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D5EA9EEF-91D3-FDF5-9660-B07D91E45D9B}"/>
              </a:ext>
            </a:extLst>
          </p:cNvPr>
          <p:cNvSpPr txBox="1"/>
          <p:nvPr/>
        </p:nvSpPr>
        <p:spPr>
          <a:xfrm>
            <a:off x="201168" y="73152"/>
            <a:ext cx="1705916"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l-BE" sz="3000" b="1" dirty="0">
                <a:solidFill>
                  <a:srgbClr val="FFFFFF"/>
                </a:solidFill>
                <a:latin typeface="Calibri"/>
              </a:rPr>
              <a:t>Conclusie</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5FA05CDA-12D5-5F61-D1B9-2AF02C149298}"/>
              </a:ext>
            </a:extLst>
          </p:cNvPr>
          <p:cNvSpPr/>
          <p:nvPr/>
        </p:nvSpPr>
        <p:spPr>
          <a:xfrm>
            <a:off x="274320" y="1188720"/>
            <a:ext cx="5763102" cy="5583322"/>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D9623547-3DDD-AFF7-1052-5E78F3EE2A5F}"/>
              </a:ext>
            </a:extLst>
          </p:cNvPr>
          <p:cNvSpPr/>
          <p:nvPr/>
        </p:nvSpPr>
        <p:spPr>
          <a:xfrm>
            <a:off x="274320" y="1188719"/>
            <a:ext cx="5763102" cy="45719"/>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a:extLst>
              <a:ext uri="{FF2B5EF4-FFF2-40B4-BE49-F238E27FC236}">
                <a16:creationId xmlns:a16="http://schemas.microsoft.com/office/drawing/2014/main" id="{27A879B8-0747-88AD-6F92-5783EE56564C}"/>
              </a:ext>
            </a:extLst>
          </p:cNvPr>
          <p:cNvSpPr txBox="1"/>
          <p:nvPr/>
        </p:nvSpPr>
        <p:spPr>
          <a:xfrm>
            <a:off x="391874" y="1225296"/>
            <a:ext cx="5702538" cy="5287858"/>
          </a:xfrm>
          <a:prstGeom prst="rect">
            <a:avLst/>
          </a:prstGeom>
          <a:noFill/>
        </p:spPr>
        <p:txBody>
          <a:bodyPr wrap="square">
            <a:spAutoFit/>
          </a:bodyPr>
          <a:lstStyle/>
          <a:p>
            <a:pPr marL="285750" lvl="0" indent="-285750">
              <a:lnSpc>
                <a:spcPct val="120000"/>
              </a:lnSpc>
              <a:spcBef>
                <a:spcPts val="300"/>
              </a:spcBef>
              <a:buFont typeface="Arial" panose="020B0604020202020204" pitchFamily="34" charset="0"/>
              <a:buChar char="•"/>
            </a:pPr>
            <a:r>
              <a:rPr lang="nl-BE" sz="1600" b="1" dirty="0">
                <a:solidFill>
                  <a:srgbClr val="B0C4D8"/>
                </a:solidFill>
              </a:rPr>
              <a:t>RL-gebaseerde verkeersregeling presteert beter</a:t>
            </a:r>
            <a:r>
              <a:rPr lang="nl-BE" sz="1600" dirty="0">
                <a:solidFill>
                  <a:srgbClr val="B0C4D8"/>
                </a:solidFill>
              </a:rPr>
              <a:t> in dynamische SUMO-scenario’s</a:t>
            </a:r>
            <a:br>
              <a:rPr lang="nl-BE" sz="1600" dirty="0">
                <a:solidFill>
                  <a:srgbClr val="B0C4D8"/>
                </a:solidFill>
              </a:rPr>
            </a:br>
            <a:r>
              <a:rPr lang="nl-BE" sz="1600" dirty="0">
                <a:solidFill>
                  <a:srgbClr val="B0C4D8"/>
                </a:solidFill>
              </a:rPr>
              <a:t>→ minder wachttijden, betere doorstroming </a:t>
            </a:r>
          </a:p>
          <a:p>
            <a:pPr marL="285750" lvl="0" indent="-285750">
              <a:lnSpc>
                <a:spcPct val="120000"/>
              </a:lnSpc>
              <a:spcBef>
                <a:spcPts val="300"/>
              </a:spcBef>
              <a:buFont typeface="Arial" panose="020B0604020202020204" pitchFamily="34" charset="0"/>
              <a:buChar char="•"/>
            </a:pPr>
            <a:r>
              <a:rPr lang="nl-BE" sz="1600" b="1" dirty="0">
                <a:solidFill>
                  <a:srgbClr val="B0C4D8"/>
                </a:solidFill>
              </a:rPr>
              <a:t>D3QN</a:t>
            </a:r>
            <a:r>
              <a:rPr lang="nl-BE" sz="1600" dirty="0">
                <a:solidFill>
                  <a:srgbClr val="B0C4D8"/>
                </a:solidFill>
              </a:rPr>
              <a:t> blijkt de meest robuuste RL-techniek</a:t>
            </a:r>
            <a:br>
              <a:rPr lang="nl-BE" sz="1600" dirty="0">
                <a:solidFill>
                  <a:srgbClr val="B0C4D8"/>
                </a:solidFill>
              </a:rPr>
            </a:br>
            <a:r>
              <a:rPr lang="nl-BE" sz="1600" dirty="0">
                <a:solidFill>
                  <a:srgbClr val="B0C4D8"/>
                </a:solidFill>
              </a:rPr>
              <a:t>→ stabieler leerproces en snellere convergentie dan klassieke DQN </a:t>
            </a:r>
          </a:p>
          <a:p>
            <a:pPr marL="285750" lvl="0" indent="-285750">
              <a:lnSpc>
                <a:spcPct val="120000"/>
              </a:lnSpc>
              <a:spcBef>
                <a:spcPts val="300"/>
              </a:spcBef>
              <a:buFont typeface="Arial" panose="020B0604020202020204" pitchFamily="34" charset="0"/>
              <a:buChar char="•"/>
            </a:pPr>
            <a:r>
              <a:rPr lang="nl-BE" sz="1600" b="1" dirty="0">
                <a:solidFill>
                  <a:srgbClr val="B0C4D8"/>
                </a:solidFill>
              </a:rPr>
              <a:t>Meerdere </a:t>
            </a:r>
            <a:r>
              <a:rPr lang="nl-BE" sz="1600" b="1" dirty="0" err="1">
                <a:solidFill>
                  <a:srgbClr val="B0C4D8"/>
                </a:solidFill>
              </a:rPr>
              <a:t>KPI’s</a:t>
            </a:r>
            <a:r>
              <a:rPr lang="nl-BE" sz="1600" b="1" dirty="0">
                <a:solidFill>
                  <a:srgbClr val="B0C4D8"/>
                </a:solidFill>
              </a:rPr>
              <a:t> zijn noodzakelijk</a:t>
            </a:r>
            <a:br>
              <a:rPr lang="nl-BE" sz="1600" dirty="0">
                <a:solidFill>
                  <a:srgbClr val="B0C4D8"/>
                </a:solidFill>
              </a:rPr>
            </a:br>
            <a:r>
              <a:rPr lang="nl-BE" sz="1600" dirty="0">
                <a:solidFill>
                  <a:srgbClr val="B0C4D8"/>
                </a:solidFill>
              </a:rPr>
              <a:t>→ wachttijd, vertraging, doorstroming en wachtrijlengte vullen elkaar aan </a:t>
            </a:r>
          </a:p>
          <a:p>
            <a:pPr marL="285750" lvl="0" indent="-285750">
              <a:lnSpc>
                <a:spcPct val="120000"/>
              </a:lnSpc>
              <a:spcBef>
                <a:spcPts val="300"/>
              </a:spcBef>
              <a:buFont typeface="Arial" panose="020B0604020202020204" pitchFamily="34" charset="0"/>
              <a:buChar char="•"/>
            </a:pPr>
            <a:r>
              <a:rPr lang="nl-BE" sz="1600" b="1" dirty="0">
                <a:solidFill>
                  <a:srgbClr val="B0C4D8"/>
                </a:solidFill>
              </a:rPr>
              <a:t>Grootste winst tijdens piekuren</a:t>
            </a:r>
            <a:br>
              <a:rPr lang="nl-BE" sz="1600" dirty="0">
                <a:solidFill>
                  <a:srgbClr val="B0C4D8"/>
                </a:solidFill>
              </a:rPr>
            </a:br>
            <a:r>
              <a:rPr lang="nl-BE" sz="1600" dirty="0">
                <a:solidFill>
                  <a:srgbClr val="B0C4D8"/>
                </a:solidFill>
              </a:rPr>
              <a:t>→ RL past zich adaptief aan veranderende verkeersintensiteit aan </a:t>
            </a:r>
          </a:p>
          <a:p>
            <a:pPr marL="285750" lvl="0" indent="-285750">
              <a:lnSpc>
                <a:spcPct val="120000"/>
              </a:lnSpc>
              <a:spcBef>
                <a:spcPts val="300"/>
              </a:spcBef>
              <a:buFont typeface="Arial" panose="020B0604020202020204" pitchFamily="34" charset="0"/>
              <a:buChar char="•"/>
            </a:pPr>
            <a:r>
              <a:rPr lang="nl-BE" sz="1600" b="1" dirty="0">
                <a:solidFill>
                  <a:srgbClr val="B0C4D8"/>
                </a:solidFill>
              </a:rPr>
              <a:t>Beperkte transfer naar nieuwe steden</a:t>
            </a:r>
            <a:br>
              <a:rPr lang="nl-BE" sz="1600" dirty="0">
                <a:solidFill>
                  <a:srgbClr val="B0C4D8"/>
                </a:solidFill>
              </a:rPr>
            </a:br>
            <a:r>
              <a:rPr lang="nl-BE" sz="1600" dirty="0">
                <a:solidFill>
                  <a:srgbClr val="B0C4D8"/>
                </a:solidFill>
              </a:rPr>
              <a:t>→ </a:t>
            </a:r>
            <a:r>
              <a:rPr lang="nl-BE" sz="1600" dirty="0" err="1">
                <a:solidFill>
                  <a:srgbClr val="B0C4D8"/>
                </a:solidFill>
              </a:rPr>
              <a:t>hertraining</a:t>
            </a:r>
            <a:r>
              <a:rPr lang="nl-BE" sz="1600" dirty="0">
                <a:solidFill>
                  <a:srgbClr val="B0C4D8"/>
                </a:solidFill>
              </a:rPr>
              <a:t> of fine-</a:t>
            </a:r>
            <a:r>
              <a:rPr lang="nl-BE" sz="1600" dirty="0" err="1">
                <a:solidFill>
                  <a:srgbClr val="B0C4D8"/>
                </a:solidFill>
              </a:rPr>
              <a:t>tuning</a:t>
            </a:r>
            <a:r>
              <a:rPr lang="nl-BE" sz="1600" dirty="0">
                <a:solidFill>
                  <a:srgbClr val="B0C4D8"/>
                </a:solidFill>
              </a:rPr>
              <a:t> blijft meestal nodig</a:t>
            </a:r>
          </a:p>
          <a:p>
            <a:pPr marL="285750" lvl="0" indent="-285750">
              <a:lnSpc>
                <a:spcPct val="120000"/>
              </a:lnSpc>
              <a:spcBef>
                <a:spcPts val="300"/>
              </a:spcBef>
              <a:buFont typeface="Arial" panose="020B0604020202020204" pitchFamily="34" charset="0"/>
              <a:buChar char="•"/>
            </a:pPr>
            <a:r>
              <a:rPr lang="nl-BE" sz="1600" dirty="0">
                <a:solidFill>
                  <a:srgbClr val="B0C4D8"/>
                </a:solidFill>
              </a:rPr>
              <a:t> </a:t>
            </a:r>
            <a:r>
              <a:rPr lang="nl-BE" sz="1600" b="1" dirty="0">
                <a:solidFill>
                  <a:srgbClr val="B0C4D8"/>
                </a:solidFill>
              </a:rPr>
              <a:t>Adaptatiesnelheid hangt af van training</a:t>
            </a:r>
            <a:br>
              <a:rPr lang="nl-BE" sz="1600" dirty="0">
                <a:solidFill>
                  <a:srgbClr val="B0C4D8"/>
                </a:solidFill>
              </a:rPr>
            </a:br>
            <a:r>
              <a:rPr lang="nl-BE" sz="1600" dirty="0">
                <a:solidFill>
                  <a:srgbClr val="B0C4D8"/>
                </a:solidFill>
              </a:rPr>
              <a:t>→ meer scenario-diversiteit zorgt voor snellere en stabielere beslissingen</a:t>
            </a:r>
            <a:endParaRPr kumimoji="0" lang="nl-BE" sz="1600" b="0" i="1" u="none" strike="noStrike" kern="1200" cap="none" spc="0" normalizeH="0" baseline="0" noProof="0" dirty="0">
              <a:ln>
                <a:noFill/>
              </a:ln>
              <a:solidFill>
                <a:srgbClr val="B0C4D8"/>
              </a:solidFill>
              <a:effectLst/>
              <a:uLnTx/>
              <a:uFillTx/>
              <a:latin typeface="Calibri"/>
            </a:endParaRPr>
          </a:p>
        </p:txBody>
      </p:sp>
      <p:sp>
        <p:nvSpPr>
          <p:cNvPr id="14" name="Rectangle 13">
            <a:extLst>
              <a:ext uri="{FF2B5EF4-FFF2-40B4-BE49-F238E27FC236}">
                <a16:creationId xmlns:a16="http://schemas.microsoft.com/office/drawing/2014/main" id="{95F41F25-8583-8933-CFB1-0A676DAFF3D3}"/>
              </a:ext>
            </a:extLst>
          </p:cNvPr>
          <p:cNvSpPr/>
          <p:nvPr/>
        </p:nvSpPr>
        <p:spPr>
          <a:xfrm>
            <a:off x="6261258" y="3794760"/>
            <a:ext cx="5639594" cy="274320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0C819437-B9F7-87B7-6A8F-154DA36718DD}"/>
              </a:ext>
            </a:extLst>
          </p:cNvPr>
          <p:cNvSpPr/>
          <p:nvPr/>
        </p:nvSpPr>
        <p:spPr>
          <a:xfrm>
            <a:off x="6261258" y="3785617"/>
            <a:ext cx="5625942" cy="45719"/>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2A09F323-7B76-51C7-F17E-4E1D0479378E}"/>
              </a:ext>
            </a:extLst>
          </p:cNvPr>
          <p:cNvSpPr txBox="1"/>
          <p:nvPr/>
        </p:nvSpPr>
        <p:spPr>
          <a:xfrm>
            <a:off x="6217920" y="3867912"/>
            <a:ext cx="1200072" cy="30777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l-BE" sz="1400" b="1" dirty="0">
                <a:solidFill>
                  <a:srgbClr val="FFBF00"/>
                </a:solidFill>
                <a:latin typeface="Calibri"/>
              </a:rPr>
              <a:t>Eindconclusie</a:t>
            </a:r>
            <a:endParaRPr kumimoji="0" sz="1400" b="1" i="0" u="none" strike="noStrike" kern="1200" cap="none" spc="0" normalizeH="0" baseline="0" noProof="0" dirty="0">
              <a:ln>
                <a:noFill/>
              </a:ln>
              <a:solidFill>
                <a:srgbClr val="FFBF00"/>
              </a:solidFill>
              <a:effectLst/>
              <a:uLnTx/>
              <a:uFillTx/>
              <a:latin typeface="Calibri"/>
              <a:ea typeface="+mn-ea"/>
              <a:cs typeface="+mn-cs"/>
            </a:endParaRPr>
          </a:p>
        </p:txBody>
      </p:sp>
      <p:sp>
        <p:nvSpPr>
          <p:cNvPr id="41" name="Tijdelijke aanduiding voor dianummer 40">
            <a:extLst>
              <a:ext uri="{FF2B5EF4-FFF2-40B4-BE49-F238E27FC236}">
                <a16:creationId xmlns:a16="http://schemas.microsoft.com/office/drawing/2014/main" id="{D7A2E5C3-50EB-08E6-0BCA-F4FD57519C94}"/>
              </a:ext>
            </a:extLst>
          </p:cNvPr>
          <p:cNvSpPr>
            <a:spLocks noGrp="1"/>
          </p:cNvSpPr>
          <p:nvPr>
            <p:ph type="sldNum" sz="quarter" idx="12"/>
          </p:nvPr>
        </p:nvSpPr>
        <p:spPr>
          <a:xfrm>
            <a:off x="10055352" y="6492875"/>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TextBox 8">
            <a:extLst>
              <a:ext uri="{FF2B5EF4-FFF2-40B4-BE49-F238E27FC236}">
                <a16:creationId xmlns:a16="http://schemas.microsoft.com/office/drawing/2014/main" id="{665E3436-982C-CF85-1775-FE21ADCCA2B8}"/>
              </a:ext>
            </a:extLst>
          </p:cNvPr>
          <p:cNvSpPr txBox="1"/>
          <p:nvPr/>
        </p:nvSpPr>
        <p:spPr>
          <a:xfrm>
            <a:off x="6261258" y="4212265"/>
            <a:ext cx="5459096" cy="1323439"/>
          </a:xfrm>
          <a:prstGeom prst="rect">
            <a:avLst/>
          </a:prstGeom>
          <a:noFill/>
        </p:spPr>
        <p:txBody>
          <a:bodyPr wrap="square">
            <a:spAutoFit/>
          </a:bodyPr>
          <a:lstStyle/>
          <a:p>
            <a:pPr lvl="0">
              <a:spcBef>
                <a:spcPts val="300"/>
              </a:spcBef>
            </a:pPr>
            <a:r>
              <a:rPr lang="nl-BE" sz="2000" b="1" dirty="0">
                <a:solidFill>
                  <a:srgbClr val="B0C4D8"/>
                </a:solidFill>
              </a:rPr>
              <a:t>D3QN biedt een duidelijke meerwaarde voor adaptieve verkeersregeling, vooral in drukke en dynamische verkeerssituaties waar vaste tijdsregelingen tekortschieten.</a:t>
            </a:r>
            <a:endParaRPr kumimoji="0" lang="nl-BE" sz="2000" b="1" i="1" u="none" strike="noStrike" kern="1200" cap="none" spc="0" normalizeH="0" baseline="0" noProof="0" dirty="0">
              <a:ln>
                <a:noFill/>
              </a:ln>
              <a:solidFill>
                <a:srgbClr val="B0C4D8"/>
              </a:solidFill>
              <a:effectLst/>
              <a:uLnTx/>
              <a:uFillTx/>
              <a:latin typeface="Calibri"/>
            </a:endParaRPr>
          </a:p>
        </p:txBody>
      </p:sp>
    </p:spTree>
    <p:extLst>
      <p:ext uri="{BB962C8B-B14F-4D97-AF65-F5344CB8AC3E}">
        <p14:creationId xmlns:p14="http://schemas.microsoft.com/office/powerpoint/2010/main" val="3913256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P spid="14" grpId="0" animBg="1"/>
      <p:bldP spid="15" grpId="0" animBg="1"/>
      <p:bldP spid="16"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3A0E356F-4466-EB93-0A07-22A1D6B9C6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F49C2F-C370-8C9E-7177-2A74213A8927}"/>
              </a:ext>
            </a:extLst>
          </p:cNvPr>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AD0532BB-D326-5CC4-46A1-E9EE13EF12DD}"/>
              </a:ext>
            </a:extLst>
          </p:cNvPr>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0BDAC9D3-0F4B-9D99-A76A-773F839C67BF}"/>
              </a:ext>
            </a:extLst>
          </p:cNvPr>
          <p:cNvSpPr txBox="1"/>
          <p:nvPr/>
        </p:nvSpPr>
        <p:spPr>
          <a:xfrm>
            <a:off x="1371600" y="1645920"/>
            <a:ext cx="9144000" cy="230832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l-BE" sz="7200" b="1" dirty="0">
                <a:solidFill>
                  <a:srgbClr val="0099FF"/>
                </a:solidFill>
                <a:latin typeface="Calibri"/>
              </a:rPr>
              <a:t>Reflectie</a:t>
            </a: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nl-BE" sz="7200" b="1" i="0" u="none" strike="noStrike" kern="1200" cap="none" spc="0" normalizeH="0" baseline="0" noProof="0" dirty="0">
              <a:ln>
                <a:noFill/>
              </a:ln>
              <a:solidFill>
                <a:srgbClr val="0099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1CA1D6BF-2D25-CE66-76AF-CEEDFC3D18F1}"/>
              </a:ext>
            </a:extLst>
          </p:cNvPr>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ijdelijke aanduiding voor dianummer 12">
            <a:extLst>
              <a:ext uri="{FF2B5EF4-FFF2-40B4-BE49-F238E27FC236}">
                <a16:creationId xmlns:a16="http://schemas.microsoft.com/office/drawing/2014/main" id="{3E2C738A-6FF1-BB6F-4E20-8C5F2307B008}"/>
              </a:ext>
            </a:extLst>
          </p:cNvPr>
          <p:cNvSpPr>
            <a:spLocks noGrp="1"/>
          </p:cNvSpPr>
          <p:nvPr>
            <p:ph type="sldNum" sz="quarter" idx="12"/>
          </p:nvPr>
        </p:nvSpPr>
        <p:spPr>
          <a:xfrm>
            <a:off x="10055225" y="6483731"/>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958962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6A25CC5D-D3EB-A35A-ACE8-2CEDA51DADC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1240D04-DCE7-453B-FCFA-E9B8F87B8196}"/>
              </a:ext>
            </a:extLst>
          </p:cNvPr>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520EC4CC-48D3-9823-5200-F85D1B99DEB5}"/>
              </a:ext>
            </a:extLst>
          </p:cNvPr>
          <p:cNvSpPr/>
          <p:nvPr/>
        </p:nvSpPr>
        <p:spPr>
          <a:xfrm>
            <a:off x="0" y="0"/>
            <a:ext cx="73152" cy="100584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F3ECA1DB-62D2-34A8-B3BF-4DDDB7614196}"/>
              </a:ext>
            </a:extLst>
          </p:cNvPr>
          <p:cNvSpPr txBox="1"/>
          <p:nvPr/>
        </p:nvSpPr>
        <p:spPr>
          <a:xfrm>
            <a:off x="201168" y="73152"/>
            <a:ext cx="1578830" cy="55399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BE" sz="3000" b="1" i="0" u="none" strike="noStrike" kern="1200" cap="none" spc="0" normalizeH="0" baseline="0" noProof="0" dirty="0">
                <a:ln>
                  <a:noFill/>
                </a:ln>
                <a:solidFill>
                  <a:srgbClr val="FFFFFF"/>
                </a:solidFill>
                <a:effectLst/>
                <a:uLnTx/>
                <a:uFillTx/>
                <a:latin typeface="Calibri"/>
                <a:ea typeface="+mn-ea"/>
                <a:cs typeface="+mn-cs"/>
              </a:rPr>
              <a:t>Reflectie</a:t>
            </a:r>
            <a:endParaRPr kumimoji="0" sz="3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7CCF225-2C3E-B8E1-1F0D-3628721206B6}"/>
              </a:ext>
            </a:extLst>
          </p:cNvPr>
          <p:cNvSpPr/>
          <p:nvPr/>
        </p:nvSpPr>
        <p:spPr>
          <a:xfrm>
            <a:off x="3230086" y="1207008"/>
            <a:ext cx="5577840" cy="5349240"/>
          </a:xfrm>
          <a:prstGeom prst="rect">
            <a:avLst/>
          </a:prstGeom>
          <a:solidFill>
            <a:srgbClr val="16283E"/>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98619EC3-4862-FBF0-B0E7-84BB86BB935E}"/>
              </a:ext>
            </a:extLst>
          </p:cNvPr>
          <p:cNvSpPr/>
          <p:nvPr/>
        </p:nvSpPr>
        <p:spPr>
          <a:xfrm>
            <a:off x="3230086" y="1207008"/>
            <a:ext cx="5577840" cy="36576"/>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a:extLst>
              <a:ext uri="{FF2B5EF4-FFF2-40B4-BE49-F238E27FC236}">
                <a16:creationId xmlns:a16="http://schemas.microsoft.com/office/drawing/2014/main" id="{CB33A258-BE94-7492-3710-C0E750CA4150}"/>
              </a:ext>
            </a:extLst>
          </p:cNvPr>
          <p:cNvSpPr txBox="1"/>
          <p:nvPr/>
        </p:nvSpPr>
        <p:spPr>
          <a:xfrm>
            <a:off x="3424237" y="1709928"/>
            <a:ext cx="5550535" cy="3970126"/>
          </a:xfrm>
          <a:prstGeom prst="rect">
            <a:avLst/>
          </a:prstGeom>
          <a:noFill/>
        </p:spPr>
        <p:txBody>
          <a:bodyPr wrap="square">
            <a:spAutoFit/>
          </a:bodyPr>
          <a:lstStyle/>
          <a:p>
            <a:pPr lvl="0">
              <a:lnSpc>
                <a:spcPct val="300000"/>
              </a:lnSpc>
              <a:spcBef>
                <a:spcPts val="300"/>
              </a:spcBef>
              <a:defRPr/>
            </a:pPr>
            <a:r>
              <a:rPr lang="nl-BE" sz="1400" dirty="0">
                <a:solidFill>
                  <a:srgbClr val="B0C4D8"/>
                </a:solidFill>
              </a:rPr>
              <a:t>🔹 Goede communicatie verbeterde de samenwerking</a:t>
            </a:r>
            <a:br>
              <a:rPr lang="nl-BE" sz="1400" dirty="0">
                <a:solidFill>
                  <a:srgbClr val="B0C4D8"/>
                </a:solidFill>
              </a:rPr>
            </a:br>
            <a:r>
              <a:rPr lang="nl-BE" sz="1400" dirty="0">
                <a:solidFill>
                  <a:srgbClr val="B0C4D8"/>
                </a:solidFill>
              </a:rPr>
              <a:t>🔹 Een duidelijke planning zorgde voor meer structuur</a:t>
            </a:r>
            <a:br>
              <a:rPr lang="nl-BE" sz="1400" dirty="0">
                <a:solidFill>
                  <a:srgbClr val="B0C4D8"/>
                </a:solidFill>
              </a:rPr>
            </a:br>
            <a:r>
              <a:rPr lang="nl-BE" sz="1400" dirty="0">
                <a:solidFill>
                  <a:srgbClr val="B0C4D8"/>
                </a:solidFill>
              </a:rPr>
              <a:t>🔹 Het AI-gedeelte vereiste extra research en probleemoplossing</a:t>
            </a:r>
          </a:p>
          <a:p>
            <a:pPr lvl="0">
              <a:lnSpc>
                <a:spcPct val="300000"/>
              </a:lnSpc>
              <a:spcBef>
                <a:spcPts val="300"/>
              </a:spcBef>
              <a:defRPr/>
            </a:pPr>
            <a:r>
              <a:rPr lang="nl-BE" sz="1400" dirty="0">
                <a:solidFill>
                  <a:srgbClr val="B0C4D8"/>
                </a:solidFill>
              </a:rPr>
              <a:t>🔹 Duidelijke afspraken maakten het samenwerken efficiënter</a:t>
            </a:r>
          </a:p>
          <a:p>
            <a:pPr lvl="0">
              <a:lnSpc>
                <a:spcPct val="300000"/>
              </a:lnSpc>
              <a:spcBef>
                <a:spcPts val="300"/>
              </a:spcBef>
              <a:defRPr/>
            </a:pPr>
            <a:r>
              <a:rPr lang="nl-BE" sz="1400" dirty="0">
                <a:solidFill>
                  <a:srgbClr val="B0C4D8"/>
                </a:solidFill>
              </a:rPr>
              <a:t>🔹 Een goede taakverdeling zorgde voor meer overzicht</a:t>
            </a:r>
          </a:p>
          <a:p>
            <a:pPr lvl="0">
              <a:lnSpc>
                <a:spcPct val="300000"/>
              </a:lnSpc>
              <a:spcBef>
                <a:spcPts val="300"/>
              </a:spcBef>
              <a:defRPr/>
            </a:pPr>
            <a:r>
              <a:rPr lang="nl-BE" sz="1400" dirty="0">
                <a:solidFill>
                  <a:srgbClr val="B0C4D8"/>
                </a:solidFill>
              </a:rPr>
              <a:t>🔹 Regelmatige feedback hielp om fouten sneller te verbeteren</a:t>
            </a:r>
          </a:p>
        </p:txBody>
      </p:sp>
      <p:sp>
        <p:nvSpPr>
          <p:cNvPr id="41" name="Tijdelijke aanduiding voor dianummer 40">
            <a:extLst>
              <a:ext uri="{FF2B5EF4-FFF2-40B4-BE49-F238E27FC236}">
                <a16:creationId xmlns:a16="http://schemas.microsoft.com/office/drawing/2014/main" id="{0235A060-724B-EC71-A4EE-03FC5C8B8E50}"/>
              </a:ext>
            </a:extLst>
          </p:cNvPr>
          <p:cNvSpPr>
            <a:spLocks noGrp="1"/>
          </p:cNvSpPr>
          <p:nvPr>
            <p:ph type="sldNum" sz="quarter" idx="12"/>
          </p:nvPr>
        </p:nvSpPr>
        <p:spPr>
          <a:xfrm>
            <a:off x="10055352" y="6492875"/>
            <a:ext cx="21336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6296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803136"/>
            <a:ext cx="12188952" cy="54864"/>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645920"/>
            <a:ext cx="9144000" cy="1200329"/>
          </a:xfrm>
          <a:prstGeom prst="rect">
            <a:avLst/>
          </a:prstGeom>
          <a:noFill/>
        </p:spPr>
        <p:txBody>
          <a:bodyPr wrap="square">
            <a:spAutoFit/>
          </a:bodyPr>
          <a:lstStyle/>
          <a:p>
            <a:pPr algn="ctr"/>
            <a:r>
              <a:rPr sz="7200" b="1" i="0" dirty="0" err="1">
                <a:solidFill>
                  <a:srgbClr val="0099FF"/>
                </a:solidFill>
              </a:rPr>
              <a:t>Vragen</a:t>
            </a:r>
            <a:r>
              <a:rPr sz="7200" b="1" i="0" dirty="0">
                <a:solidFill>
                  <a:srgbClr val="0099FF"/>
                </a:solidFill>
              </a:rPr>
              <a:t>?</a:t>
            </a:r>
          </a:p>
        </p:txBody>
      </p:sp>
      <p:sp>
        <p:nvSpPr>
          <p:cNvPr id="5" name="TextBox 4"/>
          <p:cNvSpPr txBox="1"/>
          <p:nvPr/>
        </p:nvSpPr>
        <p:spPr>
          <a:xfrm>
            <a:off x="1371600" y="3200400"/>
            <a:ext cx="9144000" cy="369332"/>
          </a:xfrm>
          <a:prstGeom prst="rect">
            <a:avLst/>
          </a:prstGeom>
          <a:noFill/>
        </p:spPr>
        <p:txBody>
          <a:bodyPr wrap="square">
            <a:spAutoFit/>
          </a:bodyPr>
          <a:lstStyle/>
          <a:p>
            <a:pPr algn="ctr"/>
            <a:r>
              <a:rPr sz="1800" b="0" i="0" dirty="0">
                <a:solidFill>
                  <a:srgbClr val="B0C4D8"/>
                </a:solidFill>
              </a:rPr>
              <a:t>VROOM – </a:t>
            </a:r>
            <a:r>
              <a:rPr lang="nl-BE" dirty="0" err="1">
                <a:solidFill>
                  <a:srgbClr val="B0C4D8"/>
                </a:solidFill>
              </a:rPr>
              <a:t>Final</a:t>
            </a:r>
            <a:r>
              <a:rPr lang="nl-BE" dirty="0">
                <a:solidFill>
                  <a:srgbClr val="B0C4D8"/>
                </a:solidFill>
              </a:rPr>
              <a:t> </a:t>
            </a:r>
            <a:r>
              <a:rPr lang="nl-BE" dirty="0" err="1">
                <a:solidFill>
                  <a:srgbClr val="B0C4D8"/>
                </a:solidFill>
              </a:rPr>
              <a:t>presentation</a:t>
            </a:r>
            <a:r>
              <a:rPr sz="1800" b="0" i="0" dirty="0">
                <a:solidFill>
                  <a:srgbClr val="B0C4D8"/>
                </a:solidFill>
              </a:rPr>
              <a:t> | Research Project AIN 2025-26</a:t>
            </a:r>
          </a:p>
        </p:txBody>
      </p:sp>
      <p:sp>
        <p:nvSpPr>
          <p:cNvPr id="6" name="Rectangle 5"/>
          <p:cNvSpPr/>
          <p:nvPr/>
        </p:nvSpPr>
        <p:spPr>
          <a:xfrm>
            <a:off x="4114800" y="3794760"/>
            <a:ext cx="3959352"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0" y="4114800"/>
            <a:ext cx="1828800" cy="292388"/>
          </a:xfrm>
          <a:prstGeom prst="rect">
            <a:avLst/>
          </a:prstGeom>
          <a:noFill/>
        </p:spPr>
        <p:txBody>
          <a:bodyPr wrap="square">
            <a:spAutoFit/>
          </a:bodyPr>
          <a:lstStyle/>
          <a:p>
            <a:pPr algn="r"/>
            <a:r>
              <a:rPr lang="nl-BE" sz="1300" b="1" dirty="0">
                <a:solidFill>
                  <a:srgbClr val="B0C4D8"/>
                </a:solidFill>
              </a:rPr>
              <a:t>Team AIN3</a:t>
            </a:r>
            <a:r>
              <a:rPr sz="1300" b="1" i="0" dirty="0">
                <a:solidFill>
                  <a:srgbClr val="B0C4D8"/>
                </a:solidFill>
              </a:rPr>
              <a:t>:</a:t>
            </a:r>
          </a:p>
        </p:txBody>
      </p:sp>
      <p:sp>
        <p:nvSpPr>
          <p:cNvPr id="8" name="TextBox 7"/>
          <p:cNvSpPr txBox="1"/>
          <p:nvPr/>
        </p:nvSpPr>
        <p:spPr>
          <a:xfrm>
            <a:off x="5148072" y="4123944"/>
            <a:ext cx="5486400" cy="292388"/>
          </a:xfrm>
          <a:prstGeom prst="rect">
            <a:avLst/>
          </a:prstGeom>
          <a:noFill/>
        </p:spPr>
        <p:txBody>
          <a:bodyPr wrap="square">
            <a:spAutoFit/>
          </a:bodyPr>
          <a:lstStyle/>
          <a:p>
            <a:r>
              <a:rPr lang="nl-BE" sz="1300" dirty="0">
                <a:solidFill>
                  <a:srgbClr val="B0C4D8"/>
                </a:solidFill>
              </a:rPr>
              <a:t>Glenn Claes</a:t>
            </a:r>
            <a:r>
              <a:rPr sz="1300" b="0" i="0" dirty="0">
                <a:solidFill>
                  <a:srgbClr val="B0C4D8"/>
                </a:solidFill>
              </a:rPr>
              <a:t>  ·  </a:t>
            </a:r>
            <a:r>
              <a:rPr lang="nl-BE" sz="1300" dirty="0" err="1">
                <a:solidFill>
                  <a:srgbClr val="B0C4D8"/>
                </a:solidFill>
              </a:rPr>
              <a:t>Muhammed</a:t>
            </a:r>
            <a:r>
              <a:rPr lang="nl-BE" sz="1300" dirty="0">
                <a:solidFill>
                  <a:srgbClr val="B0C4D8"/>
                </a:solidFill>
              </a:rPr>
              <a:t> </a:t>
            </a:r>
            <a:r>
              <a:rPr lang="nl-BE" sz="1300" dirty="0" err="1">
                <a:solidFill>
                  <a:srgbClr val="B0C4D8"/>
                </a:solidFill>
              </a:rPr>
              <a:t>Kömürboga</a:t>
            </a:r>
            <a:r>
              <a:rPr lang="nl-BE" sz="1300" dirty="0">
                <a:solidFill>
                  <a:srgbClr val="B0C4D8"/>
                </a:solidFill>
              </a:rPr>
              <a:t> ·  Martijn </a:t>
            </a:r>
            <a:r>
              <a:rPr lang="nl-BE" sz="1300" dirty="0" err="1">
                <a:solidFill>
                  <a:srgbClr val="B0C4D8"/>
                </a:solidFill>
              </a:rPr>
              <a:t>Vanhengel</a:t>
            </a:r>
            <a:endParaRPr sz="1300" b="0" i="0" dirty="0">
              <a:solidFill>
                <a:srgbClr val="B0C4D8"/>
              </a:solidFill>
            </a:endParaRPr>
          </a:p>
        </p:txBody>
      </p:sp>
      <p:sp>
        <p:nvSpPr>
          <p:cNvPr id="9" name="TextBox 8"/>
          <p:cNvSpPr txBox="1"/>
          <p:nvPr/>
        </p:nvSpPr>
        <p:spPr>
          <a:xfrm>
            <a:off x="3200400" y="4617720"/>
            <a:ext cx="1828800" cy="365760"/>
          </a:xfrm>
          <a:prstGeom prst="rect">
            <a:avLst/>
          </a:prstGeom>
          <a:noFill/>
        </p:spPr>
        <p:txBody>
          <a:bodyPr wrap="square">
            <a:spAutoFit/>
          </a:bodyPr>
          <a:lstStyle/>
          <a:p>
            <a:pPr algn="r"/>
            <a:r>
              <a:rPr sz="1300" b="1" i="0">
                <a:solidFill>
                  <a:srgbClr val="B0C4D8"/>
                </a:solidFill>
              </a:rPr>
              <a:t>Platform:</a:t>
            </a:r>
          </a:p>
        </p:txBody>
      </p:sp>
      <p:sp>
        <p:nvSpPr>
          <p:cNvPr id="10" name="TextBox 9"/>
          <p:cNvSpPr txBox="1"/>
          <p:nvPr/>
        </p:nvSpPr>
        <p:spPr>
          <a:xfrm>
            <a:off x="5212080" y="4617720"/>
            <a:ext cx="5486400" cy="292388"/>
          </a:xfrm>
          <a:prstGeom prst="rect">
            <a:avLst/>
          </a:prstGeom>
          <a:noFill/>
        </p:spPr>
        <p:txBody>
          <a:bodyPr wrap="square">
            <a:spAutoFit/>
          </a:bodyPr>
          <a:lstStyle/>
          <a:p>
            <a:pPr algn="l"/>
            <a:r>
              <a:rPr sz="1300" b="0" i="0" dirty="0">
                <a:solidFill>
                  <a:srgbClr val="0099FF"/>
                </a:solidFill>
              </a:rPr>
              <a:t>JIRA  ·  Confluence  ·  GitHub  ·</a:t>
            </a:r>
            <a:r>
              <a:rPr lang="nl-BE" sz="1300" b="0" i="0" dirty="0">
                <a:solidFill>
                  <a:srgbClr val="0099FF"/>
                </a:solidFill>
              </a:rPr>
              <a:t> Docker Hub </a:t>
            </a:r>
            <a:endParaRPr sz="1300" b="0" i="0" dirty="0">
              <a:solidFill>
                <a:srgbClr val="0099FF"/>
              </a:solidFill>
            </a:endParaRPr>
          </a:p>
        </p:txBody>
      </p:sp>
      <p:sp>
        <p:nvSpPr>
          <p:cNvPr id="11" name="TextBox 10"/>
          <p:cNvSpPr txBox="1"/>
          <p:nvPr/>
        </p:nvSpPr>
        <p:spPr>
          <a:xfrm>
            <a:off x="3200400" y="5120640"/>
            <a:ext cx="1828800" cy="365760"/>
          </a:xfrm>
          <a:prstGeom prst="rect">
            <a:avLst/>
          </a:prstGeom>
          <a:noFill/>
        </p:spPr>
        <p:txBody>
          <a:bodyPr wrap="square">
            <a:spAutoFit/>
          </a:bodyPr>
          <a:lstStyle/>
          <a:p>
            <a:pPr algn="r"/>
            <a:r>
              <a:rPr sz="1300" b="1" i="0">
                <a:solidFill>
                  <a:srgbClr val="B0C4D8"/>
                </a:solidFill>
              </a:rPr>
              <a:t>Vak:</a:t>
            </a:r>
          </a:p>
        </p:txBody>
      </p:sp>
      <p:sp>
        <p:nvSpPr>
          <p:cNvPr id="12" name="TextBox 11"/>
          <p:cNvSpPr txBox="1"/>
          <p:nvPr/>
        </p:nvSpPr>
        <p:spPr>
          <a:xfrm>
            <a:off x="5212080" y="5120640"/>
            <a:ext cx="5486400" cy="365760"/>
          </a:xfrm>
          <a:prstGeom prst="rect">
            <a:avLst/>
          </a:prstGeom>
          <a:noFill/>
        </p:spPr>
        <p:txBody>
          <a:bodyPr wrap="square">
            <a:spAutoFit/>
          </a:bodyPr>
          <a:lstStyle/>
          <a:p>
            <a:pPr algn="l"/>
            <a:r>
              <a:rPr sz="1300" b="0" i="0">
                <a:solidFill>
                  <a:srgbClr val="00E596"/>
                </a:solidFill>
              </a:rPr>
              <a:t>42TIN2150 – Research Project AIN</a:t>
            </a:r>
          </a:p>
        </p:txBody>
      </p:sp>
      <p:sp>
        <p:nvSpPr>
          <p:cNvPr id="13" name="Tijdelijke aanduiding voor dianummer 12">
            <a:extLst>
              <a:ext uri="{FF2B5EF4-FFF2-40B4-BE49-F238E27FC236}">
                <a16:creationId xmlns:a16="http://schemas.microsoft.com/office/drawing/2014/main" id="{43A93B8A-927D-C9C1-3999-30A9814DCDFF}"/>
              </a:ext>
            </a:extLst>
          </p:cNvPr>
          <p:cNvSpPr>
            <a:spLocks noGrp="1"/>
          </p:cNvSpPr>
          <p:nvPr>
            <p:ph type="sldNum" sz="quarter" idx="12"/>
          </p:nvPr>
        </p:nvSpPr>
        <p:spPr>
          <a:xfrm>
            <a:off x="10055225" y="6483731"/>
            <a:ext cx="2133600" cy="365125"/>
          </a:xfrm>
        </p:spPr>
        <p:txBody>
          <a:bodyPr/>
          <a:lstStyle/>
          <a:p>
            <a:fld id="{C1FF6DA9-008F-8B48-92A6-B652298478BF}" type="slidenum">
              <a:rPr lang="en-US" smtClean="0"/>
              <a:t>34</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1435</TotalTime>
  <Words>1201</Words>
  <Application>Microsoft Office PowerPoint</Application>
  <PresentationFormat>Aangepast</PresentationFormat>
  <Paragraphs>282</Paragraphs>
  <Slides>34</Slides>
  <Notes>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34</vt:i4>
      </vt:variant>
    </vt:vector>
  </HeadingPairs>
  <TitlesOfParts>
    <vt:vector size="39" baseType="lpstr">
      <vt:lpstr>Aptos</vt:lpstr>
      <vt:lpstr>Arial</vt:lpstr>
      <vt:lpstr>Calibri</vt:lpstr>
      <vt:lpstr>Wingdings</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Glenn Claes</dc:creator>
  <cp:keywords/>
  <dc:description>generated using python-pptx</dc:description>
  <cp:lastModifiedBy>Martijn Vanhengel</cp:lastModifiedBy>
  <cp:revision>100</cp:revision>
  <dcterms:created xsi:type="dcterms:W3CDTF">2013-01-27T09:14:16Z</dcterms:created>
  <dcterms:modified xsi:type="dcterms:W3CDTF">2026-05-26T13:51:22Z</dcterms:modified>
  <cp:category/>
</cp:coreProperties>
</file>