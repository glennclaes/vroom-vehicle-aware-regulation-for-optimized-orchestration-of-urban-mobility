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5" r:id="rId4"/>
    <p:sldId id="289" r:id="rId5"/>
    <p:sldId id="276" r:id="rId6"/>
    <p:sldId id="290" r:id="rId7"/>
    <p:sldId id="293" r:id="rId8"/>
    <p:sldId id="294" r:id="rId9"/>
    <p:sldId id="296" r:id="rId10"/>
    <p:sldId id="295" r:id="rId11"/>
    <p:sldId id="277" r:id="rId12"/>
    <p:sldId id="260" r:id="rId13"/>
    <p:sldId id="278" r:id="rId14"/>
    <p:sldId id="291" r:id="rId15"/>
    <p:sldId id="303" r:id="rId16"/>
    <p:sldId id="297" r:id="rId17"/>
    <p:sldId id="301" r:id="rId18"/>
    <p:sldId id="302" r:id="rId19"/>
    <p:sldId id="279" r:id="rId20"/>
    <p:sldId id="298" r:id="rId21"/>
    <p:sldId id="273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C4D8"/>
    <a:srgbClr val="00E596"/>
    <a:srgbClr val="FFCC00"/>
    <a:srgbClr val="0099FF"/>
    <a:srgbClr val="AAFFAA"/>
    <a:srgbClr val="FFFFFF"/>
    <a:srgbClr val="FF3300"/>
    <a:srgbClr val="3A86B9"/>
    <a:srgbClr val="33CCCC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5" autoAdjust="0"/>
    <p:restoredTop sz="94620" autoAdjust="0"/>
  </p:normalViewPr>
  <p:slideViewPr>
    <p:cSldViewPr snapToGrid="0" snapToObjects="1">
      <p:cViewPr varScale="1">
        <p:scale>
          <a:sx n="105" d="100"/>
          <a:sy n="105" d="100"/>
        </p:scale>
        <p:origin x="97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DBD42-E37A-4441-A08F-F50F26AD8D2D}" type="datetimeFigureOut">
              <a:rPr lang="nl-BE" smtClean="0"/>
              <a:t>27/04/2026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965FE-E126-49D4-817A-BFEF2442743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5552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7BB2-6C6B-4C81-B0E7-03D5D6EA0F5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45613-CA84-426B-AF53-F1D278C2D8C8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8AAEC-89F3-440A-A5BE-6CC266B1F68B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7D324-99A6-4ACF-8208-255BA66B7BD2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01333-7C9A-42F8-A398-00D10ADBAF95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C9585-5D8B-4932-9C07-A4106421E230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B3E-5F8D-4053-AD48-6DDC3800140B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7BF1C-0923-4E13-A6D6-C267767810F9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1A27-2924-4BA9-B775-6618722FEBE6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C7CDE-87BF-4F80-A0F7-07224B50AC9F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BD54-9240-4E21-9CF2-D70B61E69CCE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B2352-B4A7-44B3-A9DA-B0E30BC279C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what-is-reinforcement-learning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803.11115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full/10.1155/2021/6616702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731520" cy="73152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 dirty="0">
                <a:solidFill>
                  <a:srgbClr val="0099FF"/>
                </a:solidFill>
              </a:rPr>
              <a:t>VROOM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8"/>
                </a:solidFill>
              </a:rPr>
              <a:t>Vehicle-aware Regulation for
Optimized Orchestration of urban Mobility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94760"/>
            <a:ext cx="4023360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</a:rPr>
              <a:t>Sprint </a:t>
            </a:r>
            <a:r>
              <a:rPr lang="nl-BE" sz="2200" b="1" i="0" dirty="0">
                <a:solidFill>
                  <a:srgbClr val="FFFFFF"/>
                </a:solidFill>
              </a:rPr>
              <a:t>2</a:t>
            </a:r>
            <a:r>
              <a:rPr lang="nl-BE" sz="2200" b="1" dirty="0">
                <a:solidFill>
                  <a:srgbClr val="FFFFFF"/>
                </a:solidFill>
              </a:rPr>
              <a:t> </a:t>
            </a:r>
            <a:r>
              <a:rPr sz="2200" b="1" i="0" dirty="0">
                <a:solidFill>
                  <a:srgbClr val="FFFFFF"/>
                </a:solidFill>
              </a:rPr>
              <a:t>– </a:t>
            </a:r>
            <a:r>
              <a:rPr lang="nl-BE" sz="2200" b="1" dirty="0">
                <a:solidFill>
                  <a:srgbClr val="FFFFFF"/>
                </a:solidFill>
              </a:rPr>
              <a:t>Tussentijds onderzoek</a:t>
            </a:r>
            <a:endParaRPr sz="2200" b="1" i="0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1417320" cy="292608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50799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Research Project 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4480560"/>
            <a:ext cx="1417320" cy="292608"/>
          </a:xfrm>
          <a:prstGeom prst="round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65960" y="4507992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2025 –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4480560"/>
            <a:ext cx="1417320" cy="292608"/>
          </a:xfrm>
          <a:prstGeom prst="round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4507992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0D1B2A"/>
                </a:solidFill>
              </a:rPr>
              <a:t>PXL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83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E596"/>
                </a:solidFill>
              </a:rPr>
              <a:t>SAM – Smart &amp; Adaptive Mobility</a:t>
            </a:r>
          </a:p>
        </p:txBody>
      </p:sp>
      <p:sp>
        <p:nvSpPr>
          <p:cNvPr id="19" name="Rectangle 18"/>
          <p:cNvSpPr/>
          <p:nvPr/>
        </p:nvSpPr>
        <p:spPr>
          <a:solidFill>
            <a:srgbClr val="0D1B2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B0C4D8"/>
                </a:solidFill>
              </a:rPr>
              <a:t>42TIN2150 – Research Project AIN</a:t>
            </a:r>
          </a:p>
        </p:txBody>
      </p:sp>
      <p:pic>
        <p:nvPicPr>
          <p:cNvPr id="25" name="Afbeelding 24" descr="Afbeelding met Lettertype, Graphics, logo, symbool&#10;&#10;Door AI gegenereerde inhoud is mogelijk onjuist.">
            <a:extLst>
              <a:ext uri="{FF2B5EF4-FFF2-40B4-BE49-F238E27FC236}">
                <a16:creationId xmlns:a16="http://schemas.microsoft.com/office/drawing/2014/main" id="{0E7F80AC-F5C1-24E2-7674-49DF3E44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31"/>
          <a:stretch>
            <a:fillRect/>
          </a:stretch>
        </p:blipFill>
        <p:spPr>
          <a:xfrm>
            <a:off x="320040" y="320040"/>
            <a:ext cx="731520" cy="7315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6" name="Tijdelijke aanduiding voor dianummer 25">
            <a:extLst>
              <a:ext uri="{FF2B5EF4-FFF2-40B4-BE49-F238E27FC236}">
                <a16:creationId xmlns:a16="http://schemas.microsoft.com/office/drawing/2014/main" id="{CE6FDA23-3A4C-854D-99B9-31B381E4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3801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0C1608D4-2ACF-0986-A340-8B2684819583}"/>
              </a:ext>
            </a:extLst>
          </p:cNvPr>
          <p:cNvSpPr txBox="1"/>
          <p:nvPr/>
        </p:nvSpPr>
        <p:spPr>
          <a:xfrm>
            <a:off x="5029200" y="4368582"/>
            <a:ext cx="715975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dirty="0">
                <a:solidFill>
                  <a:schemeClr val="bg1"/>
                </a:solidFill>
              </a:rPr>
              <a:t>Glenn Claes</a:t>
            </a:r>
          </a:p>
          <a:p>
            <a:r>
              <a:rPr lang="nl-BE" sz="4400" dirty="0" err="1">
                <a:solidFill>
                  <a:schemeClr val="bg1"/>
                </a:solidFill>
              </a:rPr>
              <a:t>Muhammed</a:t>
            </a:r>
            <a:r>
              <a:rPr lang="nl-BE" sz="4400" dirty="0">
                <a:solidFill>
                  <a:schemeClr val="bg1"/>
                </a:solidFill>
              </a:rPr>
              <a:t> </a:t>
            </a:r>
            <a:r>
              <a:rPr lang="nl-BE" sz="4400" dirty="0" err="1">
                <a:solidFill>
                  <a:schemeClr val="bg1"/>
                </a:solidFill>
              </a:rPr>
              <a:t>Kömürboga</a:t>
            </a:r>
            <a:endParaRPr lang="nl-BE" sz="4400" dirty="0">
              <a:solidFill>
                <a:schemeClr val="bg1"/>
              </a:solidFill>
            </a:endParaRPr>
          </a:p>
          <a:p>
            <a:r>
              <a:rPr lang="nl-BE" sz="4400" dirty="0">
                <a:solidFill>
                  <a:schemeClr val="bg1"/>
                </a:solidFill>
              </a:rPr>
              <a:t>Martijn </a:t>
            </a:r>
            <a:r>
              <a:rPr lang="nl-BE" sz="4400" dirty="0" err="1">
                <a:solidFill>
                  <a:schemeClr val="bg1"/>
                </a:solidFill>
              </a:rPr>
              <a:t>Vanhengel</a:t>
            </a:r>
            <a:endParaRPr lang="nl-BE" sz="4400" dirty="0">
              <a:solidFill>
                <a:schemeClr val="bg1"/>
              </a:solidFill>
            </a:endParaRP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CFF21CFE-F438-8B16-97FA-7F7020B1E33D}"/>
              </a:ext>
            </a:extLst>
          </p:cNvPr>
          <p:cNvSpPr txBox="1"/>
          <p:nvPr/>
        </p:nvSpPr>
        <p:spPr>
          <a:xfrm>
            <a:off x="6768084" y="1051560"/>
            <a:ext cx="368198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3800" dirty="0">
                <a:solidFill>
                  <a:schemeClr val="bg1"/>
                </a:solidFill>
              </a:rPr>
              <a:t>AIN3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132119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l-BE" sz="3000" b="1" dirty="0">
                <a:solidFill>
                  <a:srgbClr val="FFFFFF"/>
                </a:solidFill>
              </a:rPr>
              <a:t>Inhoud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4864" cy="65836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371600"/>
            <a:ext cx="310896" cy="310896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362456"/>
            <a:ext cx="374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dirty="0">
                <a:solidFill>
                  <a:srgbClr val="FFFFFF"/>
                </a:solidFill>
              </a:rPr>
              <a:t>Onderzoeksvraag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" y="1938528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938528"/>
            <a:ext cx="54864" cy="658368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4632" y="2121408"/>
            <a:ext cx="310896" cy="310896"/>
          </a:xfrm>
          <a:prstGeom prst="round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" y="2112264"/>
            <a:ext cx="374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12140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dirty="0">
                <a:solidFill>
                  <a:srgbClr val="FFFFFF"/>
                </a:solidFill>
              </a:rPr>
              <a:t>Deelvragen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040" y="2688336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688336"/>
            <a:ext cx="54864" cy="658368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" y="2871216"/>
            <a:ext cx="310896" cy="310896"/>
          </a:xfrm>
          <a:prstGeom prst="round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2862072"/>
            <a:ext cx="4023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87121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dirty="0">
                <a:solidFill>
                  <a:srgbClr val="FFFFFF"/>
                </a:solidFill>
              </a:rPr>
              <a:t>Onderzoeksmethode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" y="3438144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438144"/>
            <a:ext cx="54864" cy="65836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4632" y="3621024"/>
            <a:ext cx="310896" cy="310896"/>
          </a:xfrm>
          <a:prstGeom prst="round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3611880"/>
            <a:ext cx="374904" cy="276999"/>
          </a:xfrm>
          <a:prstGeom prst="rect">
            <a:avLst/>
          </a:prstGeom>
          <a:solidFill>
            <a:srgbClr val="00E596"/>
          </a:solidFill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2102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dirty="0">
                <a:solidFill>
                  <a:srgbClr val="FFFFFF"/>
                </a:solidFill>
              </a:rPr>
              <a:t>Bronnen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4187952"/>
            <a:ext cx="5303520" cy="658368"/>
          </a:xfrm>
          <a:prstGeom prst="rect">
            <a:avLst/>
          </a:prstGeom>
          <a:solidFill>
            <a:srgbClr val="16283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4187952"/>
            <a:ext cx="54864" cy="658368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4632" y="4370832"/>
            <a:ext cx="310896" cy="310896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4361688"/>
            <a:ext cx="3749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7083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600" b="1" i="0" dirty="0">
                <a:solidFill>
                  <a:srgbClr val="FFFFFF"/>
                </a:solidFill>
              </a:rPr>
              <a:t>Conclusie</a:t>
            </a:r>
            <a:endParaRPr sz="1600" b="1" i="0" dirty="0">
              <a:solidFill>
                <a:srgbClr val="FFFFFF"/>
              </a:solidFill>
            </a:endParaRPr>
          </a:p>
        </p:txBody>
      </p:sp>
      <p:sp>
        <p:nvSpPr>
          <p:cNvPr id="46" name="Tijdelijke aanduiding voor dianummer 45">
            <a:extLst>
              <a:ext uri="{FF2B5EF4-FFF2-40B4-BE49-F238E27FC236}">
                <a16:creationId xmlns:a16="http://schemas.microsoft.com/office/drawing/2014/main" id="{326632E6-B0F6-B356-C51F-0274B2E7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500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F38DA-2C80-89F5-17B0-C23D0991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5B9C85-3283-87A4-77C6-015FBB7AA281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40F9B1-36AB-E88E-EE7E-967CBBA70D92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1F1FA-8C37-EA26-33E2-27BE635A132D}"/>
              </a:ext>
            </a:extLst>
          </p:cNvPr>
          <p:cNvSpPr txBox="1"/>
          <p:nvPr/>
        </p:nvSpPr>
        <p:spPr>
          <a:xfrm>
            <a:off x="1371600" y="164592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7200" b="1" dirty="0">
                <a:solidFill>
                  <a:srgbClr val="0099FF"/>
                </a:solidFill>
              </a:rPr>
              <a:t>Onderzoeksvraag</a:t>
            </a:r>
          </a:p>
          <a:p>
            <a:pPr algn="ctr"/>
            <a:endParaRPr lang="nl-BE" sz="7200" b="1" dirty="0">
              <a:solidFill>
                <a:srgbClr val="0099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9C0EBE-72AA-C156-760F-AA2F4FF90EEB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740EF57D-C928-56B5-B789-D9842334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7494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8D6B3-31FA-DD97-9950-DA4DDFA4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997CDA-8296-2EDB-3EFF-389903E7E3F8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1074E3-5B8C-AF28-61F1-DC06E5605AFE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2D81E-5370-FB67-98BA-CB28A204A180}"/>
              </a:ext>
            </a:extLst>
          </p:cNvPr>
          <p:cNvSpPr txBox="1"/>
          <p:nvPr/>
        </p:nvSpPr>
        <p:spPr>
          <a:xfrm>
            <a:off x="201168" y="73152"/>
            <a:ext cx="293593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3000" b="1" dirty="0">
                <a:solidFill>
                  <a:srgbClr val="FFFFFF"/>
                </a:solidFill>
                <a:latin typeface="Calibri"/>
              </a:rPr>
              <a:t>Onderzoeksvraag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692FDB-2195-A55D-DD51-768F2E2B51B4}"/>
              </a:ext>
            </a:extLst>
          </p:cNvPr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sz="2000" i="1" dirty="0"/>
              <a:t>Wat is het effect van de SAM </a:t>
            </a:r>
            <a:r>
              <a:rPr lang="nl-BE" sz="2000" i="1" dirty="0" err="1"/>
              <a:t>reinforcement</a:t>
            </a:r>
            <a:r>
              <a:rPr lang="nl-BE" sz="2000" i="1" dirty="0"/>
              <a:t> </a:t>
            </a:r>
            <a:r>
              <a:rPr lang="nl-BE" sz="2000" i="1" dirty="0" err="1"/>
              <a:t>learning</a:t>
            </a:r>
            <a:r>
              <a:rPr lang="nl-BE" sz="2000" i="1" dirty="0"/>
              <a:t>-controller op de verkeersprestatie in vergelijking met een vaste tijdsregeling binnen vooraf gedefinieerde SUMO-scenario’s met variërende verkeersintensiteit?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8B67FF-554B-B6F7-8FCC-A4CB0154E60C}"/>
              </a:ext>
            </a:extLst>
          </p:cNvPr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042D36-43B1-2AE8-8FD2-BD9F304F7B5C}"/>
              </a:ext>
            </a:extLst>
          </p:cNvPr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300" b="1" dirty="0">
                <a:solidFill>
                  <a:srgbClr val="FF6500"/>
                </a:solidFill>
                <a:latin typeface="Calibri"/>
              </a:rPr>
              <a:t>Onderzoeksvraag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660201DF-22DB-1C24-9185-605CA3C79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860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58AFA-D231-29B0-3728-D0E8534A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178840-74C9-1F82-CA4B-C63B807A898B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C6975B-CCF8-652C-A489-D675D5690448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240C6-BEBE-765E-C33A-59E784C60EB8}"/>
              </a:ext>
            </a:extLst>
          </p:cNvPr>
          <p:cNvSpPr txBox="1"/>
          <p:nvPr/>
        </p:nvSpPr>
        <p:spPr>
          <a:xfrm>
            <a:off x="1371600" y="164592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nl-BE" sz="7200" b="1" dirty="0">
                <a:solidFill>
                  <a:srgbClr val="0099FF"/>
                </a:solidFill>
              </a:rPr>
              <a:t>Deelvragen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EF316A-11FD-4290-C45E-7E937487B0C3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30824791-2875-6FAB-0127-D7E6CF84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725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E33B5-932A-0390-84C4-64408ECF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CE1286-E48F-A633-C26C-4786E0C1183D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BAEB7A-FB74-8EFA-4B6B-2D977747E88F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B6B872-B649-77B7-E9A6-5D33BC52ECA7}"/>
              </a:ext>
            </a:extLst>
          </p:cNvPr>
          <p:cNvSpPr txBox="1"/>
          <p:nvPr/>
        </p:nvSpPr>
        <p:spPr>
          <a:xfrm>
            <a:off x="201168" y="73152"/>
            <a:ext cx="198830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3000" b="1" dirty="0">
                <a:solidFill>
                  <a:srgbClr val="FFFFFF"/>
                </a:solidFill>
                <a:latin typeface="Calibri"/>
              </a:rPr>
              <a:t>Deelvragen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555228-4BA6-AC26-7FD0-421BDD5734DA}"/>
              </a:ext>
            </a:extLst>
          </p:cNvPr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i="1" dirty="0"/>
              <a:t>Welke </a:t>
            </a:r>
            <a:r>
              <a:rPr lang="nl-BE" i="1" dirty="0" err="1"/>
              <a:t>reinforcement</a:t>
            </a:r>
            <a:r>
              <a:rPr lang="nl-BE" i="1" dirty="0"/>
              <a:t> </a:t>
            </a:r>
            <a:r>
              <a:rPr lang="nl-BE" i="1" dirty="0" err="1"/>
              <a:t>learning</a:t>
            </a:r>
            <a:r>
              <a:rPr lang="nl-BE" i="1" dirty="0"/>
              <a:t>-techniek is het meest geschikt voor de implementatie van de SAM-controller binnen het gekozen SUMO-scenario?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CBAA28-4A96-08F0-D742-D15632B20C12}"/>
              </a:ext>
            </a:extLst>
          </p:cNvPr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4CAC75-732A-E7BD-B26F-A189DA33CAA9}"/>
              </a:ext>
            </a:extLst>
          </p:cNvPr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300" b="1" dirty="0">
                <a:solidFill>
                  <a:srgbClr val="FF6500"/>
                </a:solidFill>
                <a:latin typeface="Calibri"/>
              </a:rPr>
              <a:t>Deelvraag 1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2D939C23-A343-419D-ACC0-05794843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Deep reinforcement learning framework for traffic light control. | Download  Scientific Diagram">
            <a:extLst>
              <a:ext uri="{FF2B5EF4-FFF2-40B4-BE49-F238E27FC236}">
                <a16:creationId xmlns:a16="http://schemas.microsoft.com/office/drawing/2014/main" id="{7F0D86A5-8F0B-9336-3046-A386CEB3A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053" y="2898944"/>
            <a:ext cx="8623299" cy="329188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40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AD1CBE-A383-DB25-D819-E6285455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EA090B-8E0B-7885-5597-0FF165814036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193533-380D-8DCE-A661-9787077BEC24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9BC8E6-1A14-5A7A-521B-83E1BE1E7EBB}"/>
              </a:ext>
            </a:extLst>
          </p:cNvPr>
          <p:cNvSpPr txBox="1"/>
          <p:nvPr/>
        </p:nvSpPr>
        <p:spPr>
          <a:xfrm>
            <a:off x="201168" y="73152"/>
            <a:ext cx="198830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Deelvragen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47F573-B310-B70A-B171-75DBC97E1D1B}"/>
              </a:ext>
            </a:extLst>
          </p:cNvPr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i="1" dirty="0"/>
              <a:t>Welke </a:t>
            </a:r>
            <a:r>
              <a:rPr lang="nl-BE" i="1" dirty="0" err="1"/>
              <a:t>metrieken</a:t>
            </a:r>
            <a:r>
              <a:rPr lang="nl-BE" i="1" dirty="0"/>
              <a:t> bieden de meeste betrouwbare en relevante inzichten om het effect van de SAM-</a:t>
            </a:r>
            <a:r>
              <a:rPr lang="nl-BE" i="1" dirty="0" err="1"/>
              <a:t>reinforcement</a:t>
            </a:r>
            <a:r>
              <a:rPr lang="nl-BE" i="1" dirty="0"/>
              <a:t> </a:t>
            </a:r>
            <a:r>
              <a:rPr lang="nl-BE" i="1" dirty="0" err="1"/>
              <a:t>learning</a:t>
            </a:r>
            <a:r>
              <a:rPr lang="nl-BE" i="1" dirty="0"/>
              <a:t> controller op verkeersprestaties te beoordelen?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D4CC0E-C994-C408-624E-7DA8FFAB9A4D}"/>
              </a:ext>
            </a:extLst>
          </p:cNvPr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8A387-F13E-E69C-930F-13D6CFF81CE9}"/>
              </a:ext>
            </a:extLst>
          </p:cNvPr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Deelvraag 2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2E723C16-5B8B-B776-EFFD-BA142CDC5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30D1A6F-B83A-2B6C-22DF-B1CEB26BDB00}"/>
              </a:ext>
            </a:extLst>
          </p:cNvPr>
          <p:cNvSpPr/>
          <p:nvPr/>
        </p:nvSpPr>
        <p:spPr>
          <a:xfrm>
            <a:off x="274320" y="2834640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7EBD40C0-3E31-F366-2233-E9D93DDBF0F4}"/>
              </a:ext>
            </a:extLst>
          </p:cNvPr>
          <p:cNvSpPr/>
          <p:nvPr/>
        </p:nvSpPr>
        <p:spPr>
          <a:xfrm>
            <a:off x="274320" y="2834640"/>
            <a:ext cx="3813048" cy="457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B30BE0FE-E712-E8D4-BC47-8021BCC6C9CB}"/>
              </a:ext>
            </a:extLst>
          </p:cNvPr>
          <p:cNvSpPr/>
          <p:nvPr/>
        </p:nvSpPr>
        <p:spPr>
          <a:xfrm>
            <a:off x="384048" y="2944368"/>
            <a:ext cx="457200" cy="27432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DCCEBD1B-2CB9-5309-A611-2F843FCF4159}"/>
              </a:ext>
            </a:extLst>
          </p:cNvPr>
          <p:cNvSpPr txBox="1"/>
          <p:nvPr/>
        </p:nvSpPr>
        <p:spPr>
          <a:xfrm>
            <a:off x="338326" y="2944368"/>
            <a:ext cx="548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100" b="1" dirty="0">
                <a:solidFill>
                  <a:srgbClr val="0D1B2A"/>
                </a:solidFill>
                <a:latin typeface="Calibri"/>
              </a:rPr>
              <a:t>DQN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33659B81-6700-B73C-8114-D1B586A117D8}"/>
              </a:ext>
            </a:extLst>
          </p:cNvPr>
          <p:cNvSpPr txBox="1"/>
          <p:nvPr/>
        </p:nvSpPr>
        <p:spPr>
          <a:xfrm>
            <a:off x="338201" y="3205978"/>
            <a:ext cx="3675763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nl-BE" b="1" dirty="0">
                <a:solidFill>
                  <a:srgbClr val="B0C4D8"/>
                </a:solidFill>
              </a:rPr>
              <a:t>Druk (</a:t>
            </a:r>
            <a:r>
              <a:rPr lang="nl-BE" b="1" dirty="0" err="1">
                <a:solidFill>
                  <a:srgbClr val="B0C4D8"/>
                </a:solidFill>
              </a:rPr>
              <a:t>Pressure</a:t>
            </a:r>
            <a:r>
              <a:rPr lang="nl-BE" b="1" dirty="0">
                <a:solidFill>
                  <a:srgbClr val="B0C4D8"/>
                </a:solidFill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B0C4D8"/>
                </a:solidFill>
              </a:rPr>
              <a:t>Intersection Delay &amp; Total Travel Time (TTT)</a:t>
            </a:r>
            <a:endParaRPr kumimoji="0" lang="nl-BE" b="1" i="0" u="none" strike="noStrike" kern="1200" cap="none" spc="0" normalizeH="0" baseline="0" noProof="0" dirty="0">
              <a:ln>
                <a:noFill/>
              </a:ln>
              <a:solidFill>
                <a:srgbClr val="B0C4D8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3F9978D8-85BC-EABD-84A2-D4F9BD97E653}"/>
              </a:ext>
            </a:extLst>
          </p:cNvPr>
          <p:cNvSpPr/>
          <p:nvPr/>
        </p:nvSpPr>
        <p:spPr>
          <a:xfrm>
            <a:off x="4224528" y="2834640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D7AF8948-2081-46DC-569A-EBB8E5FB632E}"/>
              </a:ext>
            </a:extLst>
          </p:cNvPr>
          <p:cNvSpPr/>
          <p:nvPr/>
        </p:nvSpPr>
        <p:spPr>
          <a:xfrm>
            <a:off x="4224528" y="2834640"/>
            <a:ext cx="3813048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79B3449A-3F9A-B096-E25A-8E279F10C4C2}"/>
              </a:ext>
            </a:extLst>
          </p:cNvPr>
          <p:cNvSpPr/>
          <p:nvPr/>
        </p:nvSpPr>
        <p:spPr>
          <a:xfrm>
            <a:off x="4334256" y="2944368"/>
            <a:ext cx="457200" cy="274320"/>
          </a:xfrm>
          <a:prstGeom prst="round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DB57716B-F1E5-FB0F-DF15-C497E2F2FFAB}"/>
              </a:ext>
            </a:extLst>
          </p:cNvPr>
          <p:cNvSpPr txBox="1"/>
          <p:nvPr/>
        </p:nvSpPr>
        <p:spPr>
          <a:xfrm>
            <a:off x="4265676" y="2953512"/>
            <a:ext cx="594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100" b="1" dirty="0">
                <a:solidFill>
                  <a:srgbClr val="0D1B2A"/>
                </a:solidFill>
                <a:latin typeface="Calibri"/>
              </a:rPr>
              <a:t>DQN</a:t>
            </a:r>
            <a:endParaRPr kumimoji="0" lang="nl-BE" sz="11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406072E-739A-DCBD-9B95-D3B9445AEDE4}"/>
              </a:ext>
            </a:extLst>
          </p:cNvPr>
          <p:cNvSpPr txBox="1"/>
          <p:nvPr/>
        </p:nvSpPr>
        <p:spPr>
          <a:xfrm>
            <a:off x="4361688" y="3168955"/>
            <a:ext cx="353872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nl-BE" b="1" dirty="0" err="1">
                <a:solidFill>
                  <a:srgbClr val="B0C4D8"/>
                </a:solidFill>
              </a:rPr>
              <a:t>Fairness</a:t>
            </a:r>
            <a:r>
              <a:rPr lang="nl-BE" b="1" dirty="0">
                <a:solidFill>
                  <a:srgbClr val="B0C4D8"/>
                </a:solidFill>
              </a:rPr>
              <a:t> Index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nl-BE" b="1" dirty="0" err="1">
                <a:solidFill>
                  <a:srgbClr val="B0C4D8"/>
                </a:solidFill>
              </a:rPr>
              <a:t>Normalized</a:t>
            </a:r>
            <a:r>
              <a:rPr lang="nl-BE" b="1" dirty="0">
                <a:solidFill>
                  <a:srgbClr val="B0C4D8"/>
                </a:solidFill>
              </a:rPr>
              <a:t> Queue (NQL</a:t>
            </a:r>
            <a:r>
              <a:rPr lang="nl-BE" dirty="0">
                <a:solidFill>
                  <a:srgbClr val="B0C4D8"/>
                </a:solidFill>
              </a:rPr>
              <a:t>)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B0C4D8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2889E68D-0BD9-6636-DCEB-82C527A020ED}"/>
              </a:ext>
            </a:extLst>
          </p:cNvPr>
          <p:cNvSpPr/>
          <p:nvPr/>
        </p:nvSpPr>
        <p:spPr>
          <a:xfrm>
            <a:off x="8174736" y="2834640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7336004A-8091-A11C-F139-304FAA40FA4F}"/>
              </a:ext>
            </a:extLst>
          </p:cNvPr>
          <p:cNvSpPr/>
          <p:nvPr/>
        </p:nvSpPr>
        <p:spPr>
          <a:xfrm>
            <a:off x="8174736" y="2834640"/>
            <a:ext cx="3813048" cy="4572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7B96DF6C-94A9-BF2D-6EA8-CB51C724F234}"/>
              </a:ext>
            </a:extLst>
          </p:cNvPr>
          <p:cNvSpPr/>
          <p:nvPr/>
        </p:nvSpPr>
        <p:spPr>
          <a:xfrm>
            <a:off x="8284464" y="2944368"/>
            <a:ext cx="457200" cy="274320"/>
          </a:xfrm>
          <a:prstGeom prst="round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BF512504-8159-6FD8-37CB-0E29573A7B60}"/>
              </a:ext>
            </a:extLst>
          </p:cNvPr>
          <p:cNvSpPr txBox="1"/>
          <p:nvPr/>
        </p:nvSpPr>
        <p:spPr>
          <a:xfrm>
            <a:off x="8238744" y="2944368"/>
            <a:ext cx="548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100" b="1" dirty="0">
                <a:solidFill>
                  <a:srgbClr val="0D1B2A"/>
                </a:solidFill>
                <a:latin typeface="Calibri"/>
              </a:rPr>
              <a:t>DQN</a:t>
            </a:r>
            <a:endParaRPr kumimoji="0" lang="nl-BE" sz="11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EF70E1B1-82EA-5275-3FEC-FCE37AB48B4A}"/>
              </a:ext>
            </a:extLst>
          </p:cNvPr>
          <p:cNvSpPr txBox="1"/>
          <p:nvPr/>
        </p:nvSpPr>
        <p:spPr>
          <a:xfrm>
            <a:off x="8311896" y="3310128"/>
            <a:ext cx="35387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b="1" dirty="0" err="1">
                <a:solidFill>
                  <a:srgbClr val="B0C4D8"/>
                </a:solidFill>
              </a:rPr>
              <a:t>Doorstroming</a:t>
            </a:r>
            <a:r>
              <a:rPr lang="en-US" b="1" dirty="0">
                <a:solidFill>
                  <a:srgbClr val="B0C4D8"/>
                </a:solidFill>
              </a:rPr>
              <a:t> (Throughput) &amp; TP/Delay Ratio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B0C4D8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339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5" grpId="0" animBg="1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 animBg="1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5669C-AB3E-8772-ADE8-BE37420E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880D00-D347-DAAE-3F55-985851FFACF5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D3CDDC-17DB-F360-1838-4D710E0933E4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F5844-A5D9-79A2-1364-38095CA36474}"/>
              </a:ext>
            </a:extLst>
          </p:cNvPr>
          <p:cNvSpPr txBox="1"/>
          <p:nvPr/>
        </p:nvSpPr>
        <p:spPr>
          <a:xfrm>
            <a:off x="201168" y="73152"/>
            <a:ext cx="198830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Deelvragen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6CB2C7-711B-E144-1302-96751B23DBAF}"/>
              </a:ext>
            </a:extLst>
          </p:cNvPr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i="1" dirty="0"/>
              <a:t>Hoe presteert de SAM-</a:t>
            </a:r>
            <a:r>
              <a:rPr lang="nl-BE" i="1" dirty="0" err="1"/>
              <a:t>reinforcement</a:t>
            </a:r>
            <a:r>
              <a:rPr lang="nl-BE" i="1" dirty="0"/>
              <a:t> </a:t>
            </a:r>
            <a:r>
              <a:rPr lang="nl-BE" i="1" dirty="0" err="1"/>
              <a:t>learning</a:t>
            </a:r>
            <a:r>
              <a:rPr lang="nl-BE" i="1" dirty="0"/>
              <a:t> controller bij hoge verkeersintensiteit of tijdens piekuren?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42B793-146F-7A29-DDAF-B0175E100413}"/>
              </a:ext>
            </a:extLst>
          </p:cNvPr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B50A9-FABE-8848-6DF1-DA0194B5EFDD}"/>
              </a:ext>
            </a:extLst>
          </p:cNvPr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Deelvraag 3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FE0BDBAD-C9E0-C890-31FD-4492CC6D1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67B69E9-79CB-9E51-7BA3-5E04C4FB090D}"/>
              </a:ext>
            </a:extLst>
          </p:cNvPr>
          <p:cNvSpPr/>
          <p:nvPr/>
        </p:nvSpPr>
        <p:spPr>
          <a:xfrm>
            <a:off x="274320" y="3087521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0000" marR="0" lvl="1" algn="ctr" defTabSz="457200" rtl="0" eaLnBrk="1" fontAlgn="auto" latinLnBrk="0" hangingPunct="1"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nl-BE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Normal</a:t>
            </a:r>
            <a:r>
              <a:rPr kumimoji="0" lang="nl-BE" sz="2400" b="1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traffic	  	Rush </a:t>
            </a:r>
            <a:r>
              <a:rPr kumimoji="0" lang="nl-BE" sz="2400" b="1" i="1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hour</a:t>
            </a:r>
            <a:r>
              <a:rPr kumimoji="0" lang="nl-BE" sz="2400" b="1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  	</a:t>
            </a:r>
            <a:r>
              <a:rPr kumimoji="0" lang="nl-BE" sz="2400" b="1" i="1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Quite</a:t>
            </a:r>
            <a:r>
              <a:rPr kumimoji="0" lang="nl-BE" sz="2400" b="1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traffic	  	</a:t>
            </a:r>
            <a:r>
              <a:rPr kumimoji="0" lang="nl-BE" sz="2400" b="1" i="1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Night</a:t>
            </a:r>
            <a:r>
              <a:rPr kumimoji="0" lang="nl-BE" sz="2400" b="1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traffic</a:t>
            </a:r>
            <a:endParaRPr kumimoji="0" sz="2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3158D6F-6319-925B-E789-003D323564EF}"/>
              </a:ext>
            </a:extLst>
          </p:cNvPr>
          <p:cNvSpPr/>
          <p:nvPr/>
        </p:nvSpPr>
        <p:spPr>
          <a:xfrm>
            <a:off x="274320" y="3087521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24BC5EAD-17F9-2EC4-D579-0F0887AB9F51}"/>
              </a:ext>
            </a:extLst>
          </p:cNvPr>
          <p:cNvSpPr txBox="1"/>
          <p:nvPr/>
        </p:nvSpPr>
        <p:spPr>
          <a:xfrm>
            <a:off x="548640" y="3105809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300" b="1" dirty="0">
                <a:solidFill>
                  <a:srgbClr val="FF6500"/>
                </a:solidFill>
                <a:latin typeface="Calibri"/>
              </a:rPr>
              <a:t>4 </a:t>
            </a:r>
            <a:r>
              <a:rPr lang="nl-BE" sz="1300" b="1" dirty="0" err="1">
                <a:solidFill>
                  <a:srgbClr val="FF6500"/>
                </a:solidFill>
                <a:latin typeface="Calibri"/>
              </a:rPr>
              <a:t>Scenarios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9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354F3-1CB4-9135-F7A3-9342BE9D7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8FECAE-3481-F82E-5427-2224E3A12AB8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B1D12-8AE6-F306-004D-4DB618F5BF42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71A91-3B7B-71A7-1391-402859F5F9E8}"/>
              </a:ext>
            </a:extLst>
          </p:cNvPr>
          <p:cNvSpPr txBox="1"/>
          <p:nvPr/>
        </p:nvSpPr>
        <p:spPr>
          <a:xfrm>
            <a:off x="201168" y="73152"/>
            <a:ext cx="198830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Deelvragen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A324F-531C-ECD9-80CE-522774C88585}"/>
              </a:ext>
            </a:extLst>
          </p:cNvPr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Kan een getrainde SAM-controller toegepast worden op nieuwe steden zonder volledig opnieuw te trainen?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4667E-646C-60C1-5512-77660202F868}"/>
              </a:ext>
            </a:extLst>
          </p:cNvPr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3D4B0A-CB58-7965-F335-B00F435EC126}"/>
              </a:ext>
            </a:extLst>
          </p:cNvPr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Deelvraag 4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D61E124B-67A7-B45E-5A08-067952AF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72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08B7F-9193-C547-3976-21E012767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50344A-864A-92E5-228C-4F62181B9B63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EF0C60-B47B-D82C-7CB2-C53287165484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DAA0F-CE2C-D7F6-81CA-BDF4CD9B760F}"/>
              </a:ext>
            </a:extLst>
          </p:cNvPr>
          <p:cNvSpPr txBox="1"/>
          <p:nvPr/>
        </p:nvSpPr>
        <p:spPr>
          <a:xfrm>
            <a:off x="201168" y="73152"/>
            <a:ext cx="198830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Deelvragen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F48DB5-66C2-1753-506A-2B3DBCDD859D}"/>
              </a:ext>
            </a:extLst>
          </p:cNvPr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i="1" dirty="0"/>
              <a:t>Hoe snel past de SAM-controller zich aan wanneer de verkeersintensiteit gedurende een simulatie abrupt verandert, bijvoorbeeld van rustig naar druk verkeer?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57EF1F-7EAC-72DE-B7D4-7F09DD0E3A35}"/>
              </a:ext>
            </a:extLst>
          </p:cNvPr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FDEF4-671B-845B-D0F3-10BEFD65A44C}"/>
              </a:ext>
            </a:extLst>
          </p:cNvPr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Deelvraag 5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B2E13904-A5F7-FDB7-0C38-3059E37C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50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6D684-7DBE-C976-D72A-7B363EDC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764938-A53A-49CD-D626-686A5AD95BE2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4AEEEF-E37E-B070-32CC-6EDD6D68FC5F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5359F-75D4-32B9-0D24-0DC3C5DBF32F}"/>
              </a:ext>
            </a:extLst>
          </p:cNvPr>
          <p:cNvSpPr txBox="1"/>
          <p:nvPr/>
        </p:nvSpPr>
        <p:spPr>
          <a:xfrm>
            <a:off x="1371600" y="1518954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nl-BE" sz="7200" b="1" dirty="0">
                <a:solidFill>
                  <a:srgbClr val="0099FF"/>
                </a:solidFill>
              </a:rPr>
              <a:t>Onderzoeksmethode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5075F-AEAE-E4E7-DC21-5685424D1C2A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4503E777-2693-4C77-58A2-E118A9DB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962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73152"/>
            <a:ext cx="352090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nl-BE" sz="3000" b="1" dirty="0">
                <a:solidFill>
                  <a:srgbClr val="FFFFFF"/>
                </a:solidFill>
              </a:rPr>
              <a:t>Onderzoeksmethode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nl-BE" dirty="0"/>
          </a:p>
          <a:p>
            <a:pPr lvl="1"/>
            <a:r>
              <a:rPr lang="nl-BE" dirty="0"/>
              <a:t>Voor dit onderzoek zal een experimentele en vergelijkende benadering worden gehanteerd. De prestaties van de SAM </a:t>
            </a:r>
            <a:r>
              <a:rPr lang="nl-BE" i="1" dirty="0" err="1"/>
              <a:t>Deep</a:t>
            </a:r>
            <a:r>
              <a:rPr lang="nl-BE" i="1" dirty="0"/>
              <a:t> </a:t>
            </a:r>
            <a:r>
              <a:rPr lang="nl-BE" i="1" dirty="0" err="1"/>
              <a:t>Reinforcement</a:t>
            </a:r>
            <a:r>
              <a:rPr lang="nl-BE" i="1" dirty="0"/>
              <a:t> Learning</a:t>
            </a:r>
            <a:r>
              <a:rPr lang="nl-BE" dirty="0"/>
              <a:t>-controller worden vergeleken met een vaste tijdsregeling binnen vooraf gedefinieerde verkeersscenario’s in SUMO.</a:t>
            </a:r>
          </a:p>
          <a:p>
            <a:pPr lvl="1"/>
            <a:endParaRPr i="1" dirty="0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l-BE" sz="1300" b="1" dirty="0">
                <a:solidFill>
                  <a:srgbClr val="FF6500"/>
                </a:solidFill>
              </a:rPr>
              <a:t>Onderzoeksmethode</a:t>
            </a:r>
            <a:endParaRPr sz="1300" b="1" i="0" dirty="0">
              <a:solidFill>
                <a:srgbClr val="FF6500"/>
              </a:solidFill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59AD1A57-54CE-86F1-FCDE-9D66B290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21C17C4-9A0C-71D2-56D9-274C82EEB4EB}"/>
              </a:ext>
            </a:extLst>
          </p:cNvPr>
          <p:cNvSpPr/>
          <p:nvPr/>
        </p:nvSpPr>
        <p:spPr>
          <a:xfrm>
            <a:off x="274319" y="2834639"/>
            <a:ext cx="11640185" cy="3649091"/>
          </a:xfrm>
          <a:prstGeom prst="rect">
            <a:avLst/>
          </a:prstGeom>
          <a:solidFill>
            <a:srgbClr val="16283E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0244D329-0519-7142-95BA-F9CE16424B17}"/>
              </a:ext>
            </a:extLst>
          </p:cNvPr>
          <p:cNvSpPr/>
          <p:nvPr/>
        </p:nvSpPr>
        <p:spPr>
          <a:xfrm>
            <a:off x="274320" y="2834640"/>
            <a:ext cx="11640312" cy="10972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EA211D0-0A24-8F70-4572-CA7733312402}"/>
              </a:ext>
            </a:extLst>
          </p:cNvPr>
          <p:cNvSpPr txBox="1"/>
          <p:nvPr/>
        </p:nvSpPr>
        <p:spPr>
          <a:xfrm>
            <a:off x="411480" y="3310128"/>
            <a:ext cx="11367232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nl-BE" sz="2400" i="1" dirty="0">
                <a:solidFill>
                  <a:srgbClr val="B0C4D8"/>
                </a:solidFill>
              </a:rPr>
              <a:t>Waarom D3QN?</a:t>
            </a:r>
            <a:r>
              <a:rPr lang="nl-BE" sz="2400" dirty="0">
                <a:solidFill>
                  <a:srgbClr val="B0C4D8"/>
                </a:solidFill>
              </a:rPr>
              <a:t> </a:t>
            </a:r>
          </a:p>
          <a:p>
            <a:pPr lvl="0">
              <a:lnSpc>
                <a:spcPct val="150000"/>
              </a:lnSpc>
              <a:defRPr/>
            </a:pPr>
            <a:r>
              <a:rPr lang="nl-BE" sz="2400" dirty="0">
                <a:solidFill>
                  <a:srgbClr val="B0C4D8"/>
                </a:solidFill>
              </a:rPr>
              <a:t>D3QN combineert 'Double Q-</a:t>
            </a:r>
            <a:r>
              <a:rPr lang="nl-BE" sz="2400" dirty="0" err="1">
                <a:solidFill>
                  <a:srgbClr val="B0C4D8"/>
                </a:solidFill>
              </a:rPr>
              <a:t>learning</a:t>
            </a:r>
            <a:r>
              <a:rPr lang="nl-BE" sz="2400" dirty="0">
                <a:solidFill>
                  <a:srgbClr val="B0C4D8"/>
                </a:solidFill>
              </a:rPr>
              <a:t>' (voorkomt het overschatten van actiewaardes) en een '</a:t>
            </a:r>
            <a:r>
              <a:rPr lang="nl-BE" sz="2400" dirty="0" err="1">
                <a:solidFill>
                  <a:srgbClr val="B0C4D8"/>
                </a:solidFill>
              </a:rPr>
              <a:t>Dueling</a:t>
            </a:r>
            <a:r>
              <a:rPr lang="nl-BE" sz="2400" dirty="0">
                <a:solidFill>
                  <a:srgbClr val="B0C4D8"/>
                </a:solidFill>
              </a:rPr>
              <a:t> Network' (evalueert de verkeerssituatie onafhankelijk van de actie) voor stabielere en snellere convergentie in complexe netwerken.</a:t>
            </a:r>
            <a:endParaRPr kumimoji="0" lang="nl-BE" sz="2400" b="0" i="0" u="none" strike="noStrike" kern="1200" cap="none" spc="0" normalizeH="0" baseline="0" noProof="0" dirty="0">
              <a:ln>
                <a:noFill/>
              </a:ln>
              <a:solidFill>
                <a:srgbClr val="B0C4D8"/>
              </a:solidFill>
              <a:effectLst/>
              <a:uLnTx/>
              <a:uFillTx/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5" grpId="0" animBg="1"/>
      <p:bldP spid="9" grpId="0" animBg="1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4D6C5-6BCE-2ADC-4BDF-099ADB27A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433EFB-9A89-98C7-7B65-CD51DBE4E141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F91F9-7805-E080-FA54-670C42681AC3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869E9-D2A6-6037-082C-D9DC01437AE8}"/>
              </a:ext>
            </a:extLst>
          </p:cNvPr>
          <p:cNvSpPr txBox="1"/>
          <p:nvPr/>
        </p:nvSpPr>
        <p:spPr>
          <a:xfrm>
            <a:off x="1371600" y="164592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BE" sz="7200" b="1" dirty="0">
                <a:solidFill>
                  <a:srgbClr val="0099FF"/>
                </a:solidFill>
              </a:rPr>
              <a:t>Bronnen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206F67-0B42-F5BE-DFAB-572AF15FF6B0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6B19BB16-2463-51C8-3776-C306CCAD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3621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D708E-C20C-D146-FE50-E5B7AC950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9A1AB2-A65A-EDEB-4FC5-1E62E69E6332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09804D-90ED-507A-D446-68C8E208FEC4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1E1FC-D31D-E480-FA94-7C1767B7B724}"/>
              </a:ext>
            </a:extLst>
          </p:cNvPr>
          <p:cNvSpPr txBox="1"/>
          <p:nvPr/>
        </p:nvSpPr>
        <p:spPr>
          <a:xfrm>
            <a:off x="201168" y="73152"/>
            <a:ext cx="155375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3000" b="1" dirty="0">
                <a:solidFill>
                  <a:srgbClr val="FFFFFF"/>
                </a:solidFill>
                <a:latin typeface="Calibri"/>
              </a:rPr>
              <a:t>Bronnen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016042-A8EA-32CC-2FFD-DB9422F32F29}"/>
              </a:ext>
            </a:extLst>
          </p:cNvPr>
          <p:cNvSpPr/>
          <p:nvPr/>
        </p:nvSpPr>
        <p:spPr>
          <a:xfrm>
            <a:off x="402336" y="1188719"/>
            <a:ext cx="11512296" cy="5295011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nl-BE" sz="1400" b="1" dirty="0"/>
              <a:t>Kernliteratuur RL</a:t>
            </a:r>
            <a:endParaRPr lang="nl-BE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/>
              <a:t>Sutton &amp; </a:t>
            </a:r>
            <a:r>
              <a:rPr lang="nl-BE" sz="1400" dirty="0" err="1"/>
              <a:t>Barto</a:t>
            </a:r>
            <a:r>
              <a:rPr lang="nl-BE" sz="1400" dirty="0"/>
              <a:t> (2018): standaardboek over </a:t>
            </a:r>
            <a:r>
              <a:rPr lang="nl-BE" sz="1400" dirty="0" err="1"/>
              <a:t>reinforcement</a:t>
            </a:r>
            <a:r>
              <a:rPr lang="nl-BE" sz="1400" dirty="0"/>
              <a:t> </a:t>
            </a:r>
            <a:r>
              <a:rPr lang="nl-BE" sz="1400" dirty="0" err="1"/>
              <a:t>learning</a:t>
            </a:r>
            <a:r>
              <a:rPr lang="nl-BE" sz="1400" dirty="0"/>
              <a:t> (theorie en algoritmes).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/>
              <a:t>Watkins (1989): Q-</a:t>
            </a:r>
            <a:r>
              <a:rPr lang="nl-BE" sz="1400" dirty="0" err="1"/>
              <a:t>learning</a:t>
            </a:r>
            <a:r>
              <a:rPr lang="nl-BE" sz="1400" dirty="0"/>
              <a:t> en leren met vertraagde beloningen. </a:t>
            </a:r>
          </a:p>
          <a:p>
            <a:pPr>
              <a:lnSpc>
                <a:spcPct val="150000"/>
              </a:lnSpc>
            </a:pPr>
            <a:r>
              <a:rPr lang="nl-BE" sz="1400" b="1" dirty="0"/>
              <a:t>Basis en uitleg</a:t>
            </a:r>
            <a:endParaRPr lang="nl-BE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 err="1"/>
              <a:t>GeeksforGeeks</a:t>
            </a:r>
            <a:r>
              <a:rPr lang="nl-BE" sz="1400" dirty="0"/>
              <a:t>: eenvoudige introductie tot </a:t>
            </a:r>
            <a:r>
              <a:rPr lang="nl-BE" sz="1400" dirty="0" err="1"/>
              <a:t>reinforcement</a:t>
            </a:r>
            <a:r>
              <a:rPr lang="nl-BE" sz="1400" dirty="0"/>
              <a:t> </a:t>
            </a:r>
            <a:r>
              <a:rPr lang="nl-BE" sz="1400" dirty="0" err="1"/>
              <a:t>learning</a:t>
            </a:r>
            <a:r>
              <a:rPr lang="nl-BE" sz="1400" dirty="0"/>
              <a:t>. </a:t>
            </a:r>
          </a:p>
          <a:p>
            <a:pPr>
              <a:lnSpc>
                <a:spcPct val="150000"/>
              </a:lnSpc>
            </a:pPr>
            <a:r>
              <a:rPr lang="nl-BE" sz="1400" b="1" dirty="0" err="1"/>
              <a:t>Deep</a:t>
            </a:r>
            <a:r>
              <a:rPr lang="nl-BE" sz="1400" b="1" dirty="0"/>
              <a:t> RL doorbraak</a:t>
            </a:r>
            <a:endParaRPr lang="nl-BE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 err="1"/>
              <a:t>Mnih</a:t>
            </a:r>
            <a:r>
              <a:rPr lang="nl-BE" sz="1400" dirty="0"/>
              <a:t> et al. (2015): </a:t>
            </a:r>
            <a:r>
              <a:rPr lang="nl-BE" sz="1400" dirty="0" err="1"/>
              <a:t>Deep</a:t>
            </a:r>
            <a:r>
              <a:rPr lang="nl-BE" sz="1400" dirty="0"/>
              <a:t> Q-Networks, menselijk niveau in games. </a:t>
            </a:r>
          </a:p>
          <a:p>
            <a:pPr>
              <a:lnSpc>
                <a:spcPct val="150000"/>
              </a:lnSpc>
            </a:pPr>
            <a:r>
              <a:rPr lang="nl-BE" sz="1400" b="1" dirty="0"/>
              <a:t>Toepassing: verkeer &amp; slimme verkeerslichten</a:t>
            </a:r>
            <a:endParaRPr lang="nl-BE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/>
              <a:t>Li et al. (2021): </a:t>
            </a:r>
            <a:r>
              <a:rPr lang="nl-BE" sz="1400" dirty="0" err="1"/>
              <a:t>deep</a:t>
            </a:r>
            <a:r>
              <a:rPr lang="nl-BE" sz="1400" dirty="0"/>
              <a:t> RL voor verkeerslichtcontrole in netwerken.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/>
              <a:t>Ma et al. (2021): adaptieve optimalisatie van verkeerslichten met DRL.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 err="1"/>
              <a:t>Reza</a:t>
            </a:r>
            <a:r>
              <a:rPr lang="nl-BE" sz="1400" dirty="0"/>
              <a:t> et al. (2023): stadsschaal verkeerscontrole met TD-</a:t>
            </a:r>
            <a:r>
              <a:rPr lang="nl-BE" sz="1400" dirty="0" err="1"/>
              <a:t>learning</a:t>
            </a:r>
            <a:r>
              <a:rPr lang="nl-BE" sz="1400" dirty="0"/>
              <a:t> en SUMO.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/>
              <a:t>Wei et al. (2018): </a:t>
            </a:r>
            <a:r>
              <a:rPr lang="nl-BE" sz="1400" dirty="0" err="1"/>
              <a:t>IntelliLight</a:t>
            </a:r>
            <a:r>
              <a:rPr lang="nl-BE" sz="1400" dirty="0"/>
              <a:t>, RL voor intelligente verkeerslichten. </a:t>
            </a:r>
          </a:p>
          <a:p>
            <a:pPr>
              <a:lnSpc>
                <a:spcPct val="150000"/>
              </a:lnSpc>
            </a:pPr>
            <a:r>
              <a:rPr lang="nl-BE" sz="1400" b="1" dirty="0"/>
              <a:t>Tools &amp; simulatie</a:t>
            </a:r>
            <a:endParaRPr lang="nl-BE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/>
              <a:t>Mali &amp; </a:t>
            </a:r>
            <a:r>
              <a:rPr lang="nl-BE" sz="1400" dirty="0" err="1"/>
              <a:t>Bousmah</a:t>
            </a:r>
            <a:r>
              <a:rPr lang="nl-BE" sz="1400" dirty="0"/>
              <a:t> (2021): ML-</a:t>
            </a:r>
            <a:r>
              <a:rPr lang="nl-BE" sz="1400" dirty="0" err="1"/>
              <a:t>toolbox</a:t>
            </a:r>
            <a:r>
              <a:rPr lang="nl-BE" sz="1400" dirty="0"/>
              <a:t> voor verkeerslichten met SUMO + </a:t>
            </a:r>
            <a:r>
              <a:rPr lang="nl-BE" sz="1400" dirty="0" err="1"/>
              <a:t>TensorFlow</a:t>
            </a:r>
            <a:r>
              <a:rPr lang="nl-BE" sz="1400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 err="1"/>
              <a:t>Eclipse</a:t>
            </a:r>
            <a:r>
              <a:rPr lang="nl-BE" sz="1400" dirty="0"/>
              <a:t> SUMO (10): verkeerssimulatieplatform.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1400" dirty="0"/>
              <a:t>Gymnasium (11): RL-omgeving voor training en experimenten.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0B5E73-717F-D241-6B20-4F5452A59940}"/>
              </a:ext>
            </a:extLst>
          </p:cNvPr>
          <p:cNvSpPr/>
          <p:nvPr/>
        </p:nvSpPr>
        <p:spPr>
          <a:xfrm>
            <a:off x="274320" y="1188719"/>
            <a:ext cx="128016" cy="5295012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28A94857-2C3F-AE89-C642-B3552599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91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E166E-CFF5-4977-104C-75238CC2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4FB721-8F74-57E2-E6B1-3FFF3179CD8A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6C9F2B-4415-6075-FDF1-6C5E8603B701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EDCA6-F47F-787B-0CAA-08C1F7F1A837}"/>
              </a:ext>
            </a:extLst>
          </p:cNvPr>
          <p:cNvSpPr txBox="1"/>
          <p:nvPr/>
        </p:nvSpPr>
        <p:spPr>
          <a:xfrm>
            <a:off x="1371600" y="164592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72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Bronnen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229171-9301-3F9E-71E3-FB43346475A4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7A162E94-4A73-69A2-849E-4031493D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585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93138-41DF-8954-BF4F-0E211027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1DD82C-9888-7351-C807-0FC2623634E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19F78-D5F9-FEFC-63CF-77A96E9ACB3C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88872-CDED-303B-2400-423B5ABEAF83}"/>
              </a:ext>
            </a:extLst>
          </p:cNvPr>
          <p:cNvSpPr txBox="1"/>
          <p:nvPr/>
        </p:nvSpPr>
        <p:spPr>
          <a:xfrm>
            <a:off x="201168" y="73152"/>
            <a:ext cx="155375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3000" b="1" dirty="0">
                <a:solidFill>
                  <a:srgbClr val="FFFFFF"/>
                </a:solidFill>
                <a:latin typeface="Calibri"/>
              </a:rPr>
              <a:t>Bronnen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38036F-4AA3-839A-DD6E-EA8EE2BD880C}"/>
              </a:ext>
            </a:extLst>
          </p:cNvPr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b="1" u="sng" dirty="0"/>
              <a:t>Bron 1 – </a:t>
            </a:r>
            <a:r>
              <a:rPr lang="nl-BE" b="1" u="sng" dirty="0" err="1">
                <a:hlinkClick r:id="rId2"/>
              </a:rPr>
              <a:t>GeeksForGeeks</a:t>
            </a:r>
            <a:r>
              <a:rPr lang="nl-BE" b="1" dirty="0"/>
              <a:t> (</a:t>
            </a:r>
            <a:r>
              <a:rPr lang="nl-BE" b="1" i="1" dirty="0" err="1"/>
              <a:t>Reinforcement</a:t>
            </a:r>
            <a:r>
              <a:rPr lang="nl-BE" b="1" i="1" dirty="0"/>
              <a:t> Learning</a:t>
            </a:r>
            <a:r>
              <a:rPr lang="nl-BE" b="1" dirty="0"/>
              <a:t>)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A7C26A-7B69-FDD7-65B0-A4BB71A174A6}"/>
              </a:ext>
            </a:extLst>
          </p:cNvPr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A981C-5A0D-F9D2-D93C-D31F4C50129B}"/>
              </a:ext>
            </a:extLst>
          </p:cNvPr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300" b="1" dirty="0">
                <a:solidFill>
                  <a:srgbClr val="FF6500"/>
                </a:solidFill>
                <a:latin typeface="Calibri"/>
              </a:rPr>
              <a:t>Bron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E333E764-8CD1-7B25-D80B-0B70E79B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122BAC-0A78-8E1F-74A1-6EBA7BE51F9C}"/>
              </a:ext>
            </a:extLst>
          </p:cNvPr>
          <p:cNvSpPr/>
          <p:nvPr/>
        </p:nvSpPr>
        <p:spPr>
          <a:xfrm>
            <a:off x="274320" y="284988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dirty="0"/>
              <a:t>Deze bron geeft een algemene introductie tot </a:t>
            </a:r>
            <a:r>
              <a:rPr lang="nl-BE" i="1" dirty="0" err="1"/>
              <a:t>reinforcement</a:t>
            </a:r>
            <a:r>
              <a:rPr lang="nl-BE" i="1" dirty="0"/>
              <a:t> </a:t>
            </a:r>
            <a:r>
              <a:rPr lang="nl-BE" i="1" dirty="0" err="1"/>
              <a:t>learning</a:t>
            </a:r>
            <a:r>
              <a:rPr lang="nl-BE" dirty="0"/>
              <a:t> en bespreekt kernbegrippen zoals </a:t>
            </a:r>
            <a:r>
              <a:rPr lang="nl-BE" i="1" dirty="0" err="1"/>
              <a:t>states</a:t>
            </a:r>
            <a:r>
              <a:rPr lang="nl-BE" dirty="0"/>
              <a:t>, </a:t>
            </a:r>
            <a:r>
              <a:rPr lang="nl-BE" i="1" dirty="0"/>
              <a:t>actions</a:t>
            </a:r>
            <a:r>
              <a:rPr lang="nl-BE" dirty="0"/>
              <a:t>, </a:t>
            </a:r>
            <a:r>
              <a:rPr lang="nl-BE" i="1" dirty="0" err="1"/>
              <a:t>rewards</a:t>
            </a:r>
            <a:r>
              <a:rPr lang="nl-BE" dirty="0"/>
              <a:t> en </a:t>
            </a:r>
            <a:r>
              <a:rPr lang="nl-BE" i="1" dirty="0" err="1"/>
              <a:t>policies</a:t>
            </a: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AC3EAA-20A5-E438-53B6-F763F4B567A5}"/>
              </a:ext>
            </a:extLst>
          </p:cNvPr>
          <p:cNvSpPr/>
          <p:nvPr/>
        </p:nvSpPr>
        <p:spPr>
          <a:xfrm>
            <a:off x="274320" y="284988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B8340C8E-809C-9DD1-CE35-05AA645C9960}"/>
              </a:ext>
            </a:extLst>
          </p:cNvPr>
          <p:cNvSpPr txBox="1"/>
          <p:nvPr/>
        </p:nvSpPr>
        <p:spPr>
          <a:xfrm>
            <a:off x="548640" y="286816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300" b="1" dirty="0">
                <a:solidFill>
                  <a:srgbClr val="FF6500"/>
                </a:solidFill>
                <a:latin typeface="Calibri"/>
              </a:rPr>
              <a:t>Samenvatting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76620BCA-040E-1933-AFB4-6AC871923156}"/>
              </a:ext>
            </a:extLst>
          </p:cNvPr>
          <p:cNvSpPr/>
          <p:nvPr/>
        </p:nvSpPr>
        <p:spPr>
          <a:xfrm>
            <a:off x="274320" y="451104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dirty="0"/>
              <a:t>Deze bron wordt gebruikt om de basisconcepten van </a:t>
            </a:r>
            <a:r>
              <a:rPr lang="nl-BE" i="1" dirty="0" err="1"/>
              <a:t>reinforcement</a:t>
            </a:r>
            <a:r>
              <a:rPr lang="nl-BE" i="1" dirty="0"/>
              <a:t> </a:t>
            </a:r>
            <a:r>
              <a:rPr lang="nl-BE" i="1" dirty="0" err="1"/>
              <a:t>learning</a:t>
            </a:r>
            <a:r>
              <a:rPr lang="nl-BE" dirty="0"/>
              <a:t> te verduidelijken. Ze dient als ondersteunende bron en niet als wetenschappelijke referentie.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0011B4C5-460B-6F3E-A5F4-B1EA2CAF0909}"/>
              </a:ext>
            </a:extLst>
          </p:cNvPr>
          <p:cNvSpPr/>
          <p:nvPr/>
        </p:nvSpPr>
        <p:spPr>
          <a:xfrm>
            <a:off x="274320" y="451104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4E1B22A3-4AF2-FE68-8A5A-7521D794FF19}"/>
              </a:ext>
            </a:extLst>
          </p:cNvPr>
          <p:cNvSpPr txBox="1"/>
          <p:nvPr/>
        </p:nvSpPr>
        <p:spPr>
          <a:xfrm>
            <a:off x="548640" y="452932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300" b="1" dirty="0">
                <a:solidFill>
                  <a:srgbClr val="FF6500"/>
                </a:solidFill>
                <a:latin typeface="Calibri"/>
              </a:rPr>
              <a:t>Gebruik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63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5" grpId="0" animBg="1"/>
      <p:bldP spid="9" grpId="0" animBg="1"/>
      <p:bldP spid="14" grpId="0"/>
      <p:bldP spid="34" grpId="0" animBg="1"/>
      <p:bldP spid="35" grpId="0" animBg="1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6EBE6-10FE-EE7D-8400-6A638D7D8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5A348F-0A6D-6E21-CA41-0B632070C5AB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918B8F-0348-A410-FB0D-84416424ADE8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5D5480-D11E-E30B-8340-BA15DB7D2A89}"/>
              </a:ext>
            </a:extLst>
          </p:cNvPr>
          <p:cNvSpPr txBox="1"/>
          <p:nvPr/>
        </p:nvSpPr>
        <p:spPr>
          <a:xfrm>
            <a:off x="201168" y="73152"/>
            <a:ext cx="155375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Bronnen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A11BC9-1A60-363E-24FC-DF2E492817F0}"/>
              </a:ext>
            </a:extLst>
          </p:cNvPr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b="1" u="sng" dirty="0"/>
              <a:t>Bron 2 - </a:t>
            </a:r>
            <a:r>
              <a:rPr lang="en-US" b="1" u="sng" dirty="0" err="1">
                <a:hlinkClick r:id="rId2"/>
              </a:rPr>
              <a:t>arXiv</a:t>
            </a:r>
            <a:r>
              <a:rPr lang="en-US" b="1" dirty="0"/>
              <a:t> (Deep Reinforcement Learning for Traffic Light Control in Vehicular Networks)</a:t>
            </a:r>
            <a:endParaRPr lang="nl-BE" b="1" dirty="0"/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C63589-2FDA-4A86-7321-D6DDCFCCFE12}"/>
              </a:ext>
            </a:extLst>
          </p:cNvPr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95ADF0-542F-A050-2E1F-182852487FC8}"/>
              </a:ext>
            </a:extLst>
          </p:cNvPr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Bron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2C0F464E-88E5-8400-343B-BE83E178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AB34AB-2F98-29AC-5AAF-91C09377897C}"/>
              </a:ext>
            </a:extLst>
          </p:cNvPr>
          <p:cNvSpPr/>
          <p:nvPr/>
        </p:nvSpPr>
        <p:spPr>
          <a:xfrm>
            <a:off x="274320" y="284988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dirty="0"/>
              <a:t>Dit artikel beschrijft hoe </a:t>
            </a:r>
            <a:r>
              <a:rPr lang="nl-BE" i="1" dirty="0" err="1"/>
              <a:t>deep</a:t>
            </a:r>
            <a:r>
              <a:rPr lang="nl-BE" i="1" dirty="0"/>
              <a:t> </a:t>
            </a:r>
            <a:r>
              <a:rPr lang="nl-BE" i="1" dirty="0" err="1"/>
              <a:t>reinforcement</a:t>
            </a:r>
            <a:r>
              <a:rPr lang="nl-BE" i="1" dirty="0"/>
              <a:t> </a:t>
            </a:r>
            <a:r>
              <a:rPr lang="nl-BE" i="1" dirty="0" err="1"/>
              <a:t>learning</a:t>
            </a:r>
            <a:r>
              <a:rPr lang="nl-BE" dirty="0"/>
              <a:t>, specifiek DQN, wordt toegepast op verkeerslichtregeling. De resultaten tonen een vermindering van wachttijden en verkeersvertraging.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DCEACDE-3917-9396-3A95-61109CA1AFDD}"/>
              </a:ext>
            </a:extLst>
          </p:cNvPr>
          <p:cNvSpPr/>
          <p:nvPr/>
        </p:nvSpPr>
        <p:spPr>
          <a:xfrm>
            <a:off x="274320" y="284988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2C43D2A2-FF5C-4439-8F84-DBB3BF5E700A}"/>
              </a:ext>
            </a:extLst>
          </p:cNvPr>
          <p:cNvSpPr txBox="1"/>
          <p:nvPr/>
        </p:nvSpPr>
        <p:spPr>
          <a:xfrm>
            <a:off x="548640" y="286816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Samenvatting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D0E7261E-9294-6123-BD02-6AF2E3EAA906}"/>
              </a:ext>
            </a:extLst>
          </p:cNvPr>
          <p:cNvSpPr/>
          <p:nvPr/>
        </p:nvSpPr>
        <p:spPr>
          <a:xfrm>
            <a:off x="274320" y="451104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dirty="0"/>
              <a:t>Deze bron onderbouwt de keuze voor een DQN-gebaseerde aanpak en toont aan dat deze methode effectief is voor verkeersoptimalisatie.</a:t>
            </a: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1378F421-754C-916F-A2E3-C0759E2A9840}"/>
              </a:ext>
            </a:extLst>
          </p:cNvPr>
          <p:cNvSpPr/>
          <p:nvPr/>
        </p:nvSpPr>
        <p:spPr>
          <a:xfrm>
            <a:off x="274320" y="451104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CBBC690E-A88C-BEEB-7FE9-33A9E27B66B0}"/>
              </a:ext>
            </a:extLst>
          </p:cNvPr>
          <p:cNvSpPr txBox="1"/>
          <p:nvPr/>
        </p:nvSpPr>
        <p:spPr>
          <a:xfrm>
            <a:off x="548640" y="452932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Gebruik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73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5" grpId="0" animBg="1"/>
      <p:bldP spid="9" grpId="0" animBg="1"/>
      <p:bldP spid="14" grpId="0"/>
      <p:bldP spid="34" grpId="0" animBg="1"/>
      <p:bldP spid="35" grpId="0" animBg="1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F55CC-EDD6-2225-1439-1E6713E1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C14F78-9BFA-A8D9-F680-A251CE0F0D36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B96171-142A-696E-D53B-7F439BD23AFD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9E25B-69A6-B869-9213-830E308FD193}"/>
              </a:ext>
            </a:extLst>
          </p:cNvPr>
          <p:cNvSpPr txBox="1"/>
          <p:nvPr/>
        </p:nvSpPr>
        <p:spPr>
          <a:xfrm>
            <a:off x="201168" y="73152"/>
            <a:ext cx="155375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Bronnen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975827-C7F2-24BB-56C8-A52B0BAB12CB}"/>
              </a:ext>
            </a:extLst>
          </p:cNvPr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b="1" u="sng" dirty="0"/>
              <a:t>Bron 3 - </a:t>
            </a:r>
            <a:r>
              <a:rPr lang="en-US" b="1" u="sng" dirty="0">
                <a:hlinkClick r:id="rId2"/>
              </a:rPr>
              <a:t>Wiley</a:t>
            </a:r>
            <a:r>
              <a:rPr lang="en-US" b="1" dirty="0"/>
              <a:t> (Traffic optimization met reinforcement learning, 2021)</a:t>
            </a:r>
            <a:endParaRPr lang="nl-BE" b="1" dirty="0"/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580788-CC00-41C8-9DF2-2FA766285326}"/>
              </a:ext>
            </a:extLst>
          </p:cNvPr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F60510-8C1F-39CE-15E4-3C26949CB42A}"/>
              </a:ext>
            </a:extLst>
          </p:cNvPr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Bron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4F33CA1C-1166-2171-A139-35B554DD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875293-3524-27DF-58F4-3C1597407190}"/>
              </a:ext>
            </a:extLst>
          </p:cNvPr>
          <p:cNvSpPr/>
          <p:nvPr/>
        </p:nvSpPr>
        <p:spPr>
          <a:xfrm>
            <a:off x="274320" y="284988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dirty="0"/>
              <a:t>Deze studie onderzoekt het gebruik van </a:t>
            </a:r>
            <a:r>
              <a:rPr lang="nl-BE" i="1" dirty="0" err="1"/>
              <a:t>reinforcement</a:t>
            </a:r>
            <a:r>
              <a:rPr lang="nl-BE" i="1" dirty="0"/>
              <a:t> </a:t>
            </a:r>
            <a:r>
              <a:rPr lang="nl-BE" i="1" dirty="0" err="1"/>
              <a:t>learning</a:t>
            </a:r>
            <a:r>
              <a:rPr lang="nl-BE" dirty="0"/>
              <a:t> voor verkeersregeling en vergelijkt dit met traditionele systemen.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3CD5C3A-2CF2-5EAF-FAE7-22151E262406}"/>
              </a:ext>
            </a:extLst>
          </p:cNvPr>
          <p:cNvSpPr/>
          <p:nvPr/>
        </p:nvSpPr>
        <p:spPr>
          <a:xfrm>
            <a:off x="274320" y="284988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6A38FEE2-6A13-33EE-4D26-094B62A2DA25}"/>
              </a:ext>
            </a:extLst>
          </p:cNvPr>
          <p:cNvSpPr txBox="1"/>
          <p:nvPr/>
        </p:nvSpPr>
        <p:spPr>
          <a:xfrm>
            <a:off x="548640" y="286816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Samenvatting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C2FB08E9-D7A1-CB58-8106-DFB114F37265}"/>
              </a:ext>
            </a:extLst>
          </p:cNvPr>
          <p:cNvSpPr/>
          <p:nvPr/>
        </p:nvSpPr>
        <p:spPr>
          <a:xfrm>
            <a:off x="274320" y="451104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dirty="0"/>
              <a:t>De bron wordt gebruikt om aan te tonen dat adaptieve systemen beter presteren dan vaste regelingen in dynamische verkeerssituaties.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0B108E00-91D1-B1A1-16E7-A3BFB8683E40}"/>
              </a:ext>
            </a:extLst>
          </p:cNvPr>
          <p:cNvSpPr/>
          <p:nvPr/>
        </p:nvSpPr>
        <p:spPr>
          <a:xfrm>
            <a:off x="274320" y="451104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C2C7388C-7C29-F70E-C47D-24964ACFB06D}"/>
              </a:ext>
            </a:extLst>
          </p:cNvPr>
          <p:cNvSpPr txBox="1"/>
          <p:nvPr/>
        </p:nvSpPr>
        <p:spPr>
          <a:xfrm>
            <a:off x="548640" y="452932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Gebruik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593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5" grpId="0" animBg="1"/>
      <p:bldP spid="9" grpId="0" animBg="1"/>
      <p:bldP spid="14" grpId="0"/>
      <p:bldP spid="34" grpId="0" animBg="1"/>
      <p:bldP spid="35" grpId="0" animBg="1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957EEF-E249-104D-51FE-8826BA95C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1A26F1-6BBC-C883-BEC6-598776D9D68F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D1C3E1-89FE-119A-8300-7265E3F9C978}"/>
              </a:ext>
            </a:extLst>
          </p:cNvPr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9D32A-8083-15DA-9326-5DBEAC5ED68D}"/>
              </a:ext>
            </a:extLst>
          </p:cNvPr>
          <p:cNvSpPr txBox="1"/>
          <p:nvPr/>
        </p:nvSpPr>
        <p:spPr>
          <a:xfrm>
            <a:off x="1371600" y="164592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nl-BE" sz="7200" b="1" dirty="0">
                <a:solidFill>
                  <a:srgbClr val="0099FF"/>
                </a:solidFill>
              </a:rPr>
              <a:t>Conclusie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72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A533FC-D87F-3B76-B150-0F1A9D7299D9}"/>
              </a:ext>
            </a:extLst>
          </p:cNvPr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5FEA95DD-5633-0652-D529-5916BE7F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494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26D94-8B62-18A1-F459-FA7B6056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36783C-06D5-1C03-E1D7-FE93F828FE28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5A1D55-5D26-3115-F6B4-FDFF795E54CE}"/>
              </a:ext>
            </a:extLst>
          </p:cNvPr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AF40C9-6D8C-C224-CBAF-4B439085B2CC}"/>
              </a:ext>
            </a:extLst>
          </p:cNvPr>
          <p:cNvSpPr txBox="1"/>
          <p:nvPr/>
        </p:nvSpPr>
        <p:spPr>
          <a:xfrm>
            <a:off x="201168" y="73152"/>
            <a:ext cx="170591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3000" b="1" dirty="0">
                <a:solidFill>
                  <a:srgbClr val="FFFFFF"/>
                </a:solidFill>
                <a:latin typeface="Calibri"/>
              </a:rPr>
              <a:t>Conclusie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6E5F7-36BA-D1C4-D1E1-914E0CB45217}"/>
              </a:ext>
            </a:extLst>
          </p:cNvPr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0A1E35"/>
          </a:solidFill>
          <a:ln w="317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 is het effect van de SAM </a:t>
            </a:r>
            <a:r>
              <a:rPr kumimoji="0" lang="nl-BE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reinforcement</a:t>
            </a:r>
            <a:r>
              <a:rPr kumimoji="0" lang="nl-BE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nl-BE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</a:t>
            </a:r>
            <a:r>
              <a:rPr kumimoji="0" lang="nl-BE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-controller op de verkeersprestatie in vergelijking met een vaste tijdsregeling binnen vooraf gedefinieerde SUMO-scenario’s met variërende verkeersintensiteit?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DFE13-ACD3-34E2-C0D2-C070400A8CCB}"/>
              </a:ext>
            </a:extLst>
          </p:cNvPr>
          <p:cNvSpPr/>
          <p:nvPr/>
        </p:nvSpPr>
        <p:spPr>
          <a:xfrm>
            <a:off x="274320" y="1188720"/>
            <a:ext cx="128016" cy="1417320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C6974-9140-B6D9-2C82-48DD8924F7AA}"/>
              </a:ext>
            </a:extLst>
          </p:cNvPr>
          <p:cNvSpPr txBox="1"/>
          <p:nvPr/>
        </p:nvSpPr>
        <p:spPr>
          <a:xfrm>
            <a:off x="548640" y="1207008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300" b="1" i="0" u="none" strike="noStrike" kern="1200" cap="none" spc="0" normalizeH="0" baseline="0" noProof="0" dirty="0">
                <a:ln>
                  <a:noFill/>
                </a:ln>
                <a:solidFill>
                  <a:srgbClr val="FF65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Onderzoeksvraag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FF65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82FCAF-492B-D0ED-6C5C-643BA07C4800}"/>
              </a:ext>
            </a:extLst>
          </p:cNvPr>
          <p:cNvSpPr/>
          <p:nvPr/>
        </p:nvSpPr>
        <p:spPr>
          <a:xfrm>
            <a:off x="274320" y="2834640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1DB82-6EB9-D683-BAAD-CE49CEB9B7F0}"/>
              </a:ext>
            </a:extLst>
          </p:cNvPr>
          <p:cNvSpPr/>
          <p:nvPr/>
        </p:nvSpPr>
        <p:spPr>
          <a:xfrm>
            <a:off x="274320" y="2834640"/>
            <a:ext cx="3813048" cy="4572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C5FA2-655F-B57D-3B23-9027F3A6EFAC}"/>
              </a:ext>
            </a:extLst>
          </p:cNvPr>
          <p:cNvSpPr/>
          <p:nvPr/>
        </p:nvSpPr>
        <p:spPr>
          <a:xfrm>
            <a:off x="384048" y="2944368"/>
            <a:ext cx="457200" cy="27432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A3E6A-BB23-06BE-5ACF-0ECB82C54F89}"/>
              </a:ext>
            </a:extLst>
          </p:cNvPr>
          <p:cNvSpPr txBox="1"/>
          <p:nvPr/>
        </p:nvSpPr>
        <p:spPr>
          <a:xfrm>
            <a:off x="338326" y="2944368"/>
            <a:ext cx="548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100" b="1" dirty="0">
                <a:solidFill>
                  <a:srgbClr val="0D1B2A"/>
                </a:solidFill>
                <a:latin typeface="Calibri"/>
              </a:rPr>
              <a:t>DQN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7CE57-9AF7-F80F-BBEC-9A6032238FD0}"/>
              </a:ext>
            </a:extLst>
          </p:cNvPr>
          <p:cNvSpPr txBox="1"/>
          <p:nvPr/>
        </p:nvSpPr>
        <p:spPr>
          <a:xfrm>
            <a:off x="411480" y="3310128"/>
            <a:ext cx="3538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2400" b="0" i="0" u="none" strike="noStrike" kern="1200" cap="none" spc="0" normalizeH="0" baseline="0" noProof="0" dirty="0">
                <a:ln>
                  <a:noFill/>
                </a:ln>
                <a:solidFill>
                  <a:srgbClr val="B0C4D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DQN bronnen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057415-BC79-3037-26EC-0164F5FFF257}"/>
              </a:ext>
            </a:extLst>
          </p:cNvPr>
          <p:cNvSpPr/>
          <p:nvPr/>
        </p:nvSpPr>
        <p:spPr>
          <a:xfrm>
            <a:off x="4224528" y="2834640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56AFF2-C743-1AF7-24C6-E2917C2BCE04}"/>
              </a:ext>
            </a:extLst>
          </p:cNvPr>
          <p:cNvSpPr/>
          <p:nvPr/>
        </p:nvSpPr>
        <p:spPr>
          <a:xfrm>
            <a:off x="4224528" y="2834640"/>
            <a:ext cx="3813048" cy="45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243DFC-92D3-5BB2-2956-9EFB68E1CBCC}"/>
              </a:ext>
            </a:extLst>
          </p:cNvPr>
          <p:cNvSpPr/>
          <p:nvPr/>
        </p:nvSpPr>
        <p:spPr>
          <a:xfrm>
            <a:off x="4334256" y="2944368"/>
            <a:ext cx="457200" cy="274320"/>
          </a:xfrm>
          <a:prstGeom prst="round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839AA2-7959-8B00-D2F0-8210E3E0E7F4}"/>
              </a:ext>
            </a:extLst>
          </p:cNvPr>
          <p:cNvSpPr txBox="1"/>
          <p:nvPr/>
        </p:nvSpPr>
        <p:spPr>
          <a:xfrm>
            <a:off x="4265676" y="2953512"/>
            <a:ext cx="5943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100" b="1" dirty="0">
                <a:solidFill>
                  <a:srgbClr val="0D1B2A"/>
                </a:solidFill>
                <a:latin typeface="Calibri"/>
              </a:rPr>
              <a:t>D3QN</a:t>
            </a:r>
            <a:endParaRPr kumimoji="0" lang="nl-BE" sz="11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D3C624-7A8B-E014-7DF6-BF809158C397}"/>
              </a:ext>
            </a:extLst>
          </p:cNvPr>
          <p:cNvSpPr txBox="1"/>
          <p:nvPr/>
        </p:nvSpPr>
        <p:spPr>
          <a:xfrm>
            <a:off x="4361688" y="3310128"/>
            <a:ext cx="3538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2400" dirty="0">
                <a:solidFill>
                  <a:srgbClr val="B0C4D8"/>
                </a:solidFill>
                <a:latin typeface="Calibri"/>
              </a:rPr>
              <a:t>D3QN bronnen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B0C4D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269B11-5330-8ADE-B5BC-901659E0F9C5}"/>
              </a:ext>
            </a:extLst>
          </p:cNvPr>
          <p:cNvSpPr/>
          <p:nvPr/>
        </p:nvSpPr>
        <p:spPr>
          <a:xfrm>
            <a:off x="8174736" y="2834640"/>
            <a:ext cx="3813048" cy="1691640"/>
          </a:xfrm>
          <a:prstGeom prst="rect">
            <a:avLst/>
          </a:prstGeom>
          <a:solidFill>
            <a:srgbClr val="16283E"/>
          </a:solidFill>
          <a:ln w="19050">
            <a:solidFill>
              <a:srgbClr val="FFB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2FBC28-6495-1E5B-DB8A-15EA713BB382}"/>
              </a:ext>
            </a:extLst>
          </p:cNvPr>
          <p:cNvSpPr/>
          <p:nvPr/>
        </p:nvSpPr>
        <p:spPr>
          <a:xfrm>
            <a:off x="8174736" y="2834640"/>
            <a:ext cx="3813048" cy="4572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350602-F1EF-9E7C-1504-54B64532D4EA}"/>
              </a:ext>
            </a:extLst>
          </p:cNvPr>
          <p:cNvSpPr/>
          <p:nvPr/>
        </p:nvSpPr>
        <p:spPr>
          <a:xfrm>
            <a:off x="8284464" y="2944368"/>
            <a:ext cx="457200" cy="274320"/>
          </a:xfrm>
          <a:prstGeom prst="roundRect">
            <a:avLst/>
          </a:prstGeom>
          <a:solidFill>
            <a:srgbClr val="FFB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BC49F8-987F-02E9-E46C-93D3FA87E60A}"/>
              </a:ext>
            </a:extLst>
          </p:cNvPr>
          <p:cNvSpPr txBox="1"/>
          <p:nvPr/>
        </p:nvSpPr>
        <p:spPr>
          <a:xfrm>
            <a:off x="8238744" y="2944368"/>
            <a:ext cx="548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1100" b="1" dirty="0">
                <a:solidFill>
                  <a:srgbClr val="0D1B2A"/>
                </a:solidFill>
                <a:latin typeface="Calibri"/>
              </a:rPr>
              <a:t>D3QN</a:t>
            </a:r>
            <a:endParaRPr kumimoji="0" lang="nl-BE" sz="11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0D1B2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4123C0-D017-A18F-6BAA-0EB3DCB3D491}"/>
              </a:ext>
            </a:extLst>
          </p:cNvPr>
          <p:cNvSpPr txBox="1"/>
          <p:nvPr/>
        </p:nvSpPr>
        <p:spPr>
          <a:xfrm>
            <a:off x="8311896" y="3310128"/>
            <a:ext cx="3538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sz="2400" dirty="0">
                <a:solidFill>
                  <a:srgbClr val="B0C4D8"/>
                </a:solidFill>
                <a:latin typeface="Calibri"/>
              </a:rPr>
              <a:t>…………..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B0C4D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ijdelijke aanduiding voor dianummer 39">
            <a:extLst>
              <a:ext uri="{FF2B5EF4-FFF2-40B4-BE49-F238E27FC236}">
                <a16:creationId xmlns:a16="http://schemas.microsoft.com/office/drawing/2014/main" id="{EACFE4C8-9068-6D43-9CFC-ECA52460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3731"/>
            <a:ext cx="2133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11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0" grpId="0" animBg="1"/>
      <p:bldP spid="11" grpId="0" animBg="1"/>
      <p:bldP spid="12" grpId="0" animBg="1"/>
      <p:bldP spid="13" grpId="0"/>
      <p:bldP spid="15" grpId="0"/>
      <p:bldP spid="16" grpId="0" animBg="1"/>
      <p:bldP spid="17" grpId="0" animBg="1"/>
      <p:bldP spid="18" grpId="0" animBg="1"/>
      <p:bldP spid="19" grpId="0"/>
      <p:bldP spid="21" grpId="0"/>
      <p:bldP spid="22" grpId="0" animBg="1"/>
      <p:bldP spid="23" grpId="0" animBg="1"/>
      <p:bldP spid="24" grpId="0" animBg="1"/>
      <p:bldP spid="25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dirty="0" err="1">
                <a:solidFill>
                  <a:srgbClr val="0099FF"/>
                </a:solidFill>
              </a:rPr>
              <a:t>Vragen</a:t>
            </a:r>
            <a:r>
              <a:rPr sz="7200" b="1" i="0" dirty="0">
                <a:solidFill>
                  <a:srgbClr val="0099FF"/>
                </a:solidFill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B0C4D8"/>
                </a:solidFill>
              </a:rPr>
              <a:t>VROOM – Sprint </a:t>
            </a:r>
            <a:r>
              <a:rPr lang="nl-BE" dirty="0">
                <a:solidFill>
                  <a:srgbClr val="B0C4D8"/>
                </a:solidFill>
              </a:rPr>
              <a:t>2 Tussentijds onderzoek</a:t>
            </a:r>
            <a:r>
              <a:rPr sz="1800" b="0" i="0" dirty="0">
                <a:solidFill>
                  <a:srgbClr val="B0C4D8"/>
                </a:solidFill>
              </a:rPr>
              <a:t> | Research Project AIN 2025-26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794760"/>
            <a:ext cx="39593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411480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nl-BE" sz="1300" b="1" dirty="0">
                <a:solidFill>
                  <a:srgbClr val="B0C4D8"/>
                </a:solidFill>
              </a:rPr>
              <a:t>Team AIN3</a:t>
            </a:r>
            <a:r>
              <a:rPr sz="1300" b="1" i="0" dirty="0">
                <a:solidFill>
                  <a:srgbClr val="B0C4D8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8072" y="4123944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300" dirty="0">
                <a:solidFill>
                  <a:srgbClr val="B0C4D8"/>
                </a:solidFill>
              </a:rPr>
              <a:t>Glenn Claes</a:t>
            </a:r>
            <a:r>
              <a:rPr sz="1300" b="0" i="0" dirty="0">
                <a:solidFill>
                  <a:srgbClr val="B0C4D8"/>
                </a:solidFill>
              </a:rPr>
              <a:t>  ·  </a:t>
            </a:r>
            <a:r>
              <a:rPr lang="nl-BE" sz="1300" dirty="0" err="1">
                <a:solidFill>
                  <a:srgbClr val="B0C4D8"/>
                </a:solidFill>
              </a:rPr>
              <a:t>Muhammed</a:t>
            </a:r>
            <a:r>
              <a:rPr lang="nl-BE" sz="1300" dirty="0">
                <a:solidFill>
                  <a:srgbClr val="B0C4D8"/>
                </a:solidFill>
              </a:rPr>
              <a:t> </a:t>
            </a:r>
            <a:r>
              <a:rPr lang="nl-BE" sz="1300" dirty="0" err="1">
                <a:solidFill>
                  <a:srgbClr val="B0C4D8"/>
                </a:solidFill>
              </a:rPr>
              <a:t>Kömürboga</a:t>
            </a:r>
            <a:r>
              <a:rPr lang="nl-BE" sz="1300" dirty="0">
                <a:solidFill>
                  <a:srgbClr val="B0C4D8"/>
                </a:solidFill>
              </a:rPr>
              <a:t> ·  Martijn </a:t>
            </a:r>
            <a:r>
              <a:rPr lang="nl-BE" sz="1300" dirty="0" err="1">
                <a:solidFill>
                  <a:srgbClr val="B0C4D8"/>
                </a:solidFill>
              </a:rPr>
              <a:t>Vanhengel</a:t>
            </a:r>
            <a:endParaRPr sz="1300" b="0" i="0" dirty="0">
              <a:solidFill>
                <a:srgbClr val="B0C4D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0C4D8"/>
                </a:solidFill>
              </a:rPr>
              <a:t>Platform: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617720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0099FF"/>
                </a:solidFill>
              </a:rPr>
              <a:t>JIRA  ·  Confluence </a:t>
            </a:r>
            <a:r>
              <a:rPr lang="nl-BE" sz="1300" b="0" i="0" dirty="0">
                <a:solidFill>
                  <a:srgbClr val="0099FF"/>
                </a:solidFill>
              </a:rPr>
              <a:t> </a:t>
            </a:r>
            <a:endParaRPr sz="1300" b="0" i="0" dirty="0">
              <a:solidFill>
                <a:srgbClr val="0099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B0C4D8"/>
                </a:solidFill>
              </a:rPr>
              <a:t>Vak: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596"/>
                </a:solidFill>
              </a:rPr>
              <a:t>42TIN2150 – Research Project AIN</a:t>
            </a: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43A93B8A-927D-C9C1-3999-30A9814D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8373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</TotalTime>
  <Words>738</Words>
  <Application>Microsoft Office PowerPoint</Application>
  <PresentationFormat>Aangepast</PresentationFormat>
  <Paragraphs>139</Paragraphs>
  <Slides>21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Glenn Claes</dc:creator>
  <cp:keywords/>
  <dc:description>generated using python-pptx</dc:description>
  <cp:lastModifiedBy>Glenn Claes</cp:lastModifiedBy>
  <cp:revision>84</cp:revision>
  <dcterms:created xsi:type="dcterms:W3CDTF">2013-01-27T09:14:16Z</dcterms:created>
  <dcterms:modified xsi:type="dcterms:W3CDTF">2026-04-27T11:27:02Z</dcterms:modified>
  <cp:category/>
</cp:coreProperties>
</file>