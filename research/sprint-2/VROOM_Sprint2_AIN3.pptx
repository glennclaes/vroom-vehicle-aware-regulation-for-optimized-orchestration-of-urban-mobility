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76" r:id="rId6"/>
    <p:sldId id="259" r:id="rId7"/>
    <p:sldId id="277" r:id="rId8"/>
    <p:sldId id="260" r:id="rId9"/>
    <p:sldId id="286" r:id="rId10"/>
    <p:sldId id="278" r:id="rId11"/>
    <p:sldId id="261" r:id="rId12"/>
    <p:sldId id="284" r:id="rId13"/>
    <p:sldId id="287" r:id="rId14"/>
    <p:sldId id="279" r:id="rId15"/>
    <p:sldId id="269" r:id="rId16"/>
    <p:sldId id="281" r:id="rId17"/>
    <p:sldId id="285" r:id="rId18"/>
    <p:sldId id="282" r:id="rId19"/>
    <p:sldId id="272" r:id="rId20"/>
    <p:sldId id="273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C4D8"/>
    <a:srgbClr val="AAFFAA"/>
    <a:srgbClr val="FF3300"/>
    <a:srgbClr val="FFFFFF"/>
    <a:srgbClr val="0099FF"/>
    <a:srgbClr val="3A86B9"/>
    <a:srgbClr val="FFCC00"/>
    <a:srgbClr val="33CCCC"/>
    <a:srgbClr val="0099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20" autoAdjust="0"/>
  </p:normalViewPr>
  <p:slideViewPr>
    <p:cSldViewPr snapToGrid="0" snapToObjects="1">
      <p:cViewPr varScale="1">
        <p:scale>
          <a:sx n="105" d="100"/>
          <a:sy n="105" d="100"/>
        </p:scale>
        <p:origin x="10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DBD42-E37A-4441-A08F-F50F26AD8D2D}" type="datetimeFigureOut">
              <a:rPr lang="nl-BE" smtClean="0"/>
              <a:t>3/05/2026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965FE-E126-49D4-817A-BFEF2442743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552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965FE-E126-49D4-817A-BFEF24427433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37191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7BB2-6C6B-4C81-B0E7-03D5D6EA0F5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45613-CA84-426B-AF53-F1D278C2D8C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AAEC-89F3-440A-A5BE-6CC266B1F68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D324-99A6-4ACF-8208-255BA66B7BD2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333-7C9A-42F8-A398-00D10ADBAF95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585-5D8B-4932-9C07-A4106421E230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B3E-5F8D-4053-AD48-6DDC3800140B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BF1C-0923-4E13-A6D6-C267767810F9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1A27-2924-4BA9-B775-6618722FEBE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7CDE-87BF-4F80-A0F7-07224B50AC9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BD54-9240-4E21-9CF2-D70B61E69CC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B2352-B4A7-44B3-A9DA-B0E30BC279C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iradigi.pxl.be/secure/RapidBoard.jspa?rapidView=459&amp;projectKey=R2526AI03&amp;view=planning&amp;issueLimit=100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731520" cy="7315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 dirty="0">
                <a:solidFill>
                  <a:srgbClr val="0099FF"/>
                </a:solidFill>
              </a:rPr>
              <a:t>VROOM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8"/>
                </a:solidFill>
              </a:rPr>
              <a:t>Vehicle-aware Regulation for
Optimized Orchestration of urban Mobility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60"/>
            <a:ext cx="402336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</a:rPr>
              <a:t>Sprint </a:t>
            </a:r>
            <a:r>
              <a:rPr lang="nl-BE" sz="2200" b="1" i="0" dirty="0">
                <a:solidFill>
                  <a:srgbClr val="FFFFFF"/>
                </a:solidFill>
              </a:rPr>
              <a:t>2</a:t>
            </a:r>
            <a:r>
              <a:rPr lang="nl-BE" sz="2200" b="1" dirty="0">
                <a:solidFill>
                  <a:srgbClr val="FFFFFF"/>
                </a:solidFill>
              </a:rPr>
              <a:t> </a:t>
            </a:r>
            <a:r>
              <a:rPr sz="2200" b="1" i="0" dirty="0">
                <a:solidFill>
                  <a:srgbClr val="FFFFFF"/>
                </a:solidFill>
              </a:rPr>
              <a:t>– </a:t>
            </a:r>
            <a:r>
              <a:rPr lang="nl-BE" sz="2200" b="1" i="0" dirty="0">
                <a:solidFill>
                  <a:srgbClr val="FFFFFF"/>
                </a:solidFill>
              </a:rPr>
              <a:t>Sprint Review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417320" cy="292608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Research Project 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480560"/>
            <a:ext cx="1417320" cy="292608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45079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2025 –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480560"/>
            <a:ext cx="1417320" cy="292608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4507992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PXL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E596"/>
                </a:solidFill>
              </a:rPr>
              <a:t>SAM – Smart &amp; Adaptive Mobility</a:t>
            </a:r>
          </a:p>
        </p:txBody>
      </p:sp>
      <p:sp>
        <p:nvSpPr>
          <p:cNvPr id="19" name="Rectangle 18"/>
          <p:cNvSpPr/>
          <p:nvPr/>
        </p:nvSpPr>
        <p:spPr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8"/>
                </a:solidFill>
              </a:rPr>
              <a:t>42TIN2150 – Research Project AIN</a:t>
            </a:r>
          </a:p>
        </p:txBody>
      </p:sp>
      <p:pic>
        <p:nvPicPr>
          <p:cNvPr id="25" name="Afbeelding 24" descr="Afbeelding met Lettertype, Graphics, logo, symbool&#10;&#10;Door AI gegenereerde inhoud is mogelijk onjuist.">
            <a:extLst>
              <a:ext uri="{FF2B5EF4-FFF2-40B4-BE49-F238E27FC236}">
                <a16:creationId xmlns:a16="http://schemas.microsoft.com/office/drawing/2014/main" id="{0E7F80AC-F5C1-24E2-7674-49DF3E44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31"/>
          <a:stretch>
            <a:fillRect/>
          </a:stretch>
        </p:blipFill>
        <p:spPr>
          <a:xfrm>
            <a:off x="320040" y="320040"/>
            <a:ext cx="731520" cy="731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" name="Tijdelijke aanduiding voor dianummer 25">
            <a:extLst>
              <a:ext uri="{FF2B5EF4-FFF2-40B4-BE49-F238E27FC236}">
                <a16:creationId xmlns:a16="http://schemas.microsoft.com/office/drawing/2014/main" id="{CE6FDA23-3A4C-854D-99B9-31B381E4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3801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0C1608D4-2ACF-0986-A340-8B2684819583}"/>
              </a:ext>
            </a:extLst>
          </p:cNvPr>
          <p:cNvSpPr txBox="1"/>
          <p:nvPr/>
        </p:nvSpPr>
        <p:spPr>
          <a:xfrm>
            <a:off x="5029200" y="4368582"/>
            <a:ext cx="71597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>
                <a:solidFill>
                  <a:schemeClr val="bg1"/>
                </a:solidFill>
              </a:rPr>
              <a:t>Glenn Claes</a:t>
            </a:r>
          </a:p>
          <a:p>
            <a:r>
              <a:rPr lang="nl-BE" sz="4400" dirty="0" err="1">
                <a:solidFill>
                  <a:schemeClr val="bg1"/>
                </a:solidFill>
              </a:rPr>
              <a:t>Muhammed</a:t>
            </a:r>
            <a:r>
              <a:rPr lang="nl-BE" sz="4400" dirty="0">
                <a:solidFill>
                  <a:schemeClr val="bg1"/>
                </a:solidFill>
              </a:rPr>
              <a:t> </a:t>
            </a:r>
            <a:r>
              <a:rPr lang="nl-BE" sz="4400" dirty="0" err="1">
                <a:solidFill>
                  <a:schemeClr val="bg1"/>
                </a:solidFill>
              </a:rPr>
              <a:t>Kömürboga</a:t>
            </a:r>
            <a:endParaRPr lang="nl-BE" sz="4400" dirty="0">
              <a:solidFill>
                <a:schemeClr val="bg1"/>
              </a:solidFill>
            </a:endParaRPr>
          </a:p>
          <a:p>
            <a:r>
              <a:rPr lang="nl-BE" sz="4400" dirty="0">
                <a:solidFill>
                  <a:schemeClr val="bg1"/>
                </a:solidFill>
              </a:rPr>
              <a:t>Martijn </a:t>
            </a:r>
            <a:r>
              <a:rPr lang="nl-BE" sz="4400" dirty="0" err="1">
                <a:solidFill>
                  <a:schemeClr val="bg1"/>
                </a:solidFill>
              </a:rPr>
              <a:t>Vanhengel</a:t>
            </a:r>
            <a:endParaRPr lang="nl-BE" sz="4400" dirty="0">
              <a:solidFill>
                <a:schemeClr val="bg1"/>
              </a:solidFill>
            </a:endParaRP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CFF21CFE-F438-8B16-97FA-7F7020B1E33D}"/>
              </a:ext>
            </a:extLst>
          </p:cNvPr>
          <p:cNvSpPr txBox="1"/>
          <p:nvPr/>
        </p:nvSpPr>
        <p:spPr>
          <a:xfrm>
            <a:off x="6768084" y="1051560"/>
            <a:ext cx="36819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3800" dirty="0">
                <a:solidFill>
                  <a:schemeClr val="bg1"/>
                </a:solidFill>
              </a:rPr>
              <a:t>AIN3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13211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Inhoud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" cy="65836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371600"/>
            <a:ext cx="310896" cy="310896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362456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i="0" dirty="0">
                <a:solidFill>
                  <a:srgbClr val="FFFFFF"/>
                </a:solidFill>
              </a:rPr>
              <a:t>Sprintcontext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938528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938528"/>
            <a:ext cx="54864" cy="65836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" y="2121408"/>
            <a:ext cx="310896" cy="310896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2112264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214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i="0" dirty="0">
                <a:solidFill>
                  <a:srgbClr val="FFFFFF"/>
                </a:solidFill>
              </a:rPr>
              <a:t>Sprintdoel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2688336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688336"/>
            <a:ext cx="54864" cy="658368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871216"/>
            <a:ext cx="310896" cy="31089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2862072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8712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i="0" dirty="0">
                <a:solidFill>
                  <a:srgbClr val="FFFFFF"/>
                </a:solidFill>
              </a:rPr>
              <a:t>Planning </a:t>
            </a:r>
            <a:r>
              <a:rPr lang="nl-BE" sz="1600" b="1" i="0" dirty="0" err="1">
                <a:solidFill>
                  <a:srgbClr val="FFFFFF"/>
                </a:solidFill>
              </a:rPr>
              <a:t>vs</a:t>
            </a:r>
            <a:r>
              <a:rPr lang="nl-BE" sz="1600" b="1" i="0" dirty="0">
                <a:solidFill>
                  <a:srgbClr val="FFFFFF"/>
                </a:solidFill>
              </a:rPr>
              <a:t> Realisatie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438144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438144"/>
            <a:ext cx="54864" cy="65836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" y="3621024"/>
            <a:ext cx="310896" cy="310896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3611880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210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</a:rPr>
              <a:t>Architectuurdiagram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1188720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54864" cy="65836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28232" y="1371600"/>
            <a:ext cx="310896" cy="310896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1362456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371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Scope changes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63640" y="1938528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1935734"/>
            <a:ext cx="54864" cy="658368"/>
          </a:xfrm>
          <a:prstGeom prst="rect">
            <a:avLst/>
          </a:prstGeom>
          <a:solidFill>
            <a:srgbClr val="F4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28232" y="2121408"/>
            <a:ext cx="310896" cy="310896"/>
          </a:xfrm>
          <a:prstGeom prst="roundRect">
            <a:avLst/>
          </a:prstGeom>
          <a:solidFill>
            <a:srgbClr val="F4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8232" y="2112264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</a:rPr>
              <a:t>0</a:t>
            </a:r>
            <a:r>
              <a:rPr lang="nl-BE" sz="1200" b="1" i="0" dirty="0">
                <a:solidFill>
                  <a:srgbClr val="0D1B2A"/>
                </a:solidFill>
              </a:rPr>
              <a:t>6</a:t>
            </a:r>
            <a:endParaRPr sz="1200" b="1" i="0" dirty="0">
              <a:solidFill>
                <a:srgbClr val="0D1B2A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21214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Demo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63640" y="2688336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2694794"/>
            <a:ext cx="54864" cy="65836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28232" y="2871216"/>
            <a:ext cx="310896" cy="310896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28232" y="2862072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</a:rPr>
              <a:t>0</a:t>
            </a:r>
            <a:r>
              <a:rPr lang="nl-BE" sz="1200" b="1" dirty="0">
                <a:solidFill>
                  <a:srgbClr val="0D1B2A"/>
                </a:solidFill>
              </a:rPr>
              <a:t>7</a:t>
            </a:r>
            <a:endParaRPr sz="1200" b="1" i="0" dirty="0">
              <a:solidFill>
                <a:srgbClr val="0D1B2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58000" y="28712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i="0" dirty="0">
                <a:solidFill>
                  <a:srgbClr val="FFFFFF"/>
                </a:solidFill>
              </a:rPr>
              <a:t>Sprint 3 voorbe</a:t>
            </a:r>
            <a:r>
              <a:rPr lang="nl-BE" sz="1600" b="1" dirty="0">
                <a:solidFill>
                  <a:srgbClr val="FFFFFF"/>
                </a:solidFill>
              </a:rPr>
              <a:t>reiding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46" name="Tijdelijke aanduiding voor dianummer 45">
            <a:extLst>
              <a:ext uri="{FF2B5EF4-FFF2-40B4-BE49-F238E27FC236}">
                <a16:creationId xmlns:a16="http://schemas.microsoft.com/office/drawing/2014/main" id="{326632E6-B0F6-B356-C51F-0274B2E7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500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F38DA-2C80-89F5-17B0-C23D099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5B9C85-3283-87A4-77C6-015FBB7AA28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40F9B1-36AB-E88E-EE7E-967CBBA70D92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1F1FA-8C37-EA26-33E2-27BE635A132D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7200" b="1" dirty="0">
                <a:solidFill>
                  <a:srgbClr val="0099FF"/>
                </a:solidFill>
              </a:rPr>
              <a:t>Sprintcontext</a:t>
            </a:r>
          </a:p>
          <a:p>
            <a:pPr algn="ctr"/>
            <a:endParaRPr lang="nl-BE" sz="7200" b="1" dirty="0">
              <a:solidFill>
                <a:srgbClr val="0099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C0EBE-72AA-C156-760F-AA2F4FF90EEB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740EF57D-C928-56B5-B789-D9842334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49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23287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Sprintcontext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5349240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36576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22092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99FF"/>
                </a:solidFill>
              </a:rPr>
              <a:t>Wat </a:t>
            </a:r>
            <a:r>
              <a:rPr lang="nl-BE" sz="1400" b="1" dirty="0">
                <a:solidFill>
                  <a:srgbClr val="0099FF"/>
                </a:solidFill>
              </a:rPr>
              <a:t>hebben we </a:t>
            </a:r>
            <a:r>
              <a:rPr lang="nl-BE" sz="1400" b="1" dirty="0" err="1">
                <a:solidFill>
                  <a:srgbClr val="0099FF"/>
                </a:solidFill>
              </a:rPr>
              <a:t>geb</a:t>
            </a:r>
            <a:r>
              <a:rPr sz="1400" b="1" dirty="0" err="1">
                <a:solidFill>
                  <a:srgbClr val="0099FF"/>
                </a:solidFill>
              </a:rPr>
              <a:t>ouw</a:t>
            </a:r>
            <a:r>
              <a:rPr lang="nl-BE" sz="1400" b="1" dirty="0">
                <a:solidFill>
                  <a:srgbClr val="0099FF"/>
                </a:solidFill>
              </a:rPr>
              <a:t>d</a:t>
            </a:r>
            <a:r>
              <a:rPr sz="1400" b="1" dirty="0">
                <a:solidFill>
                  <a:srgbClr val="0099F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625" y="1691640"/>
            <a:ext cx="5550535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Simulatie starten, stoppen en status bekijken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Strategie-selectie (Baseline &amp; SAM)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Scenario laden en visualiseren op de verkeerskaart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Interactieve verkeerskaart (</a:t>
            </a:r>
            <a:r>
              <a:rPr lang="nl-BE" dirty="0" err="1">
                <a:solidFill>
                  <a:srgbClr val="B0C4D8"/>
                </a:solidFill>
              </a:rPr>
              <a:t>fullscreen</a:t>
            </a:r>
            <a:r>
              <a:rPr lang="nl-BE" dirty="0">
                <a:solidFill>
                  <a:srgbClr val="B0C4D8"/>
                </a:solidFill>
              </a:rPr>
              <a:t>, locatie-selectie, voertuigen)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</a:t>
            </a:r>
            <a:r>
              <a:rPr lang="nl-BE" dirty="0" err="1">
                <a:solidFill>
                  <a:srgbClr val="B0C4D8"/>
                </a:solidFill>
              </a:rPr>
              <a:t>Realtime</a:t>
            </a:r>
            <a:r>
              <a:rPr lang="nl-BE" dirty="0">
                <a:solidFill>
                  <a:srgbClr val="B0C4D8"/>
                </a:solidFill>
              </a:rPr>
              <a:t> KPI-dashboard 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Automatische KPI-updates bij parameterwijzigingen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Instellen van simulatie-interval</a:t>
            </a:r>
          </a:p>
          <a:p>
            <a:pPr>
              <a:lnSpc>
                <a:spcPct val="150000"/>
              </a:lnSpc>
            </a:pPr>
            <a:r>
              <a:rPr lang="nl-BE" dirty="0">
                <a:solidFill>
                  <a:srgbClr val="B0C4D8"/>
                </a:solidFill>
              </a:rPr>
              <a:t>🔹 Waarschuwingen bij ontbrekend scenario of inactieve simulatie</a:t>
            </a:r>
          </a:p>
          <a:p>
            <a:pPr>
              <a:spcBef>
                <a:spcPts val="300"/>
              </a:spcBef>
            </a:pPr>
            <a:endParaRPr b="0" dirty="0">
              <a:solidFill>
                <a:srgbClr val="B0C4D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80760" y="1188720"/>
            <a:ext cx="5806440" cy="2423160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580644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261872"/>
            <a:ext cx="10695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00E596"/>
                </a:solidFill>
              </a:rPr>
              <a:t>Doelstelling</a:t>
            </a:r>
            <a:endParaRPr sz="1400" b="1" dirty="0">
              <a:solidFill>
                <a:srgbClr val="00E59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5440680" cy="18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solidFill>
                  <a:srgbClr val="FFFFFF"/>
                </a:solidFill>
              </a:rPr>
              <a:t>✓ Simulatie starten/stoppen + status</a:t>
            </a:r>
          </a:p>
          <a:p>
            <a:r>
              <a:rPr lang="nl-BE" sz="1600" dirty="0">
                <a:solidFill>
                  <a:srgbClr val="FFFFFF"/>
                </a:solidFill>
              </a:rPr>
              <a:t>✓ Strategie kiezen (Baseline/SAM)</a:t>
            </a:r>
          </a:p>
          <a:p>
            <a:r>
              <a:rPr lang="nl-BE" sz="1600" dirty="0">
                <a:solidFill>
                  <a:srgbClr val="FFFFFF"/>
                </a:solidFill>
              </a:rPr>
              <a:t>✓ Scenario op verkeerskaart tonen</a:t>
            </a:r>
          </a:p>
          <a:p>
            <a:r>
              <a:rPr lang="nl-BE" sz="1600" dirty="0">
                <a:solidFill>
                  <a:srgbClr val="FFFFFF"/>
                </a:solidFill>
              </a:rPr>
              <a:t>✓ </a:t>
            </a:r>
            <a:r>
              <a:rPr lang="nl-BE" sz="1600" dirty="0" err="1">
                <a:solidFill>
                  <a:srgbClr val="FFFFFF"/>
                </a:solidFill>
              </a:rPr>
              <a:t>Realtime</a:t>
            </a:r>
            <a:r>
              <a:rPr lang="nl-BE" sz="1600" dirty="0">
                <a:solidFill>
                  <a:srgbClr val="FFFFFF"/>
                </a:solidFill>
              </a:rPr>
              <a:t> KPI-dashboard</a:t>
            </a:r>
          </a:p>
          <a:p>
            <a:r>
              <a:rPr lang="nl-BE" sz="1600" dirty="0">
                <a:solidFill>
                  <a:srgbClr val="FFFFFF"/>
                </a:solidFill>
              </a:rPr>
              <a:t>✓ Waarschuwingen bij fout gebruik</a:t>
            </a:r>
          </a:p>
          <a:p>
            <a:r>
              <a:rPr lang="nl-BE" sz="1600" dirty="0">
                <a:solidFill>
                  <a:srgbClr val="FFFFFF"/>
                </a:solidFill>
              </a:rPr>
              <a:t>✓ Stabiele integratie (</a:t>
            </a:r>
            <a:r>
              <a:rPr lang="nl-BE" sz="1600" dirty="0" err="1">
                <a:solidFill>
                  <a:srgbClr val="FFFFFF"/>
                </a:solidFill>
              </a:rPr>
              <a:t>frontend</a:t>
            </a:r>
            <a:r>
              <a:rPr lang="nl-BE" sz="1600" dirty="0">
                <a:solidFill>
                  <a:srgbClr val="FFFFFF"/>
                </a:solidFill>
              </a:rPr>
              <a:t>, backend, SUMO, AI)</a:t>
            </a:r>
          </a:p>
          <a:p>
            <a:pPr>
              <a:spcBef>
                <a:spcPts val="500"/>
              </a:spcBef>
            </a:pP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4412" y="3794760"/>
            <a:ext cx="5806440" cy="2743200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3794760"/>
            <a:ext cx="5806440" cy="3657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867912"/>
            <a:ext cx="14718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FFBF00"/>
                </a:solidFill>
              </a:rPr>
              <a:t>Technologiestack</a:t>
            </a:r>
            <a:endParaRPr sz="1400" b="1" dirty="0">
              <a:solidFill>
                <a:srgbClr val="FFBF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4297680"/>
            <a:ext cx="1298448" cy="2743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3251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SUMO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663440"/>
            <a:ext cx="1298448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6908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FastAPI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53528" y="4663440"/>
            <a:ext cx="1298448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53528" y="46908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5496" y="4297680"/>
            <a:ext cx="1298448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5872" y="43098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MySQL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029200"/>
            <a:ext cx="1298448" cy="27432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50566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Vue.js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43416" y="5029200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43416" y="50566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Docker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3416" y="4663440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43416" y="46908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GitHub Actions</a:t>
            </a:r>
          </a:p>
        </p:txBody>
      </p:sp>
      <p:sp>
        <p:nvSpPr>
          <p:cNvPr id="41" name="Tijdelijke aanduiding voor dianummer 40">
            <a:extLst>
              <a:ext uri="{FF2B5EF4-FFF2-40B4-BE49-F238E27FC236}">
                <a16:creationId xmlns:a16="http://schemas.microsoft.com/office/drawing/2014/main" id="{82323D50-E7CB-5B5B-A5FC-FB6FA867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44" name="Rectangle 32">
            <a:extLst>
              <a:ext uri="{FF2B5EF4-FFF2-40B4-BE49-F238E27FC236}">
                <a16:creationId xmlns:a16="http://schemas.microsoft.com/office/drawing/2014/main" id="{4C04F5F2-8D95-819E-C4F1-FB77D60BAC74}"/>
              </a:ext>
            </a:extLst>
          </p:cNvPr>
          <p:cNvSpPr/>
          <p:nvPr/>
        </p:nvSpPr>
        <p:spPr>
          <a:xfrm>
            <a:off x="7653528" y="5032946"/>
            <a:ext cx="1298448" cy="274320"/>
          </a:xfrm>
          <a:prstGeom prst="round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33">
            <a:extLst>
              <a:ext uri="{FF2B5EF4-FFF2-40B4-BE49-F238E27FC236}">
                <a16:creationId xmlns:a16="http://schemas.microsoft.com/office/drawing/2014/main" id="{DCDD5F29-B8B6-AB42-31B8-53DB035221A6}"/>
              </a:ext>
            </a:extLst>
          </p:cNvPr>
          <p:cNvSpPr txBox="1"/>
          <p:nvPr/>
        </p:nvSpPr>
        <p:spPr>
          <a:xfrm>
            <a:off x="7616190" y="5060378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>
                <a:solidFill>
                  <a:srgbClr val="0D1B2A"/>
                </a:solidFill>
              </a:rPr>
              <a:t>Bootstrap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DC093F4B-B662-3DFB-B3BF-DC10BF7504CA}"/>
              </a:ext>
            </a:extLst>
          </p:cNvPr>
          <p:cNvSpPr/>
          <p:nvPr/>
        </p:nvSpPr>
        <p:spPr>
          <a:xfrm>
            <a:off x="10433304" y="5029200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37">
            <a:extLst>
              <a:ext uri="{FF2B5EF4-FFF2-40B4-BE49-F238E27FC236}">
                <a16:creationId xmlns:a16="http://schemas.microsoft.com/office/drawing/2014/main" id="{4A0C4494-DC3B-8FD2-873A-36962A17E355}"/>
              </a:ext>
            </a:extLst>
          </p:cNvPr>
          <p:cNvSpPr txBox="1"/>
          <p:nvPr/>
        </p:nvSpPr>
        <p:spPr>
          <a:xfrm>
            <a:off x="10433304" y="50566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i="0" dirty="0" err="1">
                <a:solidFill>
                  <a:srgbClr val="0D1B2A"/>
                </a:solidFill>
              </a:rPr>
              <a:t>Nginx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7713B70E-D33F-AD42-E5B6-6B6CBF26463E}"/>
              </a:ext>
            </a:extLst>
          </p:cNvPr>
          <p:cNvSpPr/>
          <p:nvPr/>
        </p:nvSpPr>
        <p:spPr>
          <a:xfrm>
            <a:off x="7653528" y="4297680"/>
            <a:ext cx="1298448" cy="274320"/>
          </a:xfrm>
          <a:prstGeom prst="round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23F5CA66-7BF6-A929-CE81-AA831CA3B53E}"/>
              </a:ext>
            </a:extLst>
          </p:cNvPr>
          <p:cNvSpPr txBox="1"/>
          <p:nvPr/>
        </p:nvSpPr>
        <p:spPr>
          <a:xfrm>
            <a:off x="7623842" y="43251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>
                <a:solidFill>
                  <a:srgbClr val="0D1B2A"/>
                </a:solidFill>
              </a:rPr>
              <a:t>Gymnasium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9B3DDDCA-B955-D862-C3B0-9F00EEADFB14}"/>
              </a:ext>
            </a:extLst>
          </p:cNvPr>
          <p:cNvSpPr/>
          <p:nvPr/>
        </p:nvSpPr>
        <p:spPr>
          <a:xfrm>
            <a:off x="10433304" y="4681728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7690251F-16FC-4CEF-21EA-4D8A627B25DC}"/>
              </a:ext>
            </a:extLst>
          </p:cNvPr>
          <p:cNvSpPr txBox="1"/>
          <p:nvPr/>
        </p:nvSpPr>
        <p:spPr>
          <a:xfrm>
            <a:off x="10405872" y="470001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 err="1">
                <a:solidFill>
                  <a:srgbClr val="0D1B2A"/>
                </a:solidFill>
              </a:rPr>
              <a:t>Redis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F3747E6A-0A75-E157-A694-EA5432BFC8EB}"/>
              </a:ext>
            </a:extLst>
          </p:cNvPr>
          <p:cNvSpPr/>
          <p:nvPr/>
        </p:nvSpPr>
        <p:spPr>
          <a:xfrm>
            <a:off x="9044178" y="4297680"/>
            <a:ext cx="1298448" cy="274320"/>
          </a:xfrm>
          <a:prstGeom prst="round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8F471B5B-2443-FA25-A992-2A78ED410067}"/>
              </a:ext>
            </a:extLst>
          </p:cNvPr>
          <p:cNvSpPr txBox="1"/>
          <p:nvPr/>
        </p:nvSpPr>
        <p:spPr>
          <a:xfrm>
            <a:off x="9014492" y="43251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>
                <a:solidFill>
                  <a:srgbClr val="0D1B2A"/>
                </a:solidFill>
              </a:rPr>
              <a:t>D3QN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154ADFC4-2F45-7C25-CB45-23E443F76A82}"/>
              </a:ext>
            </a:extLst>
          </p:cNvPr>
          <p:cNvSpPr/>
          <p:nvPr/>
        </p:nvSpPr>
        <p:spPr>
          <a:xfrm>
            <a:off x="9043416" y="5381244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7">
            <a:extLst>
              <a:ext uri="{FF2B5EF4-FFF2-40B4-BE49-F238E27FC236}">
                <a16:creationId xmlns:a16="http://schemas.microsoft.com/office/drawing/2014/main" id="{7A8D2FC1-7976-356C-E239-8AB997FE7ABC}"/>
              </a:ext>
            </a:extLst>
          </p:cNvPr>
          <p:cNvSpPr txBox="1"/>
          <p:nvPr/>
        </p:nvSpPr>
        <p:spPr>
          <a:xfrm>
            <a:off x="9043416" y="540867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>
                <a:solidFill>
                  <a:srgbClr val="0D1B2A"/>
                </a:solidFill>
              </a:rPr>
              <a:t>Shell</a:t>
            </a:r>
            <a:endParaRPr sz="1000" b="1" i="0" dirty="0">
              <a:solidFill>
                <a:srgbClr val="0D1B2A"/>
              </a:solidFill>
            </a:endParaRP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DCFB4456-AA01-164E-8D2F-BBC795B2BE62}"/>
              </a:ext>
            </a:extLst>
          </p:cNvPr>
          <p:cNvSpPr/>
          <p:nvPr/>
        </p:nvSpPr>
        <p:spPr>
          <a:xfrm>
            <a:off x="10445496" y="5381244"/>
            <a:ext cx="1298448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37">
            <a:extLst>
              <a:ext uri="{FF2B5EF4-FFF2-40B4-BE49-F238E27FC236}">
                <a16:creationId xmlns:a16="http://schemas.microsoft.com/office/drawing/2014/main" id="{0AEA8FAF-6230-30A4-7749-C6D3F11B5222}"/>
              </a:ext>
            </a:extLst>
          </p:cNvPr>
          <p:cNvSpPr txBox="1"/>
          <p:nvPr/>
        </p:nvSpPr>
        <p:spPr>
          <a:xfrm>
            <a:off x="10445496" y="5408676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000" b="1" dirty="0" err="1">
                <a:solidFill>
                  <a:srgbClr val="0D1B2A"/>
                </a:solidFill>
              </a:rPr>
              <a:t>Makefile</a:t>
            </a:r>
            <a:endParaRPr sz="1000" b="1" i="0" dirty="0">
              <a:solidFill>
                <a:srgbClr val="0D1B2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 animBg="1"/>
      <p:bldP spid="18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3" grpId="0" animBg="1"/>
      <p:bldP spid="34" grpId="0"/>
      <p:bldP spid="37" grpId="0" animBg="1"/>
      <p:bldP spid="38" grpId="0"/>
      <p:bldP spid="39" grpId="0" animBg="1"/>
      <p:bldP spid="40" grpId="0"/>
      <p:bldP spid="44" grpId="0" animBg="1"/>
      <p:bldP spid="45" grpId="0"/>
      <p:bldP spid="5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31" grpId="0"/>
      <p:bldP spid="32" grpId="0" animBg="1"/>
      <p:bldP spid="35" grpId="0"/>
      <p:bldP spid="36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58AFA-D231-29B0-3728-D0E8534A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178840-74C9-1F82-CA4B-C63B807A898B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6975B-CCF8-652C-A489-D675D569044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240C6-BEBE-765E-C33A-59E784C60EB8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Sprintdoel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F316A-11FD-4290-C45E-7E937487B0C3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30824791-2875-6FAB-0127-D7E6CF84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72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183749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Sprintdoel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377440"/>
          </a:xfrm>
          <a:prstGeom prst="rect">
            <a:avLst/>
          </a:prstGeom>
          <a:solidFill>
            <a:srgbClr val="122238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09728" cy="23774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6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400" i="1" dirty="0">
                <a:solidFill>
                  <a:schemeClr val="bg1"/>
                </a:solidFill>
              </a:rPr>
              <a:t>Aan het einde van deze sprint kan de applicatie AI-gestuurde simulaties uitvoeren, inclusief bediening, strategie-selectie, verkeerskaart, KPI-dashboard en waarschuwingen.</a:t>
            </a:r>
            <a:endParaRPr sz="2800" i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3794760"/>
            <a:ext cx="3749039" cy="2606040"/>
          </a:xfrm>
          <a:prstGeom prst="rect">
            <a:avLst/>
          </a:prstGeom>
          <a:solidFill>
            <a:srgbClr val="16283E"/>
          </a:solidFill>
          <a:ln w="2540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3794760"/>
            <a:ext cx="3749039" cy="4572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" y="3977005"/>
            <a:ext cx="3383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1" dirty="0">
                <a:solidFill>
                  <a:srgbClr val="FF4500"/>
                </a:solidFill>
              </a:rPr>
              <a:t>User </a:t>
            </a:r>
            <a:r>
              <a:rPr lang="nl-BE" sz="2400" b="1" dirty="0" err="1">
                <a:solidFill>
                  <a:srgbClr val="FF4500"/>
                </a:solidFill>
              </a:rPr>
              <a:t>stories</a:t>
            </a:r>
            <a:endParaRPr sz="2400" b="1" i="0" dirty="0">
              <a:solidFill>
                <a:srgbClr val="FF45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0" i="0" dirty="0">
                <a:solidFill>
                  <a:srgbClr val="B0C4D8"/>
                </a:solidFill>
              </a:rPr>
              <a:t>16</a:t>
            </a:r>
            <a:endParaRPr sz="2400" b="0" i="0" dirty="0">
              <a:solidFill>
                <a:srgbClr val="B0C4D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9664" y="3794760"/>
            <a:ext cx="3749039" cy="2606040"/>
          </a:xfrm>
          <a:prstGeom prst="rect">
            <a:avLst/>
          </a:prstGeom>
          <a:solidFill>
            <a:srgbClr val="16283E"/>
          </a:solidFill>
          <a:ln w="2540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9664" y="3794760"/>
            <a:ext cx="3749039" cy="4572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52544" y="3959352"/>
            <a:ext cx="3419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1" dirty="0" err="1">
                <a:solidFill>
                  <a:srgbClr val="FF9F00"/>
                </a:solidFill>
              </a:rPr>
              <a:t>Epics</a:t>
            </a:r>
            <a:endParaRPr sz="2400" b="1" i="0" dirty="0">
              <a:solidFill>
                <a:srgbClr val="FF9F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34251" y="4421017"/>
            <a:ext cx="367589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100" dirty="0">
                <a:solidFill>
                  <a:srgbClr val="B0C4D8"/>
                </a:solidFill>
              </a:rPr>
              <a:t>KPI dashboard</a:t>
            </a:r>
            <a:endParaRPr lang="nl-BE" sz="2100" b="0" i="0" dirty="0">
              <a:solidFill>
                <a:srgbClr val="B0C4D8"/>
              </a:solidFill>
            </a:endParaRPr>
          </a:p>
          <a:p>
            <a:pPr algn="ctr"/>
            <a:r>
              <a:rPr lang="nl-BE" sz="2100" dirty="0">
                <a:solidFill>
                  <a:srgbClr val="B0C4D8"/>
                </a:solidFill>
              </a:rPr>
              <a:t>Waarschuwingen en meldingen</a:t>
            </a:r>
          </a:p>
          <a:p>
            <a:pPr algn="ctr"/>
            <a:r>
              <a:rPr lang="nl-BE" sz="2100" dirty="0">
                <a:solidFill>
                  <a:srgbClr val="B0C4D8"/>
                </a:solidFill>
              </a:rPr>
              <a:t>Simulatie besturing</a:t>
            </a:r>
            <a:endParaRPr lang="nl-BE" sz="2100" b="0" i="0" dirty="0">
              <a:solidFill>
                <a:srgbClr val="B0C4D8"/>
              </a:solidFill>
            </a:endParaRPr>
          </a:p>
          <a:p>
            <a:pPr algn="ctr"/>
            <a:r>
              <a:rPr lang="nl-BE" sz="2100" dirty="0">
                <a:solidFill>
                  <a:srgbClr val="B0C4D8"/>
                </a:solidFill>
              </a:rPr>
              <a:t>Verkeerskaart weergave</a:t>
            </a:r>
          </a:p>
          <a:p>
            <a:pPr algn="ctr"/>
            <a:r>
              <a:rPr lang="nl-BE" sz="2100" b="0" i="0" dirty="0">
                <a:solidFill>
                  <a:srgbClr val="B0C4D8"/>
                </a:solidFill>
              </a:rPr>
              <a:t>Scenario selectie</a:t>
            </a:r>
            <a:endParaRPr sz="2100" b="0" i="0" dirty="0">
              <a:solidFill>
                <a:srgbClr val="B0C4D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65008" y="3794760"/>
            <a:ext cx="3749039" cy="2606040"/>
          </a:xfrm>
          <a:prstGeom prst="rect">
            <a:avLst/>
          </a:prstGeom>
          <a:solidFill>
            <a:srgbClr val="16283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5008" y="3794760"/>
            <a:ext cx="3749039" cy="45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39776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1" i="0" dirty="0">
                <a:solidFill>
                  <a:srgbClr val="00C853"/>
                </a:solidFill>
              </a:rPr>
              <a:t>Story points</a:t>
            </a:r>
            <a:endParaRPr sz="2400" b="1" i="0" dirty="0">
              <a:solidFill>
                <a:srgbClr val="00C853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452628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dirty="0">
                <a:solidFill>
                  <a:srgbClr val="B0C4D8"/>
                </a:solidFill>
              </a:rPr>
              <a:t>80</a:t>
            </a:r>
            <a:endParaRPr sz="2400" b="0" i="0" dirty="0">
              <a:solidFill>
                <a:srgbClr val="B0C4D8"/>
              </a:solidFill>
            </a:endParaRPr>
          </a:p>
        </p:txBody>
      </p:sp>
      <p:sp>
        <p:nvSpPr>
          <p:cNvPr id="26" name="Tijdelijke aanduiding voor dianummer 25">
            <a:extLst>
              <a:ext uri="{FF2B5EF4-FFF2-40B4-BE49-F238E27FC236}">
                <a16:creationId xmlns:a16="http://schemas.microsoft.com/office/drawing/2014/main" id="{438CA4F7-919D-2DB6-6036-68C3C89B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436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6D684-7DBE-C976-D72A-7B363EDC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764938-A53A-49CD-D626-686A5AD95BE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AEEEF-E37E-B070-32CC-6EDD6D68FC5F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5359F-75D4-32B9-0D24-0DC3C5DBF32F}"/>
              </a:ext>
            </a:extLst>
          </p:cNvPr>
          <p:cNvSpPr txBox="1"/>
          <p:nvPr/>
        </p:nvSpPr>
        <p:spPr>
          <a:xfrm>
            <a:off x="1371600" y="151895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Planning </a:t>
            </a:r>
            <a:r>
              <a:rPr lang="nl-BE" sz="7200" b="1" dirty="0" err="1">
                <a:solidFill>
                  <a:srgbClr val="0099FF"/>
                </a:solidFill>
              </a:rPr>
              <a:t>vs</a:t>
            </a:r>
            <a:r>
              <a:rPr lang="nl-BE" sz="7200" b="1" dirty="0">
                <a:solidFill>
                  <a:srgbClr val="0099FF"/>
                </a:solidFill>
              </a:rPr>
              <a:t> Realisatie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5075F-AEAE-E4E7-DC21-5685424D1C2A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4503E777-2693-4C77-58A2-E118A9DB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96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36239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Planning </a:t>
            </a:r>
            <a:r>
              <a:rPr lang="nl-BE" sz="3000" b="1" dirty="0" err="1">
                <a:solidFill>
                  <a:srgbClr val="FFFFFF"/>
                </a:solidFill>
              </a:rPr>
              <a:t>vs</a:t>
            </a:r>
            <a:r>
              <a:rPr lang="nl-BE" sz="3000" b="1" dirty="0">
                <a:solidFill>
                  <a:srgbClr val="FFFFFF"/>
                </a:solidFill>
              </a:rPr>
              <a:t> Realisatie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Bef>
                <a:spcPts val="600"/>
              </a:spcBef>
            </a:pPr>
            <a:endParaRPr lang="nl-BE" i="1" dirty="0"/>
          </a:p>
          <a:p>
            <a:pPr lvl="1">
              <a:lnSpc>
                <a:spcPts val="2000"/>
              </a:lnSpc>
              <a:spcBef>
                <a:spcPts val="600"/>
              </a:spcBef>
            </a:pPr>
            <a:r>
              <a:rPr lang="nl-BE" i="1" dirty="0"/>
              <a:t>We hielden elke week de geplande taken en user </a:t>
            </a:r>
            <a:r>
              <a:rPr lang="nl-BE" i="1" dirty="0" err="1"/>
              <a:t>stories</a:t>
            </a:r>
            <a:r>
              <a:rPr lang="nl-BE" i="1" dirty="0"/>
              <a:t> bij om structuur te behouden en bugs niet op te stapelen. Opduikende bugs werden eerst aangepakt zodat het systeem stabiel bleef. Voor het AI-model hebben we verschillende trainingsmethodes geprobeerd, zoals DQN en D3QN, en onze aanpak regelmatig aangepast door de moeilijkheden die we tegenkwamen.</a:t>
            </a:r>
            <a:endParaRPr i="1" dirty="0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FF6500"/>
                </a:solidFill>
              </a:rPr>
              <a:t>Planning</a:t>
            </a:r>
            <a:endParaRPr sz="1300" b="1" i="0" dirty="0">
              <a:solidFill>
                <a:srgbClr val="FF65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3813048" cy="457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944368"/>
            <a:ext cx="457200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6" y="2944368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100" b="1" dirty="0">
                <a:solidFill>
                  <a:srgbClr val="0D1B2A"/>
                </a:solidFill>
              </a:rPr>
              <a:t>WK</a:t>
            </a:r>
            <a:r>
              <a:rPr sz="1100" b="1" i="0" dirty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65964"/>
            <a:ext cx="3538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400" dirty="0">
                <a:solidFill>
                  <a:srgbClr val="B0C4D8"/>
                </a:solidFill>
              </a:rPr>
              <a:t>Simulatie besturing</a:t>
            </a:r>
          </a:p>
          <a:p>
            <a:pPr algn="l"/>
            <a:r>
              <a:rPr lang="nl-BE" sz="2400" dirty="0">
                <a:solidFill>
                  <a:srgbClr val="B0C4D8"/>
                </a:solidFill>
              </a:rPr>
              <a:t>Scenario selectie</a:t>
            </a:r>
          </a:p>
          <a:p>
            <a:pPr algn="l"/>
            <a:r>
              <a:rPr lang="nl-BE" sz="2400" b="0" i="0" dirty="0">
                <a:solidFill>
                  <a:srgbClr val="B0C4D8"/>
                </a:solidFill>
              </a:rPr>
              <a:t>Verkeerskaart weergave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4528" y="2834640"/>
            <a:ext cx="3813048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2944368"/>
            <a:ext cx="457200" cy="274320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2952393"/>
            <a:ext cx="502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100" b="1" dirty="0">
                <a:solidFill>
                  <a:srgbClr val="0D1B2A"/>
                </a:solidFill>
              </a:rPr>
              <a:t>WK2</a:t>
            </a:r>
          </a:p>
          <a:p>
            <a:pPr algn="ctr"/>
            <a:endParaRPr sz="1100" b="1" i="0" dirty="0">
              <a:solidFill>
                <a:srgbClr val="0D1B2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82896" y="29443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00E596"/>
                </a:solidFill>
              </a:rPr>
              <a:t>User </a:t>
            </a:r>
            <a:r>
              <a:rPr lang="nl-BE" sz="1300" b="1" dirty="0" err="1">
                <a:solidFill>
                  <a:srgbClr val="00E596"/>
                </a:solidFill>
              </a:rPr>
              <a:t>stories</a:t>
            </a:r>
            <a:endParaRPr sz="1300" b="1" i="0" dirty="0">
              <a:solidFill>
                <a:srgbClr val="00E596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88536" y="3252216"/>
            <a:ext cx="38130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400" dirty="0">
                <a:solidFill>
                  <a:srgbClr val="B0C4D8"/>
                </a:solidFill>
              </a:rPr>
              <a:t>Simulatie besturing</a:t>
            </a:r>
          </a:p>
          <a:p>
            <a:pPr algn="l"/>
            <a:r>
              <a:rPr lang="nl-BE" sz="2400" b="0" i="0" dirty="0">
                <a:solidFill>
                  <a:srgbClr val="B0C4D8"/>
                </a:solidFill>
              </a:rPr>
              <a:t>Verkeerskaart weergave</a:t>
            </a:r>
          </a:p>
          <a:p>
            <a:pPr algn="l"/>
            <a:r>
              <a:rPr lang="nl-BE" sz="2400" dirty="0">
                <a:solidFill>
                  <a:srgbClr val="B0C4D8"/>
                </a:solidFill>
              </a:rPr>
              <a:t>Waarschuwing en meldingen</a:t>
            </a:r>
            <a:endParaRPr sz="2400" b="0" i="0" dirty="0">
              <a:solidFill>
                <a:srgbClr val="B0C4D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74736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74736" y="2834640"/>
            <a:ext cx="3813048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84464" y="2944368"/>
            <a:ext cx="457200" cy="274320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8744" y="2944368"/>
            <a:ext cx="548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100" b="1" dirty="0">
                <a:solidFill>
                  <a:srgbClr val="0D1B2A"/>
                </a:solidFill>
              </a:rPr>
              <a:t>WK3</a:t>
            </a:r>
          </a:p>
          <a:p>
            <a:pPr algn="ctr"/>
            <a:endParaRPr sz="1100" b="1" i="0" dirty="0">
              <a:solidFill>
                <a:srgbClr val="0D1B2A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3104" y="29443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FFBF00"/>
                </a:solidFill>
              </a:rPr>
              <a:t>User </a:t>
            </a:r>
            <a:r>
              <a:rPr lang="nl-BE" sz="1300" b="1" dirty="0" err="1">
                <a:solidFill>
                  <a:srgbClr val="FFBF00"/>
                </a:solidFill>
              </a:rPr>
              <a:t>stories</a:t>
            </a:r>
            <a:endParaRPr sz="1300" b="1" i="0" dirty="0">
              <a:solidFill>
                <a:srgbClr val="FFBF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38744" y="3224784"/>
            <a:ext cx="3858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400" dirty="0">
                <a:solidFill>
                  <a:srgbClr val="B0C4D8"/>
                </a:solidFill>
              </a:rPr>
              <a:t>Waarschuwingen en meldingen</a:t>
            </a:r>
            <a:endParaRPr lang="nl-BE" sz="2400" b="0" i="0" dirty="0">
              <a:solidFill>
                <a:srgbClr val="B0C4D8"/>
              </a:solidFill>
            </a:endParaRPr>
          </a:p>
          <a:p>
            <a:pPr algn="l"/>
            <a:r>
              <a:rPr lang="nl-BE" sz="2400" dirty="0">
                <a:solidFill>
                  <a:srgbClr val="B0C4D8"/>
                </a:solidFill>
              </a:rPr>
              <a:t>Simulatie besturing</a:t>
            </a:r>
            <a:endParaRPr sz="2400" b="0" i="0" dirty="0">
              <a:solidFill>
                <a:srgbClr val="B0C4D8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4690872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4690872"/>
            <a:ext cx="3813048" cy="457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4800600"/>
            <a:ext cx="4572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7" y="4800600"/>
            <a:ext cx="5029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100" b="1" dirty="0">
                <a:solidFill>
                  <a:srgbClr val="0D1B2A"/>
                </a:solidFill>
              </a:rPr>
              <a:t>WK</a:t>
            </a:r>
            <a:r>
              <a:rPr sz="1100" b="1" i="0" dirty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800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AB47BC"/>
                </a:solidFill>
              </a:rPr>
              <a:t>User </a:t>
            </a:r>
            <a:r>
              <a:rPr lang="nl-BE" sz="1300" b="1" dirty="0" err="1">
                <a:solidFill>
                  <a:srgbClr val="AB47BC"/>
                </a:solidFill>
              </a:rPr>
              <a:t>stories</a:t>
            </a:r>
            <a:endParaRPr sz="1300" b="1" i="0" dirty="0">
              <a:solidFill>
                <a:srgbClr val="AB47BC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480" y="5166360"/>
            <a:ext cx="3538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400" dirty="0">
                <a:solidFill>
                  <a:srgbClr val="B0C4D8"/>
                </a:solidFill>
              </a:rPr>
              <a:t>KPI dashboard</a:t>
            </a:r>
            <a:endParaRPr lang="nl-BE" sz="2400" b="0" i="0" dirty="0">
              <a:solidFill>
                <a:srgbClr val="B0C4D8"/>
              </a:solidFill>
            </a:endParaRPr>
          </a:p>
          <a:p>
            <a:pPr algn="l"/>
            <a:endParaRPr lang="nl-BE" sz="2400" dirty="0">
              <a:solidFill>
                <a:srgbClr val="B0C4D8"/>
              </a:solidFill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59AD1A57-54CE-86F1-FCDE-9D66B290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7D8E631E-B842-250A-F17D-389894DFD0CD}"/>
              </a:ext>
            </a:extLst>
          </p:cNvPr>
          <p:cNvSpPr txBox="1"/>
          <p:nvPr/>
        </p:nvSpPr>
        <p:spPr>
          <a:xfrm>
            <a:off x="886966" y="29413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0099FF"/>
                </a:solidFill>
              </a:rPr>
              <a:t>User </a:t>
            </a:r>
            <a:r>
              <a:rPr lang="nl-BE" sz="1300" b="1" dirty="0" err="1">
                <a:solidFill>
                  <a:srgbClr val="0099FF"/>
                </a:solidFill>
              </a:rPr>
              <a:t>stories</a:t>
            </a:r>
            <a:endParaRPr sz="1300" b="1" i="0" dirty="0">
              <a:solidFill>
                <a:srgbClr val="0099FF"/>
              </a:solidFill>
            </a:endParaRP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05247EEC-3D94-1779-34D7-22EAA69F2ABF}"/>
              </a:ext>
            </a:extLst>
          </p:cNvPr>
          <p:cNvSpPr/>
          <p:nvPr/>
        </p:nvSpPr>
        <p:spPr>
          <a:xfrm>
            <a:off x="4224528" y="4713732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806D0944-84C6-1F2A-ECC2-4720F13B0F4C}"/>
              </a:ext>
            </a:extLst>
          </p:cNvPr>
          <p:cNvSpPr/>
          <p:nvPr/>
        </p:nvSpPr>
        <p:spPr>
          <a:xfrm>
            <a:off x="4224528" y="4713732"/>
            <a:ext cx="3813048" cy="45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56902B5A-8EA7-F920-E01D-90F7C13740A4}"/>
              </a:ext>
            </a:extLst>
          </p:cNvPr>
          <p:cNvSpPr/>
          <p:nvPr/>
        </p:nvSpPr>
        <p:spPr>
          <a:xfrm>
            <a:off x="4334256" y="4823460"/>
            <a:ext cx="457200" cy="274320"/>
          </a:xfrm>
          <a:prstGeom prst="round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504E6138-F3C5-F1FD-EE0C-2613AA30D3E9}"/>
              </a:ext>
            </a:extLst>
          </p:cNvPr>
          <p:cNvSpPr txBox="1"/>
          <p:nvPr/>
        </p:nvSpPr>
        <p:spPr>
          <a:xfrm>
            <a:off x="4334255" y="4823460"/>
            <a:ext cx="5029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100" b="1" dirty="0">
                <a:solidFill>
                  <a:srgbClr val="0D1B2A"/>
                </a:solidFill>
              </a:rPr>
              <a:t>WK5</a:t>
            </a:r>
            <a:endParaRPr sz="1100" b="1" i="0" dirty="0">
              <a:solidFill>
                <a:srgbClr val="0D1B2A"/>
              </a:solidFill>
            </a:endParaRP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65B80D94-97BD-615D-8528-D6E9C80D2AA7}"/>
              </a:ext>
            </a:extLst>
          </p:cNvPr>
          <p:cNvSpPr txBox="1"/>
          <p:nvPr/>
        </p:nvSpPr>
        <p:spPr>
          <a:xfrm>
            <a:off x="4882896" y="48234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FF3300"/>
                </a:solidFill>
              </a:rPr>
              <a:t>User </a:t>
            </a:r>
            <a:r>
              <a:rPr lang="nl-BE" sz="1300" b="1" dirty="0" err="1">
                <a:solidFill>
                  <a:srgbClr val="FF3300"/>
                </a:solidFill>
              </a:rPr>
              <a:t>stories</a:t>
            </a:r>
            <a:endParaRPr sz="1300" b="1" i="0" dirty="0">
              <a:solidFill>
                <a:srgbClr val="FF3300"/>
              </a:solidFill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0282F833-48C7-B054-3440-CE577ACB95C3}"/>
              </a:ext>
            </a:extLst>
          </p:cNvPr>
          <p:cNvSpPr txBox="1"/>
          <p:nvPr/>
        </p:nvSpPr>
        <p:spPr>
          <a:xfrm>
            <a:off x="4361688" y="5189220"/>
            <a:ext cx="3538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400" dirty="0">
                <a:solidFill>
                  <a:srgbClr val="B0C4D8"/>
                </a:solidFill>
              </a:rPr>
              <a:t>KPI dashboard</a:t>
            </a:r>
            <a:endParaRPr lang="nl-BE" sz="2400" b="0" i="0" dirty="0">
              <a:solidFill>
                <a:srgbClr val="B0C4D8"/>
              </a:solidFill>
            </a:endParaRPr>
          </a:p>
          <a:p>
            <a:pPr algn="l"/>
            <a:endParaRPr lang="nl-BE" sz="2400" dirty="0">
              <a:solidFill>
                <a:srgbClr val="B0C4D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0" grpId="0" animBg="1"/>
      <p:bldP spid="11" grpId="0" animBg="1"/>
      <p:bldP spid="12" grpId="0" animBg="1"/>
      <p:bldP spid="13" grpId="0"/>
      <p:bldP spid="15" grpId="0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/>
      <p:bldP spid="32" grpId="0"/>
      <p:bldP spid="33" grpId="0"/>
      <p:bldP spid="41" grpId="0"/>
      <p:bldP spid="5" grpId="0" animBg="1"/>
      <p:bldP spid="9" grpId="0" animBg="1"/>
      <p:bldP spid="14" grpId="0" animBg="1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F263B-B9A7-0CAF-455C-6E77880F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D60FA-5D56-A9F0-9817-C181F4FEAD4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89C73-F8ED-8466-883A-4BFCF07C91F5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6CE48-3B48-E50C-415D-E563B5E5FE37}"/>
              </a:ext>
            </a:extLst>
          </p:cNvPr>
          <p:cNvSpPr txBox="1"/>
          <p:nvPr/>
        </p:nvSpPr>
        <p:spPr>
          <a:xfrm>
            <a:off x="201168" y="73152"/>
            <a:ext cx="36239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Planning </a:t>
            </a:r>
            <a:r>
              <a:rPr kumimoji="0" lang="nl-BE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vs</a:t>
            </a: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Realisatie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30C7BEEA-4EBE-036E-3E31-C00E2D57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52CA26A-76D5-07F8-8903-0BB37DBF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9"/>
          <a:stretch>
            <a:fillRect/>
          </a:stretch>
        </p:blipFill>
        <p:spPr>
          <a:xfrm>
            <a:off x="0" y="1454273"/>
            <a:ext cx="12190293" cy="46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4D6C5-6BCE-2ADC-4BDF-099ADB27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33EFB-9A89-98C7-7B65-CD51DBE4E14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F91F9-7805-E080-FA54-670C42681AC3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869E9-D2A6-6037-082C-D9DC01437AE8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7200" b="1" dirty="0">
                <a:solidFill>
                  <a:srgbClr val="0099FF"/>
                </a:solidFill>
              </a:rPr>
              <a:t>Architectuurdiagram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06F67-0B42-F5BE-DFAB-572AF15FF6B0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6B19BB16-2463-51C8-3776-C306CCAD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62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Architectuurdiagram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85216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0C4D8"/>
                </a:solidFill>
              </a:rPr>
              <a:t>04 – </a:t>
            </a:r>
            <a:r>
              <a:rPr sz="1400" dirty="0" err="1">
                <a:solidFill>
                  <a:srgbClr val="B0C4D8"/>
                </a:solidFill>
              </a:rPr>
              <a:t>Volledig</a:t>
            </a:r>
            <a:r>
              <a:rPr sz="1400" dirty="0">
                <a:solidFill>
                  <a:srgbClr val="B0C4D8"/>
                </a:solidFill>
              </a:rPr>
              <a:t> </a:t>
            </a:r>
            <a:r>
              <a:rPr sz="1400" dirty="0" err="1">
                <a:solidFill>
                  <a:srgbClr val="B0C4D8"/>
                </a:solidFill>
              </a:rPr>
              <a:t>systeemoverzicht</a:t>
            </a:r>
            <a:endParaRPr sz="1400" dirty="0">
              <a:solidFill>
                <a:srgbClr val="B0C4D8"/>
              </a:solidFill>
            </a:endParaRP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B2A774A5-721B-A96F-2174-17A7DC39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7E7F2562-D00D-8C91-E3D1-297536FA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898"/>
            <a:ext cx="12188825" cy="5831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9774F-D3F8-C8B4-CC80-7208997F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BB3FF1-18BE-6B82-1192-F7DA33E2389F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EBDDC9-DBBC-BC2A-46EE-D55C17E6A214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DE7A2-0088-E9CE-11E8-8D60224F7560}"/>
              </a:ext>
            </a:extLst>
          </p:cNvPr>
          <p:cNvSpPr txBox="1"/>
          <p:nvPr/>
        </p:nvSpPr>
        <p:spPr>
          <a:xfrm>
            <a:off x="201168" y="73152"/>
            <a:ext cx="568271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Architectuurdiagram</a:t>
            </a: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development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7AF9B-025B-DDEB-EE9B-412972620CE8}"/>
              </a:ext>
            </a:extLst>
          </p:cNvPr>
          <p:cNvSpPr txBox="1"/>
          <p:nvPr/>
        </p:nvSpPr>
        <p:spPr>
          <a:xfrm>
            <a:off x="201168" y="585216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 –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Volledig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systeemoverzicht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A9F7EF58-98DD-CFD0-1292-CE8142D9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B1EA253-6EF9-CB3B-11B6-FA05F567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868" y="2342088"/>
            <a:ext cx="7109830" cy="2173824"/>
          </a:xfrm>
          <a:prstGeom prst="rect">
            <a:avLst/>
          </a:prstGeom>
        </p:spPr>
      </p:pic>
      <p:sp>
        <p:nvSpPr>
          <p:cNvPr id="14" name="Rectangle 26">
            <a:extLst>
              <a:ext uri="{FF2B5EF4-FFF2-40B4-BE49-F238E27FC236}">
                <a16:creationId xmlns:a16="http://schemas.microsoft.com/office/drawing/2014/main" id="{6A8E63B3-FC65-C97C-8380-30EEB8FB4295}"/>
              </a:ext>
            </a:extLst>
          </p:cNvPr>
          <p:cNvSpPr/>
          <p:nvPr/>
        </p:nvSpPr>
        <p:spPr>
          <a:xfrm>
            <a:off x="466344" y="1504800"/>
            <a:ext cx="4206240" cy="650854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27">
            <a:extLst>
              <a:ext uri="{FF2B5EF4-FFF2-40B4-BE49-F238E27FC236}">
                <a16:creationId xmlns:a16="http://schemas.microsoft.com/office/drawing/2014/main" id="{D207534C-9AE7-9663-31D7-09FA9FB88B21}"/>
              </a:ext>
            </a:extLst>
          </p:cNvPr>
          <p:cNvSpPr txBox="1"/>
          <p:nvPr/>
        </p:nvSpPr>
        <p:spPr>
          <a:xfrm>
            <a:off x="466344" y="1414728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1" dirty="0">
                <a:solidFill>
                  <a:srgbClr val="FFFFFF"/>
                </a:solidFill>
              </a:rPr>
              <a:t>Lokaal</a:t>
            </a:r>
          </a:p>
          <a:p>
            <a:pPr algn="ctr"/>
            <a:r>
              <a:rPr lang="nl-BE" sz="2400" b="1" i="0" dirty="0">
                <a:solidFill>
                  <a:srgbClr val="FFFFFF"/>
                </a:solidFill>
              </a:rPr>
              <a:t>Docker Desktop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5C42FDD1-2E14-0E20-DA53-DC2725925DB2}"/>
              </a:ext>
            </a:extLst>
          </p:cNvPr>
          <p:cNvSpPr/>
          <p:nvPr/>
        </p:nvSpPr>
        <p:spPr>
          <a:xfrm>
            <a:off x="6571488" y="1499210"/>
            <a:ext cx="4206240" cy="650854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12FED298-4A2D-C6B8-BE15-AE1EAB8C8120}"/>
              </a:ext>
            </a:extLst>
          </p:cNvPr>
          <p:cNvSpPr txBox="1"/>
          <p:nvPr/>
        </p:nvSpPr>
        <p:spPr>
          <a:xfrm>
            <a:off x="6571488" y="1401271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2400" b="1" dirty="0" err="1">
                <a:solidFill>
                  <a:srgbClr val="FFFFFF"/>
                </a:solidFill>
              </a:rPr>
              <a:t>Deployed</a:t>
            </a:r>
            <a:endParaRPr lang="nl-BE" sz="2400" b="1" dirty="0">
              <a:solidFill>
                <a:srgbClr val="FFFFFF"/>
              </a:solidFill>
            </a:endParaRPr>
          </a:p>
          <a:p>
            <a:pPr algn="ctr"/>
            <a:r>
              <a:rPr lang="nl-BE" sz="2400" b="1" dirty="0">
                <a:solidFill>
                  <a:srgbClr val="FFFFFF"/>
                </a:solidFill>
              </a:rPr>
              <a:t>Docker Hub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8" name="Pijl: rechts 17">
            <a:extLst>
              <a:ext uri="{FF2B5EF4-FFF2-40B4-BE49-F238E27FC236}">
                <a16:creationId xmlns:a16="http://schemas.microsoft.com/office/drawing/2014/main" id="{81B274BE-FFB6-64D6-E41C-4C233E15DFD6}"/>
              </a:ext>
            </a:extLst>
          </p:cNvPr>
          <p:cNvSpPr/>
          <p:nvPr/>
        </p:nvSpPr>
        <p:spPr>
          <a:xfrm>
            <a:off x="4773168" y="1735085"/>
            <a:ext cx="1645920" cy="169776"/>
          </a:xfrm>
          <a:prstGeom prst="rightArrow">
            <a:avLst/>
          </a:prstGeom>
          <a:solidFill>
            <a:srgbClr val="FFFF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713B2A49-75D4-24AE-9A6E-EBFAB5B3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299055"/>
            <a:ext cx="4343400" cy="4549801"/>
          </a:xfrm>
          <a:prstGeom prst="rect">
            <a:avLst/>
          </a:prstGeom>
        </p:spPr>
      </p:pic>
      <p:sp>
        <p:nvSpPr>
          <p:cNvPr id="13" name="Niet toegestaan-symbool 12">
            <a:extLst>
              <a:ext uri="{FF2B5EF4-FFF2-40B4-BE49-F238E27FC236}">
                <a16:creationId xmlns:a16="http://schemas.microsoft.com/office/drawing/2014/main" id="{7E5C0A01-8C11-9A2E-CCCE-B0D098835DD5}"/>
              </a:ext>
            </a:extLst>
          </p:cNvPr>
          <p:cNvSpPr/>
          <p:nvPr/>
        </p:nvSpPr>
        <p:spPr>
          <a:xfrm>
            <a:off x="7109956" y="2299055"/>
            <a:ext cx="3250756" cy="2216857"/>
          </a:xfrm>
          <a:prstGeom prst="noSmoking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52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266DD-7FFC-387F-F849-399DC6F1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3A94FD-6AAB-9099-D59F-81BED15423B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4CA39-E530-4F44-DFFD-E30282E97C01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A89F4-1566-2921-1566-AAF881825F48}"/>
              </a:ext>
            </a:extLst>
          </p:cNvPr>
          <p:cNvSpPr txBox="1"/>
          <p:nvPr/>
        </p:nvSpPr>
        <p:spPr>
          <a:xfrm>
            <a:off x="201168" y="73152"/>
            <a:ext cx="531998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Architectuurdiagram</a:t>
            </a: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BE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production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66AF1-22DD-2E38-E237-3BF61A7E37D5}"/>
              </a:ext>
            </a:extLst>
          </p:cNvPr>
          <p:cNvSpPr txBox="1"/>
          <p:nvPr/>
        </p:nvSpPr>
        <p:spPr>
          <a:xfrm>
            <a:off x="201168" y="585216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 –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Volledig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systeemoverzicht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C5762C5A-44BC-A51B-00F0-68A7C034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FCC836F4-A731-58D0-5F42-A66E768D75C7}"/>
              </a:ext>
            </a:extLst>
          </p:cNvPr>
          <p:cNvSpPr/>
          <p:nvPr/>
        </p:nvSpPr>
        <p:spPr>
          <a:xfrm>
            <a:off x="466344" y="1504800"/>
            <a:ext cx="4206240" cy="650854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27">
            <a:extLst>
              <a:ext uri="{FF2B5EF4-FFF2-40B4-BE49-F238E27FC236}">
                <a16:creationId xmlns:a16="http://schemas.microsoft.com/office/drawing/2014/main" id="{4EA697F7-AC75-0BF9-7453-F2C16574E1B6}"/>
              </a:ext>
            </a:extLst>
          </p:cNvPr>
          <p:cNvSpPr txBox="1"/>
          <p:nvPr/>
        </p:nvSpPr>
        <p:spPr>
          <a:xfrm>
            <a:off x="466344" y="1414728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Lokaal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Docker Desktop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54A21875-7787-1DE6-D984-FD4C61CAF873}"/>
              </a:ext>
            </a:extLst>
          </p:cNvPr>
          <p:cNvSpPr/>
          <p:nvPr/>
        </p:nvSpPr>
        <p:spPr>
          <a:xfrm>
            <a:off x="6571488" y="1499210"/>
            <a:ext cx="4206240" cy="650854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7DCE3BB4-8085-707B-CD4A-D94B12AA23D0}"/>
              </a:ext>
            </a:extLst>
          </p:cNvPr>
          <p:cNvSpPr txBox="1"/>
          <p:nvPr/>
        </p:nvSpPr>
        <p:spPr>
          <a:xfrm>
            <a:off x="6571488" y="1401271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Deployed</a:t>
            </a:r>
            <a:endParaRPr kumimoji="0" lang="nl-BE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Docker Hub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ijl: rechts 17">
            <a:extLst>
              <a:ext uri="{FF2B5EF4-FFF2-40B4-BE49-F238E27FC236}">
                <a16:creationId xmlns:a16="http://schemas.microsoft.com/office/drawing/2014/main" id="{CA9588E0-3F7A-E3FB-B6EA-08E5941DE9F1}"/>
              </a:ext>
            </a:extLst>
          </p:cNvPr>
          <p:cNvSpPr/>
          <p:nvPr/>
        </p:nvSpPr>
        <p:spPr>
          <a:xfrm>
            <a:off x="4773168" y="1735085"/>
            <a:ext cx="1645920" cy="169776"/>
          </a:xfrm>
          <a:prstGeom prst="rightArrow">
            <a:avLst/>
          </a:prstGeom>
          <a:solidFill>
            <a:srgbClr val="FFFF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E014D6B-F8F2-D421-E83F-3B2117BE5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89"/>
          <a:stretch>
            <a:fillRect/>
          </a:stretch>
        </p:blipFill>
        <p:spPr>
          <a:xfrm>
            <a:off x="8067829" y="2489188"/>
            <a:ext cx="3975046" cy="2136545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4496C01D-5CD1-0299-564B-E555A055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923"/>
          <a:stretch>
            <a:fillRect/>
          </a:stretch>
        </p:blipFill>
        <p:spPr>
          <a:xfrm>
            <a:off x="5195700" y="2489187"/>
            <a:ext cx="2872129" cy="2136545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45819061-15D5-B5F2-D76D-6CDD19AA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245725"/>
            <a:ext cx="4762573" cy="461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4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57EEF-E249-104D-51FE-8826BA95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1A26F1-6BBC-C883-BEC6-598776D9D68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1C3E1-89FE-119A-8300-7265E3F9C97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9D32A-8083-15DA-9326-5DBEAC5ED68D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Scope changes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533FC-D87F-3B76-B150-0F1A9D7299D9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5FEA95DD-5633-0652-D529-5916BE7F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494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462"/>
            <a:ext cx="12188952" cy="8866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881" cy="89611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7781" y="1953392"/>
            <a:ext cx="4934524" cy="2934257"/>
          </a:xfrm>
          <a:prstGeom prst="rect">
            <a:avLst/>
          </a:prstGeom>
          <a:solidFill>
            <a:srgbClr val="0A1422"/>
          </a:solidFill>
          <a:ln w="127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14629" y="1918607"/>
            <a:ext cx="7759566" cy="3003826"/>
          </a:xfrm>
          <a:prstGeom prst="rect">
            <a:avLst/>
          </a:prstGeom>
          <a:solidFill>
            <a:srgbClr val="16283E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870814" y="2171557"/>
            <a:ext cx="6353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000" b="1" dirty="0">
                <a:solidFill>
                  <a:srgbClr val="0099FF"/>
                </a:solidFill>
              </a:rPr>
              <a:t>T</a:t>
            </a:r>
            <a:r>
              <a:rPr lang="nl-BE" sz="2000" b="1" i="0" dirty="0">
                <a:solidFill>
                  <a:srgbClr val="0099FF"/>
                </a:solidFill>
              </a:rPr>
              <a:t>aken</a:t>
            </a:r>
            <a:endParaRPr sz="2000" b="1" i="0" dirty="0">
              <a:solidFill>
                <a:srgbClr val="0099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524" y="2663251"/>
            <a:ext cx="3664836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nl-BE" dirty="0">
                <a:solidFill>
                  <a:srgbClr val="FFFFFF"/>
                </a:solidFill>
              </a:rPr>
              <a:t>Als verkeersdeskundige of lid van het stadsbestuur wil ik op de verkeerskaart een locatie kunnen selecteren, zodat ik in de </a:t>
            </a:r>
            <a:r>
              <a:rPr lang="nl-BE" dirty="0" err="1">
                <a:solidFill>
                  <a:srgbClr val="FFFFFF"/>
                </a:solidFill>
              </a:rPr>
              <a:t>sidebar</a:t>
            </a:r>
            <a:r>
              <a:rPr lang="nl-BE" dirty="0">
                <a:solidFill>
                  <a:srgbClr val="FFFFFF"/>
                </a:solidFill>
              </a:rPr>
              <a:t> een knop heb om deze locatie extern te openen </a:t>
            </a:r>
          </a:p>
          <a:p>
            <a:pPr>
              <a:spcBef>
                <a:spcPts val="400"/>
              </a:spcBef>
            </a:pPr>
            <a:r>
              <a:rPr lang="nl-BE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nl-BE" sz="2000" dirty="0">
                <a:solidFill>
                  <a:srgbClr val="FFFFFF"/>
                </a:solidFill>
              </a:rPr>
              <a:t>+ 8 story points</a:t>
            </a:r>
          </a:p>
        </p:txBody>
      </p:sp>
      <p:sp>
        <p:nvSpPr>
          <p:cNvPr id="31" name="Tijdelijke aanduiding voor dianummer 30">
            <a:extLst>
              <a:ext uri="{FF2B5EF4-FFF2-40B4-BE49-F238E27FC236}">
                <a16:creationId xmlns:a16="http://schemas.microsoft.com/office/drawing/2014/main" id="{0297E5DE-9965-F51E-6146-F472D9DE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6937" y="6483413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6CEE534-8729-3963-1C22-8FB9E4D8FDD4}"/>
              </a:ext>
            </a:extLst>
          </p:cNvPr>
          <p:cNvSpPr txBox="1"/>
          <p:nvPr/>
        </p:nvSpPr>
        <p:spPr>
          <a:xfrm>
            <a:off x="201168" y="83264"/>
            <a:ext cx="2888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Scope changes</a:t>
            </a:r>
            <a:endParaRPr lang="nl-BE" sz="3200" dirty="0">
              <a:solidFill>
                <a:schemeClr val="bg1"/>
              </a:solidFill>
            </a:endParaRPr>
          </a:p>
        </p:txBody>
      </p:sp>
      <p:sp>
        <p:nvSpPr>
          <p:cNvPr id="13" name="Niet toegestaan-symbool 12">
            <a:extLst>
              <a:ext uri="{FF2B5EF4-FFF2-40B4-BE49-F238E27FC236}">
                <a16:creationId xmlns:a16="http://schemas.microsoft.com/office/drawing/2014/main" id="{9F4B02B2-AC31-B35C-CD4D-5FD1AA34ABEC}"/>
              </a:ext>
            </a:extLst>
          </p:cNvPr>
          <p:cNvSpPr/>
          <p:nvPr/>
        </p:nvSpPr>
        <p:spPr>
          <a:xfrm>
            <a:off x="6443284" y="2571667"/>
            <a:ext cx="1965960" cy="1816863"/>
          </a:xfrm>
          <a:prstGeom prst="noSmoking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FE9440A-2F70-95B1-E360-440E2110D437}"/>
              </a:ext>
            </a:extLst>
          </p:cNvPr>
          <p:cNvSpPr txBox="1"/>
          <p:nvPr/>
        </p:nvSpPr>
        <p:spPr>
          <a:xfrm>
            <a:off x="3474720" y="2175974"/>
            <a:ext cx="3429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2000" b="1" i="0" dirty="0">
                <a:solidFill>
                  <a:srgbClr val="0099FF"/>
                </a:solidFill>
              </a:rPr>
              <a:t>User </a:t>
            </a:r>
            <a:r>
              <a:rPr lang="nl-BE" sz="2000" b="1" i="0" dirty="0" err="1">
                <a:solidFill>
                  <a:srgbClr val="0099FF"/>
                </a:solidFill>
              </a:rPr>
              <a:t>stories</a:t>
            </a:r>
            <a:endParaRPr sz="2000" b="1" i="0" dirty="0">
              <a:solidFill>
                <a:srgbClr val="0099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E356F-4466-EB93-0A07-22A1D6B9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F49C2F-C370-8C9E-7177-2A74213A8927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532BB-D326-5CC4-46A1-E9EE13EF12DD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AC9D3-0F4B-9D99-A76A-773F839C67BF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Demo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A1D6BF-2D25-CE66-76AF-CEEDFC3D18F1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3E2C738A-6FF1-BB6F-4E20-8C5F2307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203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705EF-BFF7-8435-5B63-2BF0C13F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D502E8-D669-1D98-23E8-283F788DF2CB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02CC2-6C80-167B-CB89-B2010133FC21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AF8B9-3546-52EC-39E2-3FD53F27BF00}"/>
              </a:ext>
            </a:extLst>
          </p:cNvPr>
          <p:cNvSpPr txBox="1"/>
          <p:nvPr/>
        </p:nvSpPr>
        <p:spPr>
          <a:xfrm>
            <a:off x="1371600" y="164592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BE" sz="7200" b="1" dirty="0">
                <a:solidFill>
                  <a:srgbClr val="0099FF"/>
                </a:solidFill>
                <a:hlinkClick r:id="rId2"/>
              </a:rPr>
              <a:t>http://localhost</a:t>
            </a:r>
            <a:endParaRPr lang="nl-BE" sz="7200" b="1" dirty="0">
              <a:solidFill>
                <a:srgbClr val="0099FF"/>
              </a:solidFill>
            </a:endParaRPr>
          </a:p>
          <a:p>
            <a:pPr lvl="0" algn="ctr">
              <a:defRPr/>
            </a:pPr>
            <a:endParaRPr lang="nl-BE" sz="7200" b="1" dirty="0">
              <a:solidFill>
                <a:srgbClr val="0099FF"/>
              </a:solidFill>
            </a:endParaRPr>
          </a:p>
          <a:p>
            <a:pPr lvl="0" algn="ctr">
              <a:defRPr/>
            </a:pPr>
            <a:endParaRPr lang="nl-BE" sz="7200" b="1" dirty="0">
              <a:solidFill>
                <a:srgbClr val="0099FF"/>
              </a:solidFill>
            </a:endParaRPr>
          </a:p>
          <a:p>
            <a:pPr lvl="0" algn="ctr"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69F3F-B42C-F5AF-FCB4-49447731988F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71DF78AA-B9B9-5094-9479-65D41086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79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960EE-1841-F4F1-32B0-AE9DA374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EA62FD-212D-0646-C1AF-E732DB490B4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7151E-4F3F-09A8-64EF-39EFAFE42717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0511A-FD2F-E5B9-1839-26F10CB57D54}"/>
              </a:ext>
            </a:extLst>
          </p:cNvPr>
          <p:cNvSpPr txBox="1"/>
          <p:nvPr/>
        </p:nvSpPr>
        <p:spPr>
          <a:xfrm>
            <a:off x="91439" y="1645920"/>
            <a:ext cx="120973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Sprint 3 voorbereiding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54803D-9897-DE80-84E0-3D103FD05D54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BE24A567-7AE4-3245-B90E-53029574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317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405906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Sprint </a:t>
            </a:r>
            <a:r>
              <a:rPr lang="nl-BE" sz="3000" b="1" dirty="0">
                <a:solidFill>
                  <a:srgbClr val="FFFFFF"/>
                </a:solidFill>
              </a:rPr>
              <a:t>3</a:t>
            </a:r>
            <a:r>
              <a:rPr sz="3000" b="1" dirty="0">
                <a:solidFill>
                  <a:srgbClr val="FFFFFF"/>
                </a:solidFill>
              </a:rPr>
              <a:t> – </a:t>
            </a:r>
            <a:r>
              <a:rPr sz="3000" b="1" dirty="0" err="1">
                <a:solidFill>
                  <a:srgbClr val="FFFFFF"/>
                </a:solidFill>
              </a:rPr>
              <a:t>Voorbereiding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" y="585216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0C4D8"/>
                </a:solidFill>
              </a:rPr>
              <a:t>08 – User Stories &amp; Sprint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234440"/>
          </a:xfrm>
          <a:prstGeom prst="rect">
            <a:avLst/>
          </a:prstGeom>
          <a:solidFill>
            <a:srgbClr val="1A2E14"/>
          </a:solidFill>
          <a:ln w="254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09728" cy="1234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E596"/>
                </a:solidFill>
              </a:rPr>
              <a:t>Sprint </a:t>
            </a:r>
            <a:r>
              <a:rPr lang="nl-BE" sz="1100" b="1" dirty="0">
                <a:solidFill>
                  <a:srgbClr val="00E596"/>
                </a:solidFill>
              </a:rPr>
              <a:t>3</a:t>
            </a:r>
            <a:r>
              <a:rPr sz="1100" b="1" i="0" dirty="0">
                <a:solidFill>
                  <a:srgbClr val="00E596"/>
                </a:solidFill>
              </a:rPr>
              <a:t>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7647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i="1" dirty="0">
                <a:solidFill>
                  <a:srgbClr val="AAFFAA"/>
                </a:solidFill>
              </a:rPr>
              <a:t>Aan het einde van deze sprint is de applicatie afgerond met </a:t>
            </a:r>
            <a:r>
              <a:rPr lang="nl-BE" i="1" dirty="0" err="1">
                <a:solidFill>
                  <a:srgbClr val="AAFFAA"/>
                </a:solidFill>
              </a:rPr>
              <a:t>polish</a:t>
            </a:r>
            <a:r>
              <a:rPr lang="nl-BE" i="1" dirty="0">
                <a:solidFill>
                  <a:srgbClr val="AAFFAA"/>
                </a:solidFill>
              </a:rPr>
              <a:t> en </a:t>
            </a:r>
            <a:r>
              <a:rPr lang="nl-BE" i="1" dirty="0" err="1">
                <a:solidFill>
                  <a:srgbClr val="AAFFAA"/>
                </a:solidFill>
              </a:rPr>
              <a:t>bugfixes</a:t>
            </a:r>
            <a:r>
              <a:rPr lang="nl-BE" i="1" dirty="0">
                <a:solidFill>
                  <a:srgbClr val="AAFFAA"/>
                </a:solidFill>
              </a:rPr>
              <a:t>, waarbij gebruikers </a:t>
            </a:r>
            <a:r>
              <a:rPr lang="nl-BE" i="1" dirty="0" err="1">
                <a:solidFill>
                  <a:srgbClr val="AAFFAA"/>
                </a:solidFill>
              </a:rPr>
              <a:t>KPI’s</a:t>
            </a:r>
            <a:r>
              <a:rPr lang="nl-BE" i="1" dirty="0">
                <a:solidFill>
                  <a:srgbClr val="AAFFAA"/>
                </a:solidFill>
              </a:rPr>
              <a:t> kunnen exporteren, simulaties opslaan en hergebruiken, logs analyseren en filteren, en meldingen ontvangen bij voltooiing van simulaties.</a:t>
            </a:r>
            <a:endParaRPr sz="1600" b="1" i="1" dirty="0">
              <a:solidFill>
                <a:srgbClr val="AAFFAA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961120" y="6217920"/>
            <a:ext cx="2971800" cy="457200"/>
          </a:xfrm>
          <a:prstGeom prst="rect">
            <a:avLst/>
          </a:prstGeom>
          <a:solidFill>
            <a:srgbClr val="16283E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52560" y="6254496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BF00"/>
                </a:solidFill>
              </a:rPr>
              <a:t>Sprint </a:t>
            </a:r>
            <a:r>
              <a:rPr lang="nl-BE" sz="1300" b="1" dirty="0">
                <a:solidFill>
                  <a:srgbClr val="FFBF00"/>
                </a:solidFill>
              </a:rPr>
              <a:t>3</a:t>
            </a:r>
            <a:r>
              <a:rPr sz="1300" b="1" i="0" dirty="0">
                <a:solidFill>
                  <a:srgbClr val="FFBF00"/>
                </a:solidFill>
              </a:rPr>
              <a:t> : </a:t>
            </a:r>
            <a:r>
              <a:rPr lang="en-US" sz="1300" b="1" dirty="0">
                <a:solidFill>
                  <a:srgbClr val="FFBF00"/>
                </a:solidFill>
              </a:rPr>
              <a:t>78</a:t>
            </a:r>
            <a:r>
              <a:rPr sz="1300" b="1" i="0" dirty="0">
                <a:solidFill>
                  <a:srgbClr val="FFBF00"/>
                </a:solidFill>
              </a:rPr>
              <a:t> Story Points</a:t>
            </a:r>
          </a:p>
        </p:txBody>
      </p:sp>
      <p:sp>
        <p:nvSpPr>
          <p:cNvPr id="69" name="Tijdelijke aanduiding voor dianummer 68">
            <a:extLst>
              <a:ext uri="{FF2B5EF4-FFF2-40B4-BE49-F238E27FC236}">
                <a16:creationId xmlns:a16="http://schemas.microsoft.com/office/drawing/2014/main" id="{AEF1A8C3-F41B-8D38-5F00-3F6816D7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5D5511B5-FDDE-88E0-F629-D2C3BF26E453}"/>
              </a:ext>
            </a:extLst>
          </p:cNvPr>
          <p:cNvSpPr/>
          <p:nvPr/>
        </p:nvSpPr>
        <p:spPr>
          <a:xfrm>
            <a:off x="73152" y="2697269"/>
            <a:ext cx="1165860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6">
            <a:extLst>
              <a:ext uri="{FF2B5EF4-FFF2-40B4-BE49-F238E27FC236}">
                <a16:creationId xmlns:a16="http://schemas.microsoft.com/office/drawing/2014/main" id="{614FE009-CD53-3526-9B09-ABE51C113F8E}"/>
              </a:ext>
            </a:extLst>
          </p:cNvPr>
          <p:cNvSpPr txBox="1"/>
          <p:nvPr/>
        </p:nvSpPr>
        <p:spPr>
          <a:xfrm>
            <a:off x="530225" y="273526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99FF"/>
                </a:solidFill>
              </a:rPr>
              <a:t>ID</a:t>
            </a:r>
          </a:p>
        </p:txBody>
      </p:sp>
      <p:sp>
        <p:nvSpPr>
          <p:cNvPr id="128" name="TextBox 7">
            <a:extLst>
              <a:ext uri="{FF2B5EF4-FFF2-40B4-BE49-F238E27FC236}">
                <a16:creationId xmlns:a16="http://schemas.microsoft.com/office/drawing/2014/main" id="{EFB91A26-A57D-A75B-DDA6-A40FD2C912A7}"/>
              </a:ext>
            </a:extLst>
          </p:cNvPr>
          <p:cNvSpPr txBox="1"/>
          <p:nvPr/>
        </p:nvSpPr>
        <p:spPr>
          <a:xfrm>
            <a:off x="1600200" y="2742989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0099FF"/>
                </a:solidFill>
              </a:rPr>
              <a:t>Epic</a:t>
            </a:r>
            <a:endParaRPr sz="1100" b="1" i="0" dirty="0">
              <a:solidFill>
                <a:srgbClr val="0099FF"/>
              </a:solidFill>
            </a:endParaRPr>
          </a:p>
        </p:txBody>
      </p:sp>
      <p:sp>
        <p:nvSpPr>
          <p:cNvPr id="129" name="TextBox 8">
            <a:extLst>
              <a:ext uri="{FF2B5EF4-FFF2-40B4-BE49-F238E27FC236}">
                <a16:creationId xmlns:a16="http://schemas.microsoft.com/office/drawing/2014/main" id="{9D7D16C8-FDB7-4CBD-CEF0-57680D7E12D0}"/>
              </a:ext>
            </a:extLst>
          </p:cNvPr>
          <p:cNvSpPr txBox="1"/>
          <p:nvPr/>
        </p:nvSpPr>
        <p:spPr>
          <a:xfrm>
            <a:off x="2788920" y="274298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FF"/>
                </a:solidFill>
              </a:rPr>
              <a:t>User Story</a:t>
            </a:r>
          </a:p>
        </p:txBody>
      </p:sp>
      <p:sp>
        <p:nvSpPr>
          <p:cNvPr id="130" name="TextBox 9">
            <a:extLst>
              <a:ext uri="{FF2B5EF4-FFF2-40B4-BE49-F238E27FC236}">
                <a16:creationId xmlns:a16="http://schemas.microsoft.com/office/drawing/2014/main" id="{99BBEE27-F06D-2C5C-F423-7AAE23483D04}"/>
              </a:ext>
            </a:extLst>
          </p:cNvPr>
          <p:cNvSpPr txBox="1"/>
          <p:nvPr/>
        </p:nvSpPr>
        <p:spPr>
          <a:xfrm>
            <a:off x="7863840" y="274298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FF"/>
                </a:solidFill>
              </a:rPr>
              <a:t>Prioriteit</a:t>
            </a:r>
          </a:p>
        </p:txBody>
      </p:sp>
      <p:sp>
        <p:nvSpPr>
          <p:cNvPr id="131" name="TextBox 10">
            <a:extLst>
              <a:ext uri="{FF2B5EF4-FFF2-40B4-BE49-F238E27FC236}">
                <a16:creationId xmlns:a16="http://schemas.microsoft.com/office/drawing/2014/main" id="{E659E3F4-81D3-8A5E-1109-F2D62586B652}"/>
              </a:ext>
            </a:extLst>
          </p:cNvPr>
          <p:cNvSpPr txBox="1"/>
          <p:nvPr/>
        </p:nvSpPr>
        <p:spPr>
          <a:xfrm>
            <a:off x="9326880" y="274298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FF"/>
                </a:solidFill>
              </a:rPr>
              <a:t>Story Points</a:t>
            </a:r>
          </a:p>
        </p:txBody>
      </p:sp>
      <p:sp>
        <p:nvSpPr>
          <p:cNvPr id="132" name="TextBox 11">
            <a:extLst>
              <a:ext uri="{FF2B5EF4-FFF2-40B4-BE49-F238E27FC236}">
                <a16:creationId xmlns:a16="http://schemas.microsoft.com/office/drawing/2014/main" id="{B0D5D86A-D501-B723-5503-2CBAD832F1C9}"/>
              </a:ext>
            </a:extLst>
          </p:cNvPr>
          <p:cNvSpPr txBox="1"/>
          <p:nvPr/>
        </p:nvSpPr>
        <p:spPr>
          <a:xfrm>
            <a:off x="10607040" y="274298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FF"/>
                </a:solidFill>
              </a:rPr>
              <a:t>Sprint</a:t>
            </a:r>
          </a:p>
        </p:txBody>
      </p:sp>
      <p:sp>
        <p:nvSpPr>
          <p:cNvPr id="133" name="Rectangle 12">
            <a:extLst>
              <a:ext uri="{FF2B5EF4-FFF2-40B4-BE49-F238E27FC236}">
                <a16:creationId xmlns:a16="http://schemas.microsoft.com/office/drawing/2014/main" id="{18A6ABDD-5DE5-9C57-8EE7-541E60FD032D}"/>
              </a:ext>
            </a:extLst>
          </p:cNvPr>
          <p:cNvSpPr/>
          <p:nvPr/>
        </p:nvSpPr>
        <p:spPr>
          <a:xfrm>
            <a:off x="73152" y="3089853"/>
            <a:ext cx="11658600" cy="604112"/>
          </a:xfrm>
          <a:prstGeom prst="rect">
            <a:avLst/>
          </a:prstGeom>
          <a:solidFill>
            <a:srgbClr val="16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">
            <a:extLst>
              <a:ext uri="{FF2B5EF4-FFF2-40B4-BE49-F238E27FC236}">
                <a16:creationId xmlns:a16="http://schemas.microsoft.com/office/drawing/2014/main" id="{1267F623-3539-F9F7-CCC5-A356BA153BE0}"/>
              </a:ext>
            </a:extLst>
          </p:cNvPr>
          <p:cNvSpPr txBox="1"/>
          <p:nvPr/>
        </p:nvSpPr>
        <p:spPr>
          <a:xfrm>
            <a:off x="137159" y="3181901"/>
            <a:ext cx="14630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99FF"/>
                </a:solidFill>
              </a:rPr>
              <a:t>US</a:t>
            </a:r>
            <a:r>
              <a:rPr lang="nl-BE" sz="1100" b="1" i="0" dirty="0">
                <a:solidFill>
                  <a:srgbClr val="0099FF"/>
                </a:solidFill>
              </a:rPr>
              <a:t>R2526AI03-</a:t>
            </a:r>
            <a:r>
              <a:rPr lang="nl-BE" sz="1100" b="1" dirty="0">
                <a:solidFill>
                  <a:srgbClr val="0099FF"/>
                </a:solidFill>
              </a:rPr>
              <a:t>42</a:t>
            </a:r>
            <a:r>
              <a:rPr sz="1100" b="1" i="0" dirty="0">
                <a:solidFill>
                  <a:srgbClr val="0099FF"/>
                </a:solidFill>
              </a:rPr>
              <a:t> </a:t>
            </a:r>
          </a:p>
        </p:txBody>
      </p:sp>
      <p:sp>
        <p:nvSpPr>
          <p:cNvPr id="135" name="TextBox 14">
            <a:extLst>
              <a:ext uri="{FF2B5EF4-FFF2-40B4-BE49-F238E27FC236}">
                <a16:creationId xmlns:a16="http://schemas.microsoft.com/office/drawing/2014/main" id="{71EC73C8-78CC-DDA2-81EF-DCB6C4757773}"/>
              </a:ext>
            </a:extLst>
          </p:cNvPr>
          <p:cNvSpPr txBox="1"/>
          <p:nvPr/>
        </p:nvSpPr>
        <p:spPr>
          <a:xfrm>
            <a:off x="1353184" y="320302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KPI dashboard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136" name="TextBox 15">
            <a:extLst>
              <a:ext uri="{FF2B5EF4-FFF2-40B4-BE49-F238E27FC236}">
                <a16:creationId xmlns:a16="http://schemas.microsoft.com/office/drawing/2014/main" id="{03FC3FEC-0EEA-155E-7496-FA058E04B180}"/>
              </a:ext>
            </a:extLst>
          </p:cNvPr>
          <p:cNvSpPr txBox="1"/>
          <p:nvPr/>
        </p:nvSpPr>
        <p:spPr>
          <a:xfrm>
            <a:off x="2788920" y="3145325"/>
            <a:ext cx="4937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dirty="0">
                <a:solidFill>
                  <a:srgbClr val="B0C4D8"/>
                </a:solidFill>
              </a:rPr>
              <a:t>Als verkeersdeskundige of lid van het stadsbestuur wil ik </a:t>
            </a:r>
            <a:r>
              <a:rPr lang="nl-BE" sz="1050" dirty="0" err="1">
                <a:solidFill>
                  <a:srgbClr val="B0C4D8"/>
                </a:solidFill>
              </a:rPr>
              <a:t>KPI’s</a:t>
            </a:r>
            <a:r>
              <a:rPr lang="nl-BE" sz="1050" dirty="0">
                <a:solidFill>
                  <a:srgbClr val="B0C4D8"/>
                </a:solidFill>
              </a:rPr>
              <a:t> exporteren zodat ik analyses extern kan uitvoeren.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137" name="TextBox 18">
            <a:extLst>
              <a:ext uri="{FF2B5EF4-FFF2-40B4-BE49-F238E27FC236}">
                <a16:creationId xmlns:a16="http://schemas.microsoft.com/office/drawing/2014/main" id="{382D1F69-9F33-A9BF-0791-C846A101467E}"/>
              </a:ext>
            </a:extLst>
          </p:cNvPr>
          <p:cNvSpPr txBox="1"/>
          <p:nvPr/>
        </p:nvSpPr>
        <p:spPr>
          <a:xfrm>
            <a:off x="9372600" y="3236765"/>
            <a:ext cx="1097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BF00"/>
                </a:solidFill>
              </a:rPr>
              <a:t>  </a:t>
            </a:r>
            <a:r>
              <a:rPr lang="nl-BE" sz="1050" b="1" dirty="0">
                <a:solidFill>
                  <a:srgbClr val="FFBF00"/>
                </a:solidFill>
              </a:rPr>
              <a:t>8</a:t>
            </a:r>
            <a:r>
              <a:rPr sz="1050" b="1" i="0" dirty="0">
                <a:solidFill>
                  <a:srgbClr val="FFBF00"/>
                </a:solidFill>
              </a:rPr>
              <a:t> </a:t>
            </a:r>
            <a:r>
              <a:rPr lang="en-US" sz="1050" b="1" i="0" dirty="0">
                <a:solidFill>
                  <a:srgbClr val="FFBF00"/>
                </a:solidFill>
              </a:rPr>
              <a:t>SP</a:t>
            </a:r>
            <a:endParaRPr sz="1050" b="1" i="0" dirty="0">
              <a:solidFill>
                <a:srgbClr val="FFBF00"/>
              </a:solidFill>
            </a:endParaRP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1E8EEE0A-C8AD-4306-7763-F4C9A894E205}"/>
              </a:ext>
            </a:extLst>
          </p:cNvPr>
          <p:cNvSpPr txBox="1"/>
          <p:nvPr/>
        </p:nvSpPr>
        <p:spPr>
          <a:xfrm>
            <a:off x="10652760" y="3236765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596"/>
                </a:solidFill>
              </a:rPr>
              <a:t>S</a:t>
            </a:r>
            <a:r>
              <a:rPr lang="nl-BE" sz="1100" b="1" i="0" dirty="0">
                <a:solidFill>
                  <a:srgbClr val="00E596"/>
                </a:solidFill>
              </a:rPr>
              <a:t>2</a:t>
            </a:r>
            <a:endParaRPr sz="1100" b="1" i="0" dirty="0">
              <a:solidFill>
                <a:srgbClr val="00E596"/>
              </a:solidFill>
            </a:endParaRPr>
          </a:p>
        </p:txBody>
      </p:sp>
      <p:sp>
        <p:nvSpPr>
          <p:cNvPr id="139" name="Rectangle 20">
            <a:extLst>
              <a:ext uri="{FF2B5EF4-FFF2-40B4-BE49-F238E27FC236}">
                <a16:creationId xmlns:a16="http://schemas.microsoft.com/office/drawing/2014/main" id="{3A43CE79-D94F-E10F-B029-C038216D66B8}"/>
              </a:ext>
            </a:extLst>
          </p:cNvPr>
          <p:cNvSpPr/>
          <p:nvPr/>
        </p:nvSpPr>
        <p:spPr>
          <a:xfrm>
            <a:off x="73152" y="3730541"/>
            <a:ext cx="11658600" cy="62179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21">
            <a:extLst>
              <a:ext uri="{FF2B5EF4-FFF2-40B4-BE49-F238E27FC236}">
                <a16:creationId xmlns:a16="http://schemas.microsoft.com/office/drawing/2014/main" id="{3596DB74-C3C1-3B0D-15A5-25AE77863AF8}"/>
              </a:ext>
            </a:extLst>
          </p:cNvPr>
          <p:cNvSpPr txBox="1"/>
          <p:nvPr/>
        </p:nvSpPr>
        <p:spPr>
          <a:xfrm>
            <a:off x="137160" y="3840269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100" b="1" dirty="0">
                <a:solidFill>
                  <a:srgbClr val="0099FF"/>
                </a:solidFill>
              </a:rPr>
              <a:t>USR2526AI03-47</a:t>
            </a:r>
          </a:p>
          <a:p>
            <a:pPr algn="l"/>
            <a:endParaRPr sz="1100" b="1" i="0" dirty="0">
              <a:solidFill>
                <a:srgbClr val="0099FF"/>
              </a:solidFill>
            </a:endParaRPr>
          </a:p>
        </p:txBody>
      </p:sp>
      <p:sp>
        <p:nvSpPr>
          <p:cNvPr id="141" name="TextBox 22">
            <a:extLst>
              <a:ext uri="{FF2B5EF4-FFF2-40B4-BE49-F238E27FC236}">
                <a16:creationId xmlns:a16="http://schemas.microsoft.com/office/drawing/2014/main" id="{A6FC7166-4B4E-A7A7-5BF9-F757C6552E4B}"/>
              </a:ext>
            </a:extLst>
          </p:cNvPr>
          <p:cNvSpPr txBox="1"/>
          <p:nvPr/>
        </p:nvSpPr>
        <p:spPr>
          <a:xfrm>
            <a:off x="1353184" y="3821373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Log </a:t>
            </a:r>
            <a:r>
              <a:rPr lang="en-US" sz="1100" b="1" dirty="0" err="1">
                <a:solidFill>
                  <a:srgbClr val="FFFFFF"/>
                </a:solidFill>
              </a:rPr>
              <a:t>analyse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142" name="TextBox 23">
            <a:extLst>
              <a:ext uri="{FF2B5EF4-FFF2-40B4-BE49-F238E27FC236}">
                <a16:creationId xmlns:a16="http://schemas.microsoft.com/office/drawing/2014/main" id="{38232D6F-E92A-AF3C-817B-8B0E0BFBA944}"/>
              </a:ext>
            </a:extLst>
          </p:cNvPr>
          <p:cNvSpPr txBox="1"/>
          <p:nvPr/>
        </p:nvSpPr>
        <p:spPr>
          <a:xfrm>
            <a:off x="2788920" y="3803693"/>
            <a:ext cx="4937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dirty="0">
                <a:solidFill>
                  <a:srgbClr val="B0C4D8"/>
                </a:solidFill>
              </a:rPr>
              <a:t>Als verkeersdeskundige of lid van het stadsbestuur wil ik logs downloaden zodat ik externe analyse kan uitvoeren.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143" name="TextBox 26">
            <a:extLst>
              <a:ext uri="{FF2B5EF4-FFF2-40B4-BE49-F238E27FC236}">
                <a16:creationId xmlns:a16="http://schemas.microsoft.com/office/drawing/2014/main" id="{53D92429-4C63-0E0F-31FC-8DEE943612FB}"/>
              </a:ext>
            </a:extLst>
          </p:cNvPr>
          <p:cNvSpPr txBox="1"/>
          <p:nvPr/>
        </p:nvSpPr>
        <p:spPr>
          <a:xfrm>
            <a:off x="9372600" y="3895133"/>
            <a:ext cx="1097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BF00"/>
                </a:solidFill>
              </a:rPr>
              <a:t>  </a:t>
            </a:r>
            <a:r>
              <a:rPr lang="nl-BE" sz="1050" b="1" dirty="0">
                <a:solidFill>
                  <a:srgbClr val="FFBF00"/>
                </a:solidFill>
              </a:rPr>
              <a:t>8</a:t>
            </a:r>
            <a:r>
              <a:rPr sz="1050" b="1" i="0" dirty="0">
                <a:solidFill>
                  <a:srgbClr val="FFBF00"/>
                </a:solidFill>
              </a:rPr>
              <a:t> SP</a:t>
            </a:r>
          </a:p>
        </p:txBody>
      </p:sp>
      <p:sp>
        <p:nvSpPr>
          <p:cNvPr id="144" name="TextBox 27">
            <a:extLst>
              <a:ext uri="{FF2B5EF4-FFF2-40B4-BE49-F238E27FC236}">
                <a16:creationId xmlns:a16="http://schemas.microsoft.com/office/drawing/2014/main" id="{50153533-1C42-4E06-2ECB-A8660A77BBB7}"/>
              </a:ext>
            </a:extLst>
          </p:cNvPr>
          <p:cNvSpPr txBox="1"/>
          <p:nvPr/>
        </p:nvSpPr>
        <p:spPr>
          <a:xfrm>
            <a:off x="10652760" y="3895133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596"/>
                </a:solidFill>
              </a:rPr>
              <a:t>S</a:t>
            </a:r>
            <a:r>
              <a:rPr lang="nl-BE" sz="1100" b="1" dirty="0">
                <a:solidFill>
                  <a:srgbClr val="00E596"/>
                </a:solidFill>
              </a:rPr>
              <a:t>3</a:t>
            </a:r>
            <a:endParaRPr sz="1100" b="1" i="0" dirty="0">
              <a:solidFill>
                <a:srgbClr val="00E596"/>
              </a:solidFill>
            </a:endParaRPr>
          </a:p>
        </p:txBody>
      </p:sp>
      <p:sp>
        <p:nvSpPr>
          <p:cNvPr id="145" name="Rectangle 28">
            <a:extLst>
              <a:ext uri="{FF2B5EF4-FFF2-40B4-BE49-F238E27FC236}">
                <a16:creationId xmlns:a16="http://schemas.microsoft.com/office/drawing/2014/main" id="{370C5D8D-8908-D911-7FCA-AB31BB3D98C9}"/>
              </a:ext>
            </a:extLst>
          </p:cNvPr>
          <p:cNvSpPr/>
          <p:nvPr/>
        </p:nvSpPr>
        <p:spPr>
          <a:xfrm>
            <a:off x="73152" y="4388909"/>
            <a:ext cx="11658600" cy="621792"/>
          </a:xfrm>
          <a:prstGeom prst="rect">
            <a:avLst/>
          </a:prstGeom>
          <a:solidFill>
            <a:srgbClr val="16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29">
            <a:extLst>
              <a:ext uri="{FF2B5EF4-FFF2-40B4-BE49-F238E27FC236}">
                <a16:creationId xmlns:a16="http://schemas.microsoft.com/office/drawing/2014/main" id="{E0B1E886-6D20-719E-A639-C7B988F752DB}"/>
              </a:ext>
            </a:extLst>
          </p:cNvPr>
          <p:cNvSpPr txBox="1"/>
          <p:nvPr/>
        </p:nvSpPr>
        <p:spPr>
          <a:xfrm>
            <a:off x="137160" y="4498637"/>
            <a:ext cx="11607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100" b="1" dirty="0">
                <a:solidFill>
                  <a:srgbClr val="0099FF"/>
                </a:solidFill>
              </a:rPr>
              <a:t>USR2526AI03-49</a:t>
            </a:r>
          </a:p>
        </p:txBody>
      </p:sp>
      <p:sp>
        <p:nvSpPr>
          <p:cNvPr id="147" name="TextBox 30">
            <a:extLst>
              <a:ext uri="{FF2B5EF4-FFF2-40B4-BE49-F238E27FC236}">
                <a16:creationId xmlns:a16="http://schemas.microsoft.com/office/drawing/2014/main" id="{903180D5-8CBA-31FD-863C-17E89627B7F5}"/>
              </a:ext>
            </a:extLst>
          </p:cNvPr>
          <p:cNvSpPr txBox="1"/>
          <p:nvPr/>
        </p:nvSpPr>
        <p:spPr>
          <a:xfrm>
            <a:off x="1361924" y="4480571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Scenario </a:t>
            </a:r>
            <a:r>
              <a:rPr lang="en-US" sz="1100" b="1" dirty="0" err="1">
                <a:solidFill>
                  <a:srgbClr val="FFFFFF"/>
                </a:solidFill>
              </a:rPr>
              <a:t>opslag</a:t>
            </a:r>
            <a:endParaRPr lang="en-US" sz="1100" b="1" dirty="0">
              <a:solidFill>
                <a:srgbClr val="FFFFFF"/>
              </a:solidFill>
            </a:endParaRPr>
          </a:p>
        </p:txBody>
      </p:sp>
      <p:sp>
        <p:nvSpPr>
          <p:cNvPr id="148" name="TextBox 31">
            <a:extLst>
              <a:ext uri="{FF2B5EF4-FFF2-40B4-BE49-F238E27FC236}">
                <a16:creationId xmlns:a16="http://schemas.microsoft.com/office/drawing/2014/main" id="{D3088F58-4BCD-380D-9421-7F6177FC2879}"/>
              </a:ext>
            </a:extLst>
          </p:cNvPr>
          <p:cNvSpPr txBox="1"/>
          <p:nvPr/>
        </p:nvSpPr>
        <p:spPr>
          <a:xfrm>
            <a:off x="2788920" y="4462061"/>
            <a:ext cx="49377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dirty="0">
                <a:solidFill>
                  <a:srgbClr val="B0C4D8"/>
                </a:solidFill>
              </a:rPr>
              <a:t>Als verkeersdeskundige of lid van het stadsbestuur wil ik dat het interval gekoppeld is aan gekozen scenario zodat elke simulatie met consistente instellingen wordt uitgevoerd.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149" name="TextBox 34">
            <a:extLst>
              <a:ext uri="{FF2B5EF4-FFF2-40B4-BE49-F238E27FC236}">
                <a16:creationId xmlns:a16="http://schemas.microsoft.com/office/drawing/2014/main" id="{3799F268-2206-3FAB-A87E-0AD9F577E193}"/>
              </a:ext>
            </a:extLst>
          </p:cNvPr>
          <p:cNvSpPr txBox="1"/>
          <p:nvPr/>
        </p:nvSpPr>
        <p:spPr>
          <a:xfrm>
            <a:off x="9372600" y="4553501"/>
            <a:ext cx="1097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BF00"/>
                </a:solidFill>
              </a:rPr>
              <a:t>  </a:t>
            </a:r>
            <a:r>
              <a:rPr lang="nl-BE" sz="1050" b="1" i="0" dirty="0">
                <a:solidFill>
                  <a:srgbClr val="FFBF00"/>
                </a:solidFill>
              </a:rPr>
              <a:t>13</a:t>
            </a:r>
            <a:r>
              <a:rPr sz="1050" b="1" i="0" dirty="0">
                <a:solidFill>
                  <a:srgbClr val="FFBF00"/>
                </a:solidFill>
              </a:rPr>
              <a:t>SP</a:t>
            </a:r>
          </a:p>
        </p:txBody>
      </p:sp>
      <p:sp>
        <p:nvSpPr>
          <p:cNvPr id="150" name="TextBox 35">
            <a:extLst>
              <a:ext uri="{FF2B5EF4-FFF2-40B4-BE49-F238E27FC236}">
                <a16:creationId xmlns:a16="http://schemas.microsoft.com/office/drawing/2014/main" id="{CA41DBC8-CF3D-C492-3482-DF4A5010873E}"/>
              </a:ext>
            </a:extLst>
          </p:cNvPr>
          <p:cNvSpPr txBox="1"/>
          <p:nvPr/>
        </p:nvSpPr>
        <p:spPr>
          <a:xfrm>
            <a:off x="10652760" y="4553501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596"/>
                </a:solidFill>
              </a:rPr>
              <a:t>S</a:t>
            </a:r>
            <a:r>
              <a:rPr lang="nl-BE" sz="1100" b="1" dirty="0">
                <a:solidFill>
                  <a:srgbClr val="00E596"/>
                </a:solidFill>
              </a:rPr>
              <a:t>3</a:t>
            </a:r>
            <a:endParaRPr sz="1100" b="1" i="0" dirty="0">
              <a:solidFill>
                <a:srgbClr val="00E596"/>
              </a:solidFill>
            </a:endParaRPr>
          </a:p>
        </p:txBody>
      </p:sp>
      <p:sp>
        <p:nvSpPr>
          <p:cNvPr id="169" name="Rectangle 60">
            <a:extLst>
              <a:ext uri="{FF2B5EF4-FFF2-40B4-BE49-F238E27FC236}">
                <a16:creationId xmlns:a16="http://schemas.microsoft.com/office/drawing/2014/main" id="{34E6CD63-6D92-D178-B273-C14005133B3A}"/>
              </a:ext>
            </a:extLst>
          </p:cNvPr>
          <p:cNvSpPr/>
          <p:nvPr/>
        </p:nvSpPr>
        <p:spPr>
          <a:xfrm>
            <a:off x="73152" y="5050562"/>
            <a:ext cx="11658600" cy="621792"/>
          </a:xfrm>
          <a:prstGeom prst="rect">
            <a:avLst/>
          </a:prstGeom>
          <a:solidFill>
            <a:srgbClr val="16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61">
            <a:extLst>
              <a:ext uri="{FF2B5EF4-FFF2-40B4-BE49-F238E27FC236}">
                <a16:creationId xmlns:a16="http://schemas.microsoft.com/office/drawing/2014/main" id="{16C85713-58F9-7D85-44F8-2B14900C1982}"/>
              </a:ext>
            </a:extLst>
          </p:cNvPr>
          <p:cNvSpPr txBox="1"/>
          <p:nvPr/>
        </p:nvSpPr>
        <p:spPr>
          <a:xfrm>
            <a:off x="142930" y="5256105"/>
            <a:ext cx="12247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100" b="1" dirty="0">
                <a:solidFill>
                  <a:srgbClr val="0099FF"/>
                </a:solidFill>
              </a:rPr>
              <a:t>USR2526AI03-88</a:t>
            </a:r>
          </a:p>
          <a:p>
            <a:pPr algn="l"/>
            <a:endParaRPr sz="1100" b="1" i="0" dirty="0">
              <a:solidFill>
                <a:srgbClr val="0099FF"/>
              </a:solidFill>
            </a:endParaRPr>
          </a:p>
        </p:txBody>
      </p:sp>
      <p:sp>
        <p:nvSpPr>
          <p:cNvPr id="171" name="TextBox 62">
            <a:extLst>
              <a:ext uri="{FF2B5EF4-FFF2-40B4-BE49-F238E27FC236}">
                <a16:creationId xmlns:a16="http://schemas.microsoft.com/office/drawing/2014/main" id="{E7B3E1DE-8E19-A8DF-FD7D-BFE2FD8D2C46}"/>
              </a:ext>
            </a:extLst>
          </p:cNvPr>
          <p:cNvSpPr txBox="1"/>
          <p:nvPr/>
        </p:nvSpPr>
        <p:spPr>
          <a:xfrm>
            <a:off x="1367694" y="5239479"/>
            <a:ext cx="17272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 err="1">
                <a:solidFill>
                  <a:srgbClr val="FFFFFF"/>
                </a:solidFill>
              </a:rPr>
              <a:t>Prestatieanalyse</a:t>
            </a:r>
            <a:r>
              <a:rPr lang="en-US" sz="1100" b="1" dirty="0">
                <a:solidFill>
                  <a:srgbClr val="FFFFFF"/>
                </a:solidFill>
              </a:rPr>
              <a:t> &amp; </a:t>
            </a:r>
            <a:r>
              <a:rPr lang="en-US" sz="1100" b="1" dirty="0" err="1">
                <a:solidFill>
                  <a:srgbClr val="FFFFFF"/>
                </a:solidFill>
              </a:rPr>
              <a:t>Modelvergelijking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172" name="TextBox 63">
            <a:extLst>
              <a:ext uri="{FF2B5EF4-FFF2-40B4-BE49-F238E27FC236}">
                <a16:creationId xmlns:a16="http://schemas.microsoft.com/office/drawing/2014/main" id="{E9979294-A667-1F07-07AB-C1CF28AAC10C}"/>
              </a:ext>
            </a:extLst>
          </p:cNvPr>
          <p:cNvSpPr txBox="1"/>
          <p:nvPr/>
        </p:nvSpPr>
        <p:spPr>
          <a:xfrm>
            <a:off x="2794690" y="5129146"/>
            <a:ext cx="493776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dirty="0">
                <a:solidFill>
                  <a:srgbClr val="B0C4D8"/>
                </a:solidFill>
              </a:rPr>
              <a:t>Als verkeersdeskundige of lid van het stadsbestuur wil ik een uitgevoerde simulatie kunnen opslaan zodat ik deze later kan vergelijken met andere strategieën en opnieuw kan gebruiken.</a:t>
            </a:r>
          </a:p>
          <a:p>
            <a:endParaRPr sz="600" b="0" i="0" dirty="0">
              <a:solidFill>
                <a:srgbClr val="B0C4D8"/>
              </a:solidFill>
            </a:endParaRPr>
          </a:p>
        </p:txBody>
      </p:sp>
      <p:sp>
        <p:nvSpPr>
          <p:cNvPr id="173" name="TextBox 66">
            <a:extLst>
              <a:ext uri="{FF2B5EF4-FFF2-40B4-BE49-F238E27FC236}">
                <a16:creationId xmlns:a16="http://schemas.microsoft.com/office/drawing/2014/main" id="{8DE3F69B-D8EC-D42B-88ED-8ABF43FB2669}"/>
              </a:ext>
            </a:extLst>
          </p:cNvPr>
          <p:cNvSpPr txBox="1"/>
          <p:nvPr/>
        </p:nvSpPr>
        <p:spPr>
          <a:xfrm>
            <a:off x="9332650" y="5234500"/>
            <a:ext cx="1097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BF00"/>
                </a:solidFill>
              </a:rPr>
              <a:t> </a:t>
            </a:r>
            <a:r>
              <a:rPr lang="en-US" sz="1050" b="1" i="0" dirty="0">
                <a:solidFill>
                  <a:srgbClr val="FFBF00"/>
                </a:solidFill>
              </a:rPr>
              <a:t> </a:t>
            </a:r>
            <a:r>
              <a:rPr lang="en-US" sz="1050" b="1" dirty="0">
                <a:solidFill>
                  <a:srgbClr val="FFBF00"/>
                </a:solidFill>
              </a:rPr>
              <a:t>8</a:t>
            </a:r>
            <a:r>
              <a:rPr sz="1050" b="1" i="0" dirty="0">
                <a:solidFill>
                  <a:srgbClr val="FFBF00"/>
                </a:solidFill>
              </a:rPr>
              <a:t> SP</a:t>
            </a:r>
          </a:p>
        </p:txBody>
      </p:sp>
      <p:sp>
        <p:nvSpPr>
          <p:cNvPr id="174" name="TextBox 67">
            <a:extLst>
              <a:ext uri="{FF2B5EF4-FFF2-40B4-BE49-F238E27FC236}">
                <a16:creationId xmlns:a16="http://schemas.microsoft.com/office/drawing/2014/main" id="{D8F024C4-ADDB-57FA-9A66-41DDD0647DCC}"/>
              </a:ext>
            </a:extLst>
          </p:cNvPr>
          <p:cNvSpPr txBox="1"/>
          <p:nvPr/>
        </p:nvSpPr>
        <p:spPr>
          <a:xfrm>
            <a:off x="10662082" y="5230368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E596"/>
                </a:solidFill>
              </a:rPr>
              <a:t>S</a:t>
            </a:r>
            <a:r>
              <a:rPr lang="nl-BE" sz="1100" b="1" dirty="0">
                <a:solidFill>
                  <a:srgbClr val="00E596"/>
                </a:solidFill>
              </a:rPr>
              <a:t>3</a:t>
            </a:r>
            <a:endParaRPr sz="1100" b="1" i="0" dirty="0">
              <a:solidFill>
                <a:srgbClr val="00E596"/>
              </a:solidFill>
            </a:endParaRPr>
          </a:p>
        </p:txBody>
      </p:sp>
      <p:pic>
        <p:nvPicPr>
          <p:cNvPr id="175" name="Graphic 174">
            <a:extLst>
              <a:ext uri="{FF2B5EF4-FFF2-40B4-BE49-F238E27FC236}">
                <a16:creationId xmlns:a16="http://schemas.microsoft.com/office/drawing/2014/main" id="{C202F51C-4E7C-CA36-A1C2-F1834209E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78806" y="3128020"/>
            <a:ext cx="525114" cy="525114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166916BF-22E0-CBA0-1ECD-243BF87CC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4757" y="4498638"/>
            <a:ext cx="449430" cy="449430"/>
          </a:xfrm>
          <a:prstGeom prst="rect">
            <a:avLst/>
          </a:prstGeom>
        </p:spPr>
      </p:pic>
      <p:pic>
        <p:nvPicPr>
          <p:cNvPr id="181" name="Graphic 180">
            <a:extLst>
              <a:ext uri="{FF2B5EF4-FFF2-40B4-BE49-F238E27FC236}">
                <a16:creationId xmlns:a16="http://schemas.microsoft.com/office/drawing/2014/main" id="{6161C5CB-C75A-6C1B-8028-539F91D3F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8988" y="5020927"/>
            <a:ext cx="525114" cy="525114"/>
          </a:xfrm>
          <a:prstGeom prst="rect">
            <a:avLst/>
          </a:prstGeom>
        </p:spPr>
      </p:pic>
      <p:sp>
        <p:nvSpPr>
          <p:cNvPr id="182" name="Tekstvak 181">
            <a:extLst>
              <a:ext uri="{FF2B5EF4-FFF2-40B4-BE49-F238E27FC236}">
                <a16:creationId xmlns:a16="http://schemas.microsoft.com/office/drawing/2014/main" id="{9FE9022A-6F5D-84A5-7916-ADB32E73FE8C}"/>
              </a:ext>
            </a:extLst>
          </p:cNvPr>
          <p:cNvSpPr txBox="1"/>
          <p:nvPr/>
        </p:nvSpPr>
        <p:spPr>
          <a:xfrm>
            <a:off x="7909560" y="621792"/>
            <a:ext cx="356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99CC"/>
                </a:solidFill>
              </a:rPr>
              <a:t>druk </a:t>
            </a:r>
            <a:r>
              <a:rPr lang="nl-BE" sz="1200" dirty="0">
                <a:solidFill>
                  <a:srgbClr val="0099CC"/>
                </a:solidFill>
                <a:hlinkClick r:id="rId4"/>
              </a:rPr>
              <a:t>hier</a:t>
            </a:r>
            <a:r>
              <a:rPr lang="nl-BE" sz="1200" dirty="0">
                <a:solidFill>
                  <a:srgbClr val="0099CC"/>
                </a:solidFill>
              </a:rPr>
              <a:t> om alle user </a:t>
            </a:r>
            <a:r>
              <a:rPr lang="nl-BE" sz="1200" dirty="0" err="1">
                <a:solidFill>
                  <a:srgbClr val="0099CC"/>
                </a:solidFill>
              </a:rPr>
              <a:t>stories</a:t>
            </a:r>
            <a:r>
              <a:rPr lang="nl-BE" sz="1200" dirty="0">
                <a:solidFill>
                  <a:srgbClr val="0099CC"/>
                </a:solidFill>
              </a:rPr>
              <a:t> te zien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24A3808-EB5F-1568-E313-BAC0B2977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78806" y="3759534"/>
            <a:ext cx="525114" cy="5251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5C3018-2278-0086-D31C-7DAF94906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8988" y="5162199"/>
            <a:ext cx="525114" cy="52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67" grpId="0" animBg="1"/>
      <p:bldP spid="68" grpId="0"/>
      <p:bldP spid="126" grpId="0" animBg="1"/>
      <p:bldP spid="127" grpId="0"/>
      <p:bldP spid="128" grpId="0"/>
      <p:bldP spid="129" grpId="0"/>
      <p:bldP spid="130" grpId="0"/>
      <p:bldP spid="131" grpId="0"/>
      <p:bldP spid="132" grpId="0"/>
      <p:bldP spid="133" grpId="0" animBg="1"/>
      <p:bldP spid="134" grpId="0"/>
      <p:bldP spid="135" grpId="0"/>
      <p:bldP spid="136" grpId="0"/>
      <p:bldP spid="137" grpId="0"/>
      <p:bldP spid="138" grpId="0"/>
      <p:bldP spid="139" grpId="0" animBg="1"/>
      <p:bldP spid="140" grpId="0"/>
      <p:bldP spid="141" grpId="0"/>
      <p:bldP spid="142" grpId="0"/>
      <p:bldP spid="143" grpId="0"/>
      <p:bldP spid="144" grpId="0"/>
      <p:bldP spid="145" grpId="0" animBg="1"/>
      <p:bldP spid="146" grpId="0"/>
      <p:bldP spid="147" grpId="0"/>
      <p:bldP spid="148" grpId="0"/>
      <p:bldP spid="149" grpId="0"/>
      <p:bldP spid="150" grpId="0"/>
      <p:bldP spid="169" grpId="0" animBg="1"/>
      <p:bldP spid="170" grpId="0"/>
      <p:bldP spid="171" grpId="0"/>
      <p:bldP spid="172" grpId="0"/>
      <p:bldP spid="173" grpId="0"/>
      <p:bldP spid="1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 err="1">
                <a:solidFill>
                  <a:srgbClr val="0099FF"/>
                </a:solidFill>
              </a:rPr>
              <a:t>Vragen</a:t>
            </a:r>
            <a:r>
              <a:rPr sz="7200" b="1" i="0" dirty="0">
                <a:solidFill>
                  <a:srgbClr val="0099FF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B0C4D8"/>
                </a:solidFill>
              </a:rPr>
              <a:t>VROOM – Sprint </a:t>
            </a:r>
            <a:r>
              <a:rPr lang="nl-BE" dirty="0">
                <a:solidFill>
                  <a:srgbClr val="B0C4D8"/>
                </a:solidFill>
              </a:rPr>
              <a:t>2</a:t>
            </a:r>
            <a:r>
              <a:rPr sz="1800" b="0" i="0" dirty="0">
                <a:solidFill>
                  <a:srgbClr val="B0C4D8"/>
                </a:solidFill>
              </a:rPr>
              <a:t> | Research Project AIN 2025-26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300" b="1" dirty="0">
                <a:solidFill>
                  <a:srgbClr val="B0C4D8"/>
                </a:solidFill>
              </a:rPr>
              <a:t>Team AIN3</a:t>
            </a:r>
            <a:r>
              <a:rPr sz="1300" b="1" i="0" dirty="0">
                <a:solidFill>
                  <a:srgbClr val="B0C4D8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072" y="4123944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300" dirty="0">
                <a:solidFill>
                  <a:srgbClr val="B0C4D8"/>
                </a:solidFill>
              </a:rPr>
              <a:t>Glenn Claes</a:t>
            </a:r>
            <a:r>
              <a:rPr sz="1300" b="0" i="0" dirty="0">
                <a:solidFill>
                  <a:srgbClr val="B0C4D8"/>
                </a:solidFill>
              </a:rPr>
              <a:t>  ·  </a:t>
            </a:r>
            <a:r>
              <a:rPr lang="nl-BE" sz="1300" dirty="0" err="1">
                <a:solidFill>
                  <a:srgbClr val="B0C4D8"/>
                </a:solidFill>
              </a:rPr>
              <a:t>Muhammed</a:t>
            </a:r>
            <a:r>
              <a:rPr lang="nl-BE" sz="1300" dirty="0">
                <a:solidFill>
                  <a:srgbClr val="B0C4D8"/>
                </a:solidFill>
              </a:rPr>
              <a:t> </a:t>
            </a:r>
            <a:r>
              <a:rPr lang="nl-BE" sz="1300" dirty="0" err="1">
                <a:solidFill>
                  <a:srgbClr val="B0C4D8"/>
                </a:solidFill>
              </a:rPr>
              <a:t>Kömürboga</a:t>
            </a:r>
            <a:r>
              <a:rPr lang="nl-BE" sz="1300" dirty="0">
                <a:solidFill>
                  <a:srgbClr val="B0C4D8"/>
                </a:solidFill>
              </a:rPr>
              <a:t> ·  Martijn </a:t>
            </a:r>
            <a:r>
              <a:rPr lang="nl-BE" sz="1300" dirty="0" err="1">
                <a:solidFill>
                  <a:srgbClr val="B0C4D8"/>
                </a:solidFill>
              </a:rPr>
              <a:t>Vanhengel</a:t>
            </a:r>
            <a:endParaRPr sz="1300" b="0" i="0" dirty="0">
              <a:solidFill>
                <a:srgbClr val="B0C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0C4D8"/>
                </a:solidFill>
              </a:rPr>
              <a:t>Platform: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61772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099FF"/>
                </a:solidFill>
              </a:rPr>
              <a:t>JIRA  ·  Confluence  ·  GitHub  ·</a:t>
            </a:r>
            <a:r>
              <a:rPr lang="nl-BE" sz="1300" b="0" i="0" dirty="0">
                <a:solidFill>
                  <a:srgbClr val="0099FF"/>
                </a:solidFill>
              </a:rPr>
              <a:t> Docker Hub </a:t>
            </a:r>
            <a:endParaRPr sz="1300" b="0" i="0" dirty="0">
              <a:solidFill>
                <a:srgbClr val="0099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0C4D8"/>
                </a:solidFill>
              </a:rPr>
              <a:t>Vak: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96"/>
                </a:solidFill>
              </a:rPr>
              <a:t>42TIN2150 – Research Project AIN</a:t>
            </a: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43A93B8A-927D-C9C1-3999-30A9814D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674</Words>
  <Application>Microsoft Office PowerPoint</Application>
  <PresentationFormat>Aangepast</PresentationFormat>
  <Paragraphs>185</Paragraphs>
  <Slides>20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Wingdings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Glenn Claes</dc:creator>
  <cp:keywords/>
  <dc:description>generated using python-pptx</dc:description>
  <cp:lastModifiedBy>Glenn Claes</cp:lastModifiedBy>
  <cp:revision>50</cp:revision>
  <dcterms:created xsi:type="dcterms:W3CDTF">2013-01-27T09:14:16Z</dcterms:created>
  <dcterms:modified xsi:type="dcterms:W3CDTF">2026-05-03T15:24:49Z</dcterms:modified>
  <cp:category/>
</cp:coreProperties>
</file>