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75" r:id="rId4"/>
    <p:sldId id="258" r:id="rId5"/>
    <p:sldId id="276" r:id="rId6"/>
    <p:sldId id="259" r:id="rId7"/>
    <p:sldId id="277" r:id="rId8"/>
    <p:sldId id="260" r:id="rId9"/>
    <p:sldId id="286" r:id="rId10"/>
    <p:sldId id="278" r:id="rId11"/>
    <p:sldId id="261" r:id="rId12"/>
    <p:sldId id="284" r:id="rId13"/>
    <p:sldId id="279" r:id="rId14"/>
    <p:sldId id="269" r:id="rId15"/>
    <p:sldId id="281" r:id="rId16"/>
    <p:sldId id="285" r:id="rId17"/>
    <p:sldId id="282" r:id="rId18"/>
    <p:sldId id="272" r:id="rId19"/>
    <p:sldId id="273" r:id="rId20"/>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0C4D8"/>
    <a:srgbClr val="AAFFAA"/>
    <a:srgbClr val="FFFFFF"/>
    <a:srgbClr val="0099FF"/>
    <a:srgbClr val="FF3300"/>
    <a:srgbClr val="3A86B9"/>
    <a:srgbClr val="FFCC00"/>
    <a:srgbClr val="33CCCC"/>
    <a:srgbClr val="0099CC"/>
    <a:srgbClr val="CC00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Stijl, gemiddeld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651" autoAdjust="0"/>
    <p:restoredTop sz="94620" autoAdjust="0"/>
  </p:normalViewPr>
  <p:slideViewPr>
    <p:cSldViewPr snapToGrid="0" snapToObjects="1">
      <p:cViewPr>
        <p:scale>
          <a:sx n="100" d="100"/>
          <a:sy n="100" d="100"/>
        </p:scale>
        <p:origin x="1182" y="18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BE"/>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07DBD42-E37A-4441-A08F-F50F26AD8D2D}" type="datetimeFigureOut">
              <a:rPr lang="nl-BE" smtClean="0"/>
              <a:t>29/03/2026</a:t>
            </a:fld>
            <a:endParaRPr lang="nl-BE"/>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BE"/>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BE"/>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A4965FE-E126-49D4-817A-BFEF24427433}" type="slidenum">
              <a:rPr lang="nl-BE" smtClean="0"/>
              <a:t>‹nr.›</a:t>
            </a:fld>
            <a:endParaRPr lang="nl-BE"/>
          </a:p>
        </p:txBody>
      </p:sp>
    </p:spTree>
    <p:extLst>
      <p:ext uri="{BB962C8B-B14F-4D97-AF65-F5344CB8AC3E}">
        <p14:creationId xmlns:p14="http://schemas.microsoft.com/office/powerpoint/2010/main" val="21555286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5"/>
          </p:nvPr>
        </p:nvSpPr>
        <p:spPr/>
        <p:txBody>
          <a:bodyPr/>
          <a:lstStyle/>
          <a:p>
            <a:fld id="{1A4965FE-E126-49D4-817A-BFEF24427433}" type="slidenum">
              <a:rPr lang="nl-BE" smtClean="0"/>
              <a:t>14</a:t>
            </a:fld>
            <a:endParaRPr lang="nl-BE"/>
          </a:p>
        </p:txBody>
      </p:sp>
    </p:spTree>
    <p:extLst>
      <p:ext uri="{BB962C8B-B14F-4D97-AF65-F5344CB8AC3E}">
        <p14:creationId xmlns:p14="http://schemas.microsoft.com/office/powerpoint/2010/main" val="22371915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5257BB2-6C6B-4C81-B0E7-03D5D6EA0F55}" type="datetime1">
              <a:rPr lang="en-US" smtClean="0"/>
              <a:t>3/29/2026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7245613-CA84-426B-AF53-F1D278C2D8C8}" type="datetime1">
              <a:rPr lang="en-US" smtClean="0"/>
              <a:t>3/29/2026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9B8AAEC-89F3-440A-A5BE-6CC266B1F68B}" type="datetime1">
              <a:rPr lang="en-US" smtClean="0"/>
              <a:t>3/29/2026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447D324-99A6-4ACF-8208-255BA66B7BD2}" type="datetime1">
              <a:rPr lang="en-US" smtClean="0"/>
              <a:t>3/29/2026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3901333-7C9A-42F8-A398-00D10ADBAF95}" type="datetime1">
              <a:rPr lang="en-US" smtClean="0"/>
              <a:t>3/29/2026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ADC9585-5D8B-4932-9C07-A4106421E230}" type="datetime1">
              <a:rPr lang="en-US" smtClean="0"/>
              <a:t>3/29/2026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9DBB3E-5F8D-4053-AD48-6DDC3800140B}" type="datetime1">
              <a:rPr lang="en-US" smtClean="0"/>
              <a:t>3/29/2026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5C7BF1C-0923-4E13-A6D6-C267767810F9}" type="datetime1">
              <a:rPr lang="en-US" smtClean="0"/>
              <a:t>3/29/2026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9091A27-2924-4BA9-B775-6618722FEBE6}" type="datetime1">
              <a:rPr lang="en-US" smtClean="0"/>
              <a:t>3/29/2026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C7CDE-87BF-4F80-A0F7-07224B50AC9F}" type="datetime1">
              <a:rPr lang="en-US" smtClean="0"/>
              <a:t>3/29/2026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BD54-9240-4E21-9CF2-D70B61E69CCE}" type="datetime1">
              <a:rPr lang="en-US" smtClean="0"/>
              <a:t>3/29/2026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2BB2352-B4A7-44B3-A9DA-B0E30BC279C0}" type="datetime1">
              <a:rPr lang="en-US" smtClean="0"/>
              <a:t>3/29/2026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‹nr.›</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hyperlink" Target="http://localhost:5173/" TargetMode="Externa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Layout" Target="../slideLayouts/slideLayout7.xml"/><Relationship Id="rId4" Type="http://schemas.openxmlformats.org/officeDocument/2006/relationships/hyperlink" Target="https://jiradigi.pxl.be/secure/RapidBoard.jspa?rapidView=459&amp;projectKey=R2526AI03&amp;view=planning&amp;issueLimit=100"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ectangle 1"/>
          <p:cNvSpPr/>
          <p:nvPr/>
        </p:nvSpPr>
        <p:spPr>
          <a:xfrm>
            <a:off x="0" y="0"/>
            <a:ext cx="5029200" cy="6858000"/>
          </a:xfrm>
          <a:prstGeom prst="rect">
            <a:avLst/>
          </a:prstGeom>
          <a:solidFill>
            <a:srgbClr val="0A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91440" cy="6858000"/>
          </a:xfrm>
          <a:prstGeom prst="rect">
            <a:avLst/>
          </a:prstGeom>
          <a:solidFill>
            <a:srgbClr val="00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803136"/>
            <a:ext cx="12188952" cy="54864"/>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20040" y="320040"/>
            <a:ext cx="731520" cy="731520"/>
          </a:xfrm>
          <a:prstGeom prst="roundRect">
            <a:avLst/>
          </a:prstGeom>
          <a:solidFill>
            <a:srgbClr val="00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280160"/>
            <a:ext cx="4572000" cy="1077218"/>
          </a:xfrm>
          <a:prstGeom prst="rect">
            <a:avLst/>
          </a:prstGeom>
          <a:noFill/>
        </p:spPr>
        <p:txBody>
          <a:bodyPr wrap="square">
            <a:spAutoFit/>
          </a:bodyPr>
          <a:lstStyle/>
          <a:p>
            <a:r>
              <a:rPr sz="6400" b="1" dirty="0">
                <a:solidFill>
                  <a:srgbClr val="0099FF"/>
                </a:solidFill>
              </a:rPr>
              <a:t>VROOM</a:t>
            </a:r>
          </a:p>
        </p:txBody>
      </p:sp>
      <p:sp>
        <p:nvSpPr>
          <p:cNvPr id="8" name="TextBox 7"/>
          <p:cNvSpPr txBox="1"/>
          <p:nvPr/>
        </p:nvSpPr>
        <p:spPr>
          <a:xfrm>
            <a:off x="457200" y="2697480"/>
            <a:ext cx="4572000" cy="1005840"/>
          </a:xfrm>
          <a:prstGeom prst="rect">
            <a:avLst/>
          </a:prstGeom>
          <a:noFill/>
        </p:spPr>
        <p:txBody>
          <a:bodyPr wrap="square">
            <a:spAutoFit/>
          </a:bodyPr>
          <a:lstStyle/>
          <a:p>
            <a:pPr algn="l"/>
            <a:r>
              <a:rPr sz="1400" b="0" i="0" dirty="0">
                <a:solidFill>
                  <a:srgbClr val="B0C4D8"/>
                </a:solidFill>
              </a:rPr>
              <a:t>Vehicle-aware Regulation for
Optimized Orchestration of urban Mobility</a:t>
            </a:r>
          </a:p>
        </p:txBody>
      </p:sp>
      <p:sp>
        <p:nvSpPr>
          <p:cNvPr id="9" name="Rectangle 8"/>
          <p:cNvSpPr/>
          <p:nvPr/>
        </p:nvSpPr>
        <p:spPr>
          <a:xfrm>
            <a:off x="457200" y="3794760"/>
            <a:ext cx="4023360" cy="36576"/>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3886200"/>
            <a:ext cx="4206240" cy="430887"/>
          </a:xfrm>
          <a:prstGeom prst="rect">
            <a:avLst/>
          </a:prstGeom>
          <a:noFill/>
        </p:spPr>
        <p:txBody>
          <a:bodyPr wrap="square">
            <a:spAutoFit/>
          </a:bodyPr>
          <a:lstStyle/>
          <a:p>
            <a:pPr algn="l"/>
            <a:r>
              <a:rPr sz="2200" b="1" i="0" dirty="0">
                <a:solidFill>
                  <a:srgbClr val="FFFFFF"/>
                </a:solidFill>
              </a:rPr>
              <a:t>Sprint </a:t>
            </a:r>
            <a:r>
              <a:rPr lang="nl-BE" sz="2200" b="1" dirty="0">
                <a:solidFill>
                  <a:srgbClr val="FFFFFF"/>
                </a:solidFill>
              </a:rPr>
              <a:t>1 </a:t>
            </a:r>
            <a:r>
              <a:rPr sz="2200" b="1" i="0" dirty="0">
                <a:solidFill>
                  <a:srgbClr val="FFFFFF"/>
                </a:solidFill>
              </a:rPr>
              <a:t>– </a:t>
            </a:r>
            <a:r>
              <a:rPr lang="nl-BE" sz="2200" b="1" i="0" dirty="0">
                <a:solidFill>
                  <a:srgbClr val="FFFFFF"/>
                </a:solidFill>
              </a:rPr>
              <a:t>Sprint Review</a:t>
            </a:r>
            <a:endParaRPr sz="2200" b="1" i="0" dirty="0">
              <a:solidFill>
                <a:srgbClr val="FFFFFF"/>
              </a:solidFill>
            </a:endParaRPr>
          </a:p>
        </p:txBody>
      </p:sp>
      <p:sp>
        <p:nvSpPr>
          <p:cNvPr id="11" name="Rectangle 10"/>
          <p:cNvSpPr/>
          <p:nvPr/>
        </p:nvSpPr>
        <p:spPr>
          <a:xfrm>
            <a:off x="457200" y="4480560"/>
            <a:ext cx="1417320" cy="292608"/>
          </a:xfrm>
          <a:prstGeom prst="roundRect">
            <a:avLst/>
          </a:prstGeom>
          <a:solidFill>
            <a:srgbClr val="00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 y="4507992"/>
            <a:ext cx="1417320" cy="292608"/>
          </a:xfrm>
          <a:prstGeom prst="rect">
            <a:avLst/>
          </a:prstGeom>
          <a:noFill/>
        </p:spPr>
        <p:txBody>
          <a:bodyPr wrap="square">
            <a:spAutoFit/>
          </a:bodyPr>
          <a:lstStyle/>
          <a:p>
            <a:pPr algn="ctr"/>
            <a:r>
              <a:rPr sz="1000" b="1" i="0">
                <a:solidFill>
                  <a:srgbClr val="0D1B2A"/>
                </a:solidFill>
              </a:rPr>
              <a:t>Research Project AIN</a:t>
            </a:r>
          </a:p>
        </p:txBody>
      </p:sp>
      <p:sp>
        <p:nvSpPr>
          <p:cNvPr id="13" name="Rectangle 12"/>
          <p:cNvSpPr/>
          <p:nvPr/>
        </p:nvSpPr>
        <p:spPr>
          <a:xfrm>
            <a:off x="1965960" y="4480560"/>
            <a:ext cx="1417320" cy="292608"/>
          </a:xfrm>
          <a:prstGeom prst="round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965960" y="4507992"/>
            <a:ext cx="1417320" cy="292608"/>
          </a:xfrm>
          <a:prstGeom prst="rect">
            <a:avLst/>
          </a:prstGeom>
          <a:noFill/>
        </p:spPr>
        <p:txBody>
          <a:bodyPr wrap="square">
            <a:spAutoFit/>
          </a:bodyPr>
          <a:lstStyle/>
          <a:p>
            <a:pPr algn="ctr"/>
            <a:r>
              <a:rPr sz="1000" b="1" i="0">
                <a:solidFill>
                  <a:srgbClr val="0D1B2A"/>
                </a:solidFill>
              </a:rPr>
              <a:t>2025 – 2026</a:t>
            </a:r>
          </a:p>
        </p:txBody>
      </p:sp>
      <p:sp>
        <p:nvSpPr>
          <p:cNvPr id="15" name="Rectangle 14"/>
          <p:cNvSpPr/>
          <p:nvPr/>
        </p:nvSpPr>
        <p:spPr>
          <a:xfrm>
            <a:off x="3474720" y="4480560"/>
            <a:ext cx="1417320" cy="292608"/>
          </a:xfrm>
          <a:prstGeom prst="roundRect">
            <a:avLst/>
          </a:prstGeom>
          <a:solidFill>
            <a:srgbClr val="FFB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474720" y="4507992"/>
            <a:ext cx="1417320" cy="246221"/>
          </a:xfrm>
          <a:prstGeom prst="rect">
            <a:avLst/>
          </a:prstGeom>
          <a:noFill/>
        </p:spPr>
        <p:txBody>
          <a:bodyPr wrap="square">
            <a:spAutoFit/>
          </a:bodyPr>
          <a:lstStyle/>
          <a:p>
            <a:pPr algn="ctr"/>
            <a:r>
              <a:rPr sz="1000" b="1" i="0" dirty="0">
                <a:solidFill>
                  <a:srgbClr val="0D1B2A"/>
                </a:solidFill>
              </a:rPr>
              <a:t>PXL </a:t>
            </a:r>
          </a:p>
        </p:txBody>
      </p:sp>
      <p:sp>
        <p:nvSpPr>
          <p:cNvPr id="17" name="TextBox 16"/>
          <p:cNvSpPr txBox="1"/>
          <p:nvPr/>
        </p:nvSpPr>
        <p:spPr>
          <a:xfrm>
            <a:off x="457200" y="4983480"/>
            <a:ext cx="4389120" cy="365760"/>
          </a:xfrm>
          <a:prstGeom prst="rect">
            <a:avLst/>
          </a:prstGeom>
          <a:noFill/>
        </p:spPr>
        <p:txBody>
          <a:bodyPr wrap="square">
            <a:spAutoFit/>
          </a:bodyPr>
          <a:lstStyle/>
          <a:p>
            <a:pPr algn="l"/>
            <a:r>
              <a:rPr sz="1600" b="0" i="1">
                <a:solidFill>
                  <a:srgbClr val="00E596"/>
                </a:solidFill>
              </a:rPr>
              <a:t>SAM – Smart &amp; Adaptive Mobility</a:t>
            </a:r>
          </a:p>
        </p:txBody>
      </p:sp>
      <p:sp>
        <p:nvSpPr>
          <p:cNvPr id="19" name="Rectangle 18"/>
          <p:cNvSpPr/>
          <p:nvPr/>
        </p:nvSpPr>
        <p:spPr>
          <a:solidFill>
            <a:srgbClr val="0D1B2A">
              <a:alpha val="5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7200" y="6126480"/>
            <a:ext cx="4572000" cy="365760"/>
          </a:xfrm>
          <a:prstGeom prst="rect">
            <a:avLst/>
          </a:prstGeom>
          <a:noFill/>
        </p:spPr>
        <p:txBody>
          <a:bodyPr wrap="square">
            <a:spAutoFit/>
          </a:bodyPr>
          <a:lstStyle/>
          <a:p>
            <a:pPr algn="l"/>
            <a:r>
              <a:rPr sz="1100" b="0" i="0" dirty="0">
                <a:solidFill>
                  <a:srgbClr val="B0C4D8"/>
                </a:solidFill>
              </a:rPr>
              <a:t>42TIN2150 – Research Project AIN</a:t>
            </a:r>
          </a:p>
        </p:txBody>
      </p:sp>
      <p:pic>
        <p:nvPicPr>
          <p:cNvPr id="25" name="Afbeelding 24" descr="Afbeelding met Lettertype, Graphics, logo, symbool&#10;&#10;Door AI gegenereerde inhoud is mogelijk onjuist.">
            <a:extLst>
              <a:ext uri="{FF2B5EF4-FFF2-40B4-BE49-F238E27FC236}">
                <a16:creationId xmlns:a16="http://schemas.microsoft.com/office/drawing/2014/main" id="{0E7F80AC-F5C1-24E2-7674-49DF3E443213}"/>
              </a:ext>
            </a:extLst>
          </p:cNvPr>
          <p:cNvPicPr>
            <a:picLocks noChangeAspect="1"/>
          </p:cNvPicPr>
          <p:nvPr/>
        </p:nvPicPr>
        <p:blipFill>
          <a:blip r:embed="rId2"/>
          <a:srcRect b="6231"/>
          <a:stretch>
            <a:fillRect/>
          </a:stretch>
        </p:blipFill>
        <p:spPr>
          <a:xfrm>
            <a:off x="320040" y="320040"/>
            <a:ext cx="731520" cy="73152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26" name="Tijdelijke aanduiding voor dianummer 25">
            <a:extLst>
              <a:ext uri="{FF2B5EF4-FFF2-40B4-BE49-F238E27FC236}">
                <a16:creationId xmlns:a16="http://schemas.microsoft.com/office/drawing/2014/main" id="{CE6FDA23-3A4C-854D-99B9-31B381E4C010}"/>
              </a:ext>
            </a:extLst>
          </p:cNvPr>
          <p:cNvSpPr>
            <a:spLocks noGrp="1"/>
          </p:cNvSpPr>
          <p:nvPr>
            <p:ph type="sldNum" sz="quarter" idx="12"/>
          </p:nvPr>
        </p:nvSpPr>
        <p:spPr>
          <a:xfrm>
            <a:off x="10055352" y="6438011"/>
            <a:ext cx="2133600" cy="365125"/>
          </a:xfrm>
        </p:spPr>
        <p:txBody>
          <a:bodyPr/>
          <a:lstStyle/>
          <a:p>
            <a:fld id="{C1FF6DA9-008F-8B48-92A6-B652298478BF}" type="slidenum">
              <a:rPr lang="en-US" smtClean="0"/>
              <a:t>1</a:t>
            </a:fld>
            <a:endParaRPr lang="en-US"/>
          </a:p>
        </p:txBody>
      </p:sp>
      <p:sp>
        <p:nvSpPr>
          <p:cNvPr id="28" name="Tekstvak 27">
            <a:extLst>
              <a:ext uri="{FF2B5EF4-FFF2-40B4-BE49-F238E27FC236}">
                <a16:creationId xmlns:a16="http://schemas.microsoft.com/office/drawing/2014/main" id="{0C1608D4-2ACF-0986-A340-8B2684819583}"/>
              </a:ext>
            </a:extLst>
          </p:cNvPr>
          <p:cNvSpPr txBox="1"/>
          <p:nvPr/>
        </p:nvSpPr>
        <p:spPr>
          <a:xfrm>
            <a:off x="5029200" y="4368582"/>
            <a:ext cx="7159752" cy="2123658"/>
          </a:xfrm>
          <a:prstGeom prst="rect">
            <a:avLst/>
          </a:prstGeom>
          <a:noFill/>
        </p:spPr>
        <p:txBody>
          <a:bodyPr wrap="square" rtlCol="0">
            <a:spAutoFit/>
          </a:bodyPr>
          <a:lstStyle/>
          <a:p>
            <a:r>
              <a:rPr lang="nl-BE" sz="4400" dirty="0">
                <a:solidFill>
                  <a:schemeClr val="bg1"/>
                </a:solidFill>
              </a:rPr>
              <a:t>Glenn Claes</a:t>
            </a:r>
          </a:p>
          <a:p>
            <a:r>
              <a:rPr lang="nl-BE" sz="4400" dirty="0" err="1">
                <a:solidFill>
                  <a:schemeClr val="bg1"/>
                </a:solidFill>
              </a:rPr>
              <a:t>Muhammed</a:t>
            </a:r>
            <a:r>
              <a:rPr lang="nl-BE" sz="4400" dirty="0">
                <a:solidFill>
                  <a:schemeClr val="bg1"/>
                </a:solidFill>
              </a:rPr>
              <a:t> </a:t>
            </a:r>
            <a:r>
              <a:rPr lang="nl-BE" sz="4400" dirty="0" err="1">
                <a:solidFill>
                  <a:schemeClr val="bg1"/>
                </a:solidFill>
              </a:rPr>
              <a:t>Kömürboga</a:t>
            </a:r>
            <a:endParaRPr lang="nl-BE" sz="4400" dirty="0">
              <a:solidFill>
                <a:schemeClr val="bg1"/>
              </a:solidFill>
            </a:endParaRPr>
          </a:p>
          <a:p>
            <a:r>
              <a:rPr lang="nl-BE" sz="4400" dirty="0">
                <a:solidFill>
                  <a:schemeClr val="bg1"/>
                </a:solidFill>
              </a:rPr>
              <a:t>Martijn </a:t>
            </a:r>
            <a:r>
              <a:rPr lang="nl-BE" sz="4400" dirty="0" err="1">
                <a:solidFill>
                  <a:schemeClr val="bg1"/>
                </a:solidFill>
              </a:rPr>
              <a:t>Vanhengel</a:t>
            </a:r>
            <a:endParaRPr lang="nl-BE" sz="4400" dirty="0">
              <a:solidFill>
                <a:schemeClr val="bg1"/>
              </a:solidFill>
            </a:endParaRPr>
          </a:p>
        </p:txBody>
      </p:sp>
      <p:sp>
        <p:nvSpPr>
          <p:cNvPr id="29" name="Tekstvak 28">
            <a:extLst>
              <a:ext uri="{FF2B5EF4-FFF2-40B4-BE49-F238E27FC236}">
                <a16:creationId xmlns:a16="http://schemas.microsoft.com/office/drawing/2014/main" id="{CFF21CFE-F438-8B16-97FA-7F7020B1E33D}"/>
              </a:ext>
            </a:extLst>
          </p:cNvPr>
          <p:cNvSpPr txBox="1"/>
          <p:nvPr/>
        </p:nvSpPr>
        <p:spPr>
          <a:xfrm>
            <a:off x="6768084" y="1051560"/>
            <a:ext cx="3681984" cy="2215991"/>
          </a:xfrm>
          <a:prstGeom prst="rect">
            <a:avLst/>
          </a:prstGeom>
          <a:noFill/>
        </p:spPr>
        <p:txBody>
          <a:bodyPr wrap="square" rtlCol="0">
            <a:spAutoFit/>
          </a:bodyPr>
          <a:lstStyle/>
          <a:p>
            <a:r>
              <a:rPr lang="nl-BE" sz="13800" dirty="0">
                <a:solidFill>
                  <a:schemeClr val="bg1"/>
                </a:solidFill>
              </a:rPr>
              <a:t>AIN3</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73152" cy="1005840"/>
          </a:xfrm>
          <a:prstGeom prst="rect">
            <a:avLst/>
          </a:prstGeom>
          <a:solidFill>
            <a:srgbClr val="00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01168" y="73152"/>
            <a:ext cx="1321196" cy="553998"/>
          </a:xfrm>
          <a:prstGeom prst="rect">
            <a:avLst/>
          </a:prstGeom>
          <a:noFill/>
        </p:spPr>
        <p:txBody>
          <a:bodyPr wrap="none">
            <a:spAutoFit/>
          </a:bodyPr>
          <a:lstStyle/>
          <a:p>
            <a:r>
              <a:rPr lang="nl-BE" sz="3000" b="1" dirty="0">
                <a:solidFill>
                  <a:srgbClr val="FFFFFF"/>
                </a:solidFill>
              </a:rPr>
              <a:t>Inhoud</a:t>
            </a:r>
            <a:endParaRPr sz="3000" b="1" dirty="0">
              <a:solidFill>
                <a:srgbClr val="FFFFFF"/>
              </a:solidFill>
            </a:endParaRPr>
          </a:p>
        </p:txBody>
      </p:sp>
      <p:sp>
        <p:nvSpPr>
          <p:cNvPr id="6" name="Rectangle 5"/>
          <p:cNvSpPr/>
          <p:nvPr/>
        </p:nvSpPr>
        <p:spPr>
          <a:xfrm>
            <a:off x="320040" y="1188720"/>
            <a:ext cx="5303520" cy="658368"/>
          </a:xfrm>
          <a:prstGeom prst="rect">
            <a:avLst/>
          </a:prstGeom>
          <a:solidFill>
            <a:srgbClr val="16283E"/>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20040" y="1188720"/>
            <a:ext cx="54864" cy="658368"/>
          </a:xfrm>
          <a:prstGeom prst="rect">
            <a:avLst/>
          </a:prstGeom>
          <a:solidFill>
            <a:srgbClr val="00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84632" y="1371600"/>
            <a:ext cx="310896" cy="310896"/>
          </a:xfrm>
          <a:prstGeom prst="roundRect">
            <a:avLst/>
          </a:prstGeom>
          <a:solidFill>
            <a:srgbClr val="00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84632" y="1362456"/>
            <a:ext cx="374904" cy="276999"/>
          </a:xfrm>
          <a:prstGeom prst="rect">
            <a:avLst/>
          </a:prstGeom>
          <a:noFill/>
        </p:spPr>
        <p:txBody>
          <a:bodyPr wrap="square">
            <a:spAutoFit/>
          </a:bodyPr>
          <a:lstStyle/>
          <a:p>
            <a:pPr algn="ctr"/>
            <a:r>
              <a:rPr sz="1200" b="1" i="0">
                <a:solidFill>
                  <a:srgbClr val="0D1B2A"/>
                </a:solidFill>
              </a:rPr>
              <a:t>01</a:t>
            </a:r>
          </a:p>
        </p:txBody>
      </p:sp>
      <p:sp>
        <p:nvSpPr>
          <p:cNvPr id="10" name="TextBox 9"/>
          <p:cNvSpPr txBox="1"/>
          <p:nvPr/>
        </p:nvSpPr>
        <p:spPr>
          <a:xfrm>
            <a:off x="914400" y="1371600"/>
            <a:ext cx="4389120" cy="347472"/>
          </a:xfrm>
          <a:prstGeom prst="rect">
            <a:avLst/>
          </a:prstGeom>
          <a:noFill/>
        </p:spPr>
        <p:txBody>
          <a:bodyPr wrap="square">
            <a:spAutoFit/>
          </a:bodyPr>
          <a:lstStyle/>
          <a:p>
            <a:pPr algn="l"/>
            <a:r>
              <a:rPr lang="nl-BE" sz="1600" b="1" i="0" dirty="0">
                <a:solidFill>
                  <a:srgbClr val="FFFFFF"/>
                </a:solidFill>
              </a:rPr>
              <a:t>Sprintcontext</a:t>
            </a:r>
            <a:endParaRPr sz="1600" b="1" i="0" dirty="0">
              <a:solidFill>
                <a:srgbClr val="FFFFFF"/>
              </a:solidFill>
            </a:endParaRPr>
          </a:p>
        </p:txBody>
      </p:sp>
      <p:sp>
        <p:nvSpPr>
          <p:cNvPr id="11" name="Rectangle 10"/>
          <p:cNvSpPr/>
          <p:nvPr/>
        </p:nvSpPr>
        <p:spPr>
          <a:xfrm>
            <a:off x="320040" y="1938528"/>
            <a:ext cx="5303520" cy="658368"/>
          </a:xfrm>
          <a:prstGeom prst="rect">
            <a:avLst/>
          </a:prstGeom>
          <a:solidFill>
            <a:srgbClr val="16283E"/>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20040" y="1938528"/>
            <a:ext cx="54864" cy="658368"/>
          </a:xfrm>
          <a:prstGeom prst="rect">
            <a:avLst/>
          </a:prstGeom>
          <a:solidFill>
            <a:srgbClr val="FFB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84632" y="2121408"/>
            <a:ext cx="310896" cy="310896"/>
          </a:xfrm>
          <a:prstGeom prst="roundRect">
            <a:avLst/>
          </a:prstGeom>
          <a:solidFill>
            <a:srgbClr val="FFB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84632" y="2112264"/>
            <a:ext cx="374904" cy="276999"/>
          </a:xfrm>
          <a:prstGeom prst="rect">
            <a:avLst/>
          </a:prstGeom>
          <a:noFill/>
        </p:spPr>
        <p:txBody>
          <a:bodyPr wrap="square">
            <a:spAutoFit/>
          </a:bodyPr>
          <a:lstStyle/>
          <a:p>
            <a:pPr algn="ctr"/>
            <a:r>
              <a:rPr sz="1200" b="1" i="0">
                <a:solidFill>
                  <a:srgbClr val="0D1B2A"/>
                </a:solidFill>
              </a:rPr>
              <a:t>02</a:t>
            </a:r>
          </a:p>
        </p:txBody>
      </p:sp>
      <p:sp>
        <p:nvSpPr>
          <p:cNvPr id="15" name="TextBox 14"/>
          <p:cNvSpPr txBox="1"/>
          <p:nvPr/>
        </p:nvSpPr>
        <p:spPr>
          <a:xfrm>
            <a:off x="914400" y="2121408"/>
            <a:ext cx="4389120" cy="347472"/>
          </a:xfrm>
          <a:prstGeom prst="rect">
            <a:avLst/>
          </a:prstGeom>
          <a:noFill/>
        </p:spPr>
        <p:txBody>
          <a:bodyPr wrap="square">
            <a:spAutoFit/>
          </a:bodyPr>
          <a:lstStyle/>
          <a:p>
            <a:pPr algn="l"/>
            <a:r>
              <a:rPr lang="nl-BE" sz="1600" b="1" i="0" dirty="0">
                <a:solidFill>
                  <a:srgbClr val="FFFFFF"/>
                </a:solidFill>
              </a:rPr>
              <a:t>Sprintdoel</a:t>
            </a:r>
            <a:endParaRPr sz="1600" b="1" i="0" dirty="0">
              <a:solidFill>
                <a:srgbClr val="FFFFFF"/>
              </a:solidFill>
            </a:endParaRPr>
          </a:p>
        </p:txBody>
      </p:sp>
      <p:sp>
        <p:nvSpPr>
          <p:cNvPr id="16" name="Rectangle 15"/>
          <p:cNvSpPr/>
          <p:nvPr/>
        </p:nvSpPr>
        <p:spPr>
          <a:xfrm>
            <a:off x="320040" y="2688336"/>
            <a:ext cx="5303520" cy="658368"/>
          </a:xfrm>
          <a:prstGeom prst="rect">
            <a:avLst/>
          </a:prstGeom>
          <a:solidFill>
            <a:srgbClr val="16283E"/>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320040" y="2688336"/>
            <a:ext cx="54864" cy="658368"/>
          </a:xfrm>
          <a:prstGeom prst="rect">
            <a:avLst/>
          </a:prstGeom>
          <a:solidFill>
            <a:srgbClr val="FF6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84632" y="2871216"/>
            <a:ext cx="310896" cy="310896"/>
          </a:xfrm>
          <a:prstGeom prst="roundRect">
            <a:avLst/>
          </a:prstGeom>
          <a:solidFill>
            <a:srgbClr val="FF6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84632" y="2862072"/>
            <a:ext cx="402336" cy="276999"/>
          </a:xfrm>
          <a:prstGeom prst="rect">
            <a:avLst/>
          </a:prstGeom>
          <a:noFill/>
        </p:spPr>
        <p:txBody>
          <a:bodyPr wrap="square">
            <a:spAutoFit/>
          </a:bodyPr>
          <a:lstStyle/>
          <a:p>
            <a:pPr algn="ctr"/>
            <a:r>
              <a:rPr sz="1200" b="1" i="0" dirty="0">
                <a:solidFill>
                  <a:srgbClr val="0D1B2A"/>
                </a:solidFill>
              </a:rPr>
              <a:t>03</a:t>
            </a:r>
          </a:p>
        </p:txBody>
      </p:sp>
      <p:sp>
        <p:nvSpPr>
          <p:cNvPr id="20" name="TextBox 19"/>
          <p:cNvSpPr txBox="1"/>
          <p:nvPr/>
        </p:nvSpPr>
        <p:spPr>
          <a:xfrm>
            <a:off x="914400" y="2871216"/>
            <a:ext cx="4389120" cy="347472"/>
          </a:xfrm>
          <a:prstGeom prst="rect">
            <a:avLst/>
          </a:prstGeom>
          <a:noFill/>
        </p:spPr>
        <p:txBody>
          <a:bodyPr wrap="square">
            <a:spAutoFit/>
          </a:bodyPr>
          <a:lstStyle/>
          <a:p>
            <a:pPr algn="l"/>
            <a:r>
              <a:rPr lang="nl-BE" sz="1600" b="1" i="0" dirty="0">
                <a:solidFill>
                  <a:srgbClr val="FFFFFF"/>
                </a:solidFill>
              </a:rPr>
              <a:t>Planning </a:t>
            </a:r>
            <a:r>
              <a:rPr lang="nl-BE" sz="1600" b="1" i="0" dirty="0" err="1">
                <a:solidFill>
                  <a:srgbClr val="FFFFFF"/>
                </a:solidFill>
              </a:rPr>
              <a:t>vs</a:t>
            </a:r>
            <a:r>
              <a:rPr lang="nl-BE" sz="1600" b="1" i="0" dirty="0">
                <a:solidFill>
                  <a:srgbClr val="FFFFFF"/>
                </a:solidFill>
              </a:rPr>
              <a:t> Realisatie</a:t>
            </a:r>
            <a:endParaRPr sz="1600" b="1" i="0" dirty="0">
              <a:solidFill>
                <a:srgbClr val="FFFFFF"/>
              </a:solidFill>
            </a:endParaRPr>
          </a:p>
        </p:txBody>
      </p:sp>
      <p:sp>
        <p:nvSpPr>
          <p:cNvPr id="21" name="Rectangle 20"/>
          <p:cNvSpPr/>
          <p:nvPr/>
        </p:nvSpPr>
        <p:spPr>
          <a:xfrm>
            <a:off x="320040" y="3438144"/>
            <a:ext cx="5303520" cy="658368"/>
          </a:xfrm>
          <a:prstGeom prst="rect">
            <a:avLst/>
          </a:prstGeom>
          <a:solidFill>
            <a:srgbClr val="16283E"/>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320040" y="3438144"/>
            <a:ext cx="54864" cy="658368"/>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84632" y="3621024"/>
            <a:ext cx="310896" cy="310896"/>
          </a:xfrm>
          <a:prstGeom prst="round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84632" y="3611880"/>
            <a:ext cx="374904" cy="276999"/>
          </a:xfrm>
          <a:prstGeom prst="rect">
            <a:avLst/>
          </a:prstGeom>
          <a:noFill/>
        </p:spPr>
        <p:txBody>
          <a:bodyPr wrap="square">
            <a:spAutoFit/>
          </a:bodyPr>
          <a:lstStyle/>
          <a:p>
            <a:pPr algn="ctr"/>
            <a:r>
              <a:rPr sz="1200" b="1" i="0">
                <a:solidFill>
                  <a:srgbClr val="0D1B2A"/>
                </a:solidFill>
              </a:rPr>
              <a:t>04</a:t>
            </a:r>
          </a:p>
        </p:txBody>
      </p:sp>
      <p:sp>
        <p:nvSpPr>
          <p:cNvPr id="25" name="TextBox 24"/>
          <p:cNvSpPr txBox="1"/>
          <p:nvPr/>
        </p:nvSpPr>
        <p:spPr>
          <a:xfrm>
            <a:off x="914400" y="3621024"/>
            <a:ext cx="4389120" cy="347472"/>
          </a:xfrm>
          <a:prstGeom prst="rect">
            <a:avLst/>
          </a:prstGeom>
          <a:noFill/>
        </p:spPr>
        <p:txBody>
          <a:bodyPr wrap="square">
            <a:spAutoFit/>
          </a:bodyPr>
          <a:lstStyle/>
          <a:p>
            <a:pPr algn="l"/>
            <a:r>
              <a:rPr sz="1600" b="1" i="0" dirty="0" err="1">
                <a:solidFill>
                  <a:srgbClr val="FFFFFF"/>
                </a:solidFill>
              </a:rPr>
              <a:t>Architectuurdiagram</a:t>
            </a:r>
            <a:endParaRPr sz="1600" b="1" i="0" dirty="0">
              <a:solidFill>
                <a:srgbClr val="FFFFFF"/>
              </a:solidFill>
            </a:endParaRPr>
          </a:p>
        </p:txBody>
      </p:sp>
      <p:sp>
        <p:nvSpPr>
          <p:cNvPr id="26" name="Rectangle 25"/>
          <p:cNvSpPr/>
          <p:nvPr/>
        </p:nvSpPr>
        <p:spPr>
          <a:xfrm>
            <a:off x="6263640" y="1188720"/>
            <a:ext cx="5303520" cy="658368"/>
          </a:xfrm>
          <a:prstGeom prst="rect">
            <a:avLst/>
          </a:prstGeom>
          <a:solidFill>
            <a:srgbClr val="16283E"/>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263640" y="1188720"/>
            <a:ext cx="54864" cy="658368"/>
          </a:xfrm>
          <a:prstGeom prst="rect">
            <a:avLst/>
          </a:prstGeom>
          <a:solidFill>
            <a:srgbClr val="AB47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428232" y="1371600"/>
            <a:ext cx="310896" cy="310896"/>
          </a:xfrm>
          <a:prstGeom prst="roundRect">
            <a:avLst/>
          </a:prstGeom>
          <a:solidFill>
            <a:srgbClr val="AB47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28232" y="1362456"/>
            <a:ext cx="374904" cy="276999"/>
          </a:xfrm>
          <a:prstGeom prst="rect">
            <a:avLst/>
          </a:prstGeom>
          <a:noFill/>
        </p:spPr>
        <p:txBody>
          <a:bodyPr wrap="square">
            <a:spAutoFit/>
          </a:bodyPr>
          <a:lstStyle/>
          <a:p>
            <a:pPr algn="ctr"/>
            <a:r>
              <a:rPr sz="1200" b="1" i="0">
                <a:solidFill>
                  <a:srgbClr val="0D1B2A"/>
                </a:solidFill>
              </a:rPr>
              <a:t>05</a:t>
            </a:r>
          </a:p>
        </p:txBody>
      </p:sp>
      <p:sp>
        <p:nvSpPr>
          <p:cNvPr id="30" name="TextBox 29"/>
          <p:cNvSpPr txBox="1"/>
          <p:nvPr/>
        </p:nvSpPr>
        <p:spPr>
          <a:xfrm>
            <a:off x="6858000" y="1371600"/>
            <a:ext cx="4389120" cy="347472"/>
          </a:xfrm>
          <a:prstGeom prst="rect">
            <a:avLst/>
          </a:prstGeom>
          <a:noFill/>
        </p:spPr>
        <p:txBody>
          <a:bodyPr wrap="square">
            <a:spAutoFit/>
          </a:bodyPr>
          <a:lstStyle/>
          <a:p>
            <a:pPr algn="l"/>
            <a:r>
              <a:rPr lang="nl-BE" sz="1600" b="1" dirty="0">
                <a:solidFill>
                  <a:srgbClr val="FFFFFF"/>
                </a:solidFill>
              </a:rPr>
              <a:t>Scope changes</a:t>
            </a:r>
            <a:endParaRPr sz="1600" b="1" i="0" dirty="0">
              <a:solidFill>
                <a:srgbClr val="FFFFFF"/>
              </a:solidFill>
            </a:endParaRPr>
          </a:p>
        </p:txBody>
      </p:sp>
      <p:sp>
        <p:nvSpPr>
          <p:cNvPr id="36" name="Rectangle 35"/>
          <p:cNvSpPr/>
          <p:nvPr/>
        </p:nvSpPr>
        <p:spPr>
          <a:xfrm>
            <a:off x="6263640" y="1938528"/>
            <a:ext cx="5303520" cy="658368"/>
          </a:xfrm>
          <a:prstGeom prst="rect">
            <a:avLst/>
          </a:prstGeom>
          <a:solidFill>
            <a:srgbClr val="16283E"/>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6263640" y="1935734"/>
            <a:ext cx="54864" cy="658368"/>
          </a:xfrm>
          <a:prstGeom prst="rect">
            <a:avLst/>
          </a:prstGeom>
          <a:solidFill>
            <a:srgbClr val="F451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6428232" y="2121408"/>
            <a:ext cx="310896" cy="310896"/>
          </a:xfrm>
          <a:prstGeom prst="roundRect">
            <a:avLst/>
          </a:prstGeom>
          <a:solidFill>
            <a:srgbClr val="F451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428232" y="2112264"/>
            <a:ext cx="374904" cy="276999"/>
          </a:xfrm>
          <a:prstGeom prst="rect">
            <a:avLst/>
          </a:prstGeom>
          <a:noFill/>
        </p:spPr>
        <p:txBody>
          <a:bodyPr wrap="square">
            <a:spAutoFit/>
          </a:bodyPr>
          <a:lstStyle/>
          <a:p>
            <a:pPr algn="ctr"/>
            <a:r>
              <a:rPr sz="1200" b="1" i="0" dirty="0">
                <a:solidFill>
                  <a:srgbClr val="0D1B2A"/>
                </a:solidFill>
              </a:rPr>
              <a:t>0</a:t>
            </a:r>
            <a:r>
              <a:rPr lang="nl-BE" sz="1200" b="1" i="0" dirty="0">
                <a:solidFill>
                  <a:srgbClr val="0D1B2A"/>
                </a:solidFill>
              </a:rPr>
              <a:t>6</a:t>
            </a:r>
            <a:endParaRPr sz="1200" b="1" i="0" dirty="0">
              <a:solidFill>
                <a:srgbClr val="0D1B2A"/>
              </a:solidFill>
            </a:endParaRPr>
          </a:p>
        </p:txBody>
      </p:sp>
      <p:sp>
        <p:nvSpPr>
          <p:cNvPr id="40" name="TextBox 39"/>
          <p:cNvSpPr txBox="1"/>
          <p:nvPr/>
        </p:nvSpPr>
        <p:spPr>
          <a:xfrm>
            <a:off x="6858000" y="2121408"/>
            <a:ext cx="4389120" cy="347472"/>
          </a:xfrm>
          <a:prstGeom prst="rect">
            <a:avLst/>
          </a:prstGeom>
          <a:noFill/>
        </p:spPr>
        <p:txBody>
          <a:bodyPr wrap="square">
            <a:spAutoFit/>
          </a:bodyPr>
          <a:lstStyle/>
          <a:p>
            <a:pPr algn="l"/>
            <a:r>
              <a:rPr lang="nl-BE" sz="1600" b="1" dirty="0">
                <a:solidFill>
                  <a:srgbClr val="FFFFFF"/>
                </a:solidFill>
              </a:rPr>
              <a:t>Demo</a:t>
            </a:r>
            <a:endParaRPr sz="1600" b="1" i="0" dirty="0">
              <a:solidFill>
                <a:srgbClr val="FFFFFF"/>
              </a:solidFill>
            </a:endParaRPr>
          </a:p>
        </p:txBody>
      </p:sp>
      <p:sp>
        <p:nvSpPr>
          <p:cNvPr id="41" name="Rectangle 40"/>
          <p:cNvSpPr/>
          <p:nvPr/>
        </p:nvSpPr>
        <p:spPr>
          <a:xfrm>
            <a:off x="6263640" y="2688336"/>
            <a:ext cx="5303520" cy="658368"/>
          </a:xfrm>
          <a:prstGeom prst="rect">
            <a:avLst/>
          </a:prstGeom>
          <a:solidFill>
            <a:srgbClr val="16283E"/>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6263640" y="2694794"/>
            <a:ext cx="54864" cy="658368"/>
          </a:xfrm>
          <a:prstGeom prst="rect">
            <a:avLst/>
          </a:prstGeom>
          <a:solidFill>
            <a:srgbClr val="FFB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6428232" y="2871216"/>
            <a:ext cx="310896" cy="310896"/>
          </a:xfrm>
          <a:prstGeom prst="roundRect">
            <a:avLst/>
          </a:prstGeom>
          <a:solidFill>
            <a:srgbClr val="FFB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428232" y="2862072"/>
            <a:ext cx="374904" cy="276999"/>
          </a:xfrm>
          <a:prstGeom prst="rect">
            <a:avLst/>
          </a:prstGeom>
          <a:noFill/>
        </p:spPr>
        <p:txBody>
          <a:bodyPr wrap="square">
            <a:spAutoFit/>
          </a:bodyPr>
          <a:lstStyle/>
          <a:p>
            <a:pPr algn="ctr"/>
            <a:r>
              <a:rPr sz="1200" b="1" i="0" dirty="0">
                <a:solidFill>
                  <a:srgbClr val="0D1B2A"/>
                </a:solidFill>
              </a:rPr>
              <a:t>0</a:t>
            </a:r>
            <a:r>
              <a:rPr lang="nl-BE" sz="1200" b="1" dirty="0">
                <a:solidFill>
                  <a:srgbClr val="0D1B2A"/>
                </a:solidFill>
              </a:rPr>
              <a:t>7</a:t>
            </a:r>
            <a:endParaRPr sz="1200" b="1" i="0" dirty="0">
              <a:solidFill>
                <a:srgbClr val="0D1B2A"/>
              </a:solidFill>
            </a:endParaRPr>
          </a:p>
        </p:txBody>
      </p:sp>
      <p:sp>
        <p:nvSpPr>
          <p:cNvPr id="45" name="TextBox 44"/>
          <p:cNvSpPr txBox="1"/>
          <p:nvPr/>
        </p:nvSpPr>
        <p:spPr>
          <a:xfrm>
            <a:off x="6858000" y="2871216"/>
            <a:ext cx="4389120" cy="347472"/>
          </a:xfrm>
          <a:prstGeom prst="rect">
            <a:avLst/>
          </a:prstGeom>
          <a:noFill/>
        </p:spPr>
        <p:txBody>
          <a:bodyPr wrap="square">
            <a:spAutoFit/>
          </a:bodyPr>
          <a:lstStyle/>
          <a:p>
            <a:pPr algn="l"/>
            <a:r>
              <a:rPr lang="nl-BE" sz="1600" b="1" i="0" dirty="0">
                <a:solidFill>
                  <a:srgbClr val="FFFFFF"/>
                </a:solidFill>
              </a:rPr>
              <a:t>Sprint 2 voorbe</a:t>
            </a:r>
            <a:r>
              <a:rPr lang="nl-BE" sz="1600" b="1" dirty="0">
                <a:solidFill>
                  <a:srgbClr val="FFFFFF"/>
                </a:solidFill>
              </a:rPr>
              <a:t>reiding</a:t>
            </a:r>
            <a:endParaRPr sz="1600" b="1" i="0" dirty="0">
              <a:solidFill>
                <a:srgbClr val="FFFFFF"/>
              </a:solidFill>
            </a:endParaRPr>
          </a:p>
        </p:txBody>
      </p:sp>
      <p:sp>
        <p:nvSpPr>
          <p:cNvPr id="46" name="Tijdelijke aanduiding voor dianummer 45">
            <a:extLst>
              <a:ext uri="{FF2B5EF4-FFF2-40B4-BE49-F238E27FC236}">
                <a16:creationId xmlns:a16="http://schemas.microsoft.com/office/drawing/2014/main" id="{326632E6-B0F6-B356-C51F-0274B2E71409}"/>
              </a:ext>
            </a:extLst>
          </p:cNvPr>
          <p:cNvSpPr>
            <a:spLocks noGrp="1"/>
          </p:cNvSpPr>
          <p:nvPr>
            <p:ph type="sldNum" sz="quarter" idx="12"/>
          </p:nvPr>
        </p:nvSpPr>
        <p:spPr>
          <a:xfrm>
            <a:off x="10055225" y="6485001"/>
            <a:ext cx="2133600" cy="365125"/>
          </a:xfrm>
        </p:spPr>
        <p:txBody>
          <a:bodyPr/>
          <a:lstStyle/>
          <a:p>
            <a:fld id="{C1FF6DA9-008F-8B48-92A6-B652298478BF}" type="slidenum">
              <a:rPr lang="en-US" smtClean="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F7FF38DA-2C80-89F5-17B0-C23D09912F2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B5B9C85-3283-87A4-77C6-015FBB7AA281}"/>
              </a:ext>
            </a:extLst>
          </p:cNvPr>
          <p:cNvSpPr/>
          <p:nvPr/>
        </p:nvSpPr>
        <p:spPr>
          <a:xfrm>
            <a:off x="0" y="0"/>
            <a:ext cx="91440" cy="6858000"/>
          </a:xfrm>
          <a:prstGeom prst="rect">
            <a:avLst/>
          </a:prstGeom>
          <a:solidFill>
            <a:srgbClr val="00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Rectangle 2">
            <a:extLst>
              <a:ext uri="{FF2B5EF4-FFF2-40B4-BE49-F238E27FC236}">
                <a16:creationId xmlns:a16="http://schemas.microsoft.com/office/drawing/2014/main" id="{CB40F9B1-36AB-E88E-EE7E-967CBBA70D92}"/>
              </a:ext>
            </a:extLst>
          </p:cNvPr>
          <p:cNvSpPr/>
          <p:nvPr/>
        </p:nvSpPr>
        <p:spPr>
          <a:xfrm>
            <a:off x="0" y="6803136"/>
            <a:ext cx="12188952" cy="54864"/>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a:extLst>
              <a:ext uri="{FF2B5EF4-FFF2-40B4-BE49-F238E27FC236}">
                <a16:creationId xmlns:a16="http://schemas.microsoft.com/office/drawing/2014/main" id="{7D51F1FA-8C37-EA26-33E2-27BE635A132D}"/>
              </a:ext>
            </a:extLst>
          </p:cNvPr>
          <p:cNvSpPr txBox="1"/>
          <p:nvPr/>
        </p:nvSpPr>
        <p:spPr>
          <a:xfrm>
            <a:off x="1371600" y="1645920"/>
            <a:ext cx="9144000" cy="2308324"/>
          </a:xfrm>
          <a:prstGeom prst="rect">
            <a:avLst/>
          </a:prstGeom>
          <a:noFill/>
        </p:spPr>
        <p:txBody>
          <a:bodyPr wrap="square">
            <a:spAutoFit/>
          </a:bodyPr>
          <a:lstStyle/>
          <a:p>
            <a:pPr algn="ctr"/>
            <a:r>
              <a:rPr lang="nl-BE" sz="7200" b="1" dirty="0">
                <a:solidFill>
                  <a:srgbClr val="0099FF"/>
                </a:solidFill>
              </a:rPr>
              <a:t>Sprintcontext</a:t>
            </a:r>
          </a:p>
          <a:p>
            <a:pPr algn="ctr"/>
            <a:endParaRPr lang="nl-BE" sz="7200" b="1" dirty="0">
              <a:solidFill>
                <a:srgbClr val="0099FF"/>
              </a:solidFill>
            </a:endParaRPr>
          </a:p>
        </p:txBody>
      </p:sp>
      <p:sp>
        <p:nvSpPr>
          <p:cNvPr id="6" name="Rectangle 5">
            <a:extLst>
              <a:ext uri="{FF2B5EF4-FFF2-40B4-BE49-F238E27FC236}">
                <a16:creationId xmlns:a16="http://schemas.microsoft.com/office/drawing/2014/main" id="{AD9C0EBE-72AA-C156-760F-AA2F4FF90EEB}"/>
              </a:ext>
            </a:extLst>
          </p:cNvPr>
          <p:cNvSpPr/>
          <p:nvPr/>
        </p:nvSpPr>
        <p:spPr>
          <a:xfrm>
            <a:off x="4114800" y="3794760"/>
            <a:ext cx="3959352" cy="36576"/>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Tijdelijke aanduiding voor dianummer 12">
            <a:extLst>
              <a:ext uri="{FF2B5EF4-FFF2-40B4-BE49-F238E27FC236}">
                <a16:creationId xmlns:a16="http://schemas.microsoft.com/office/drawing/2014/main" id="{740EF57D-C928-56B5-B789-D984233404B8}"/>
              </a:ext>
            </a:extLst>
          </p:cNvPr>
          <p:cNvSpPr>
            <a:spLocks noGrp="1"/>
          </p:cNvSpPr>
          <p:nvPr>
            <p:ph type="sldNum" sz="quarter" idx="12"/>
          </p:nvPr>
        </p:nvSpPr>
        <p:spPr>
          <a:xfrm>
            <a:off x="10055225" y="6483731"/>
            <a:ext cx="21336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1FF6DA9-008F-8B48-92A6-B652298478B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42874949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ectangle 2"/>
          <p:cNvSpPr/>
          <p:nvPr/>
        </p:nvSpPr>
        <p:spPr>
          <a:xfrm>
            <a:off x="0" y="0"/>
            <a:ext cx="73152" cy="1005840"/>
          </a:xfrm>
          <a:prstGeom prst="rect">
            <a:avLst/>
          </a:prstGeom>
          <a:solidFill>
            <a:srgbClr val="00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01168" y="73152"/>
            <a:ext cx="2328714" cy="553998"/>
          </a:xfrm>
          <a:prstGeom prst="rect">
            <a:avLst/>
          </a:prstGeom>
          <a:noFill/>
        </p:spPr>
        <p:txBody>
          <a:bodyPr wrap="none">
            <a:spAutoFit/>
          </a:bodyPr>
          <a:lstStyle/>
          <a:p>
            <a:r>
              <a:rPr lang="nl-BE" sz="3000" b="1" dirty="0">
                <a:solidFill>
                  <a:srgbClr val="FFFFFF"/>
                </a:solidFill>
              </a:rPr>
              <a:t>Sprintcontext</a:t>
            </a:r>
            <a:endParaRPr sz="3000" b="1" dirty="0">
              <a:solidFill>
                <a:srgbClr val="FFFFFF"/>
              </a:solidFill>
            </a:endParaRPr>
          </a:p>
        </p:txBody>
      </p:sp>
      <p:sp>
        <p:nvSpPr>
          <p:cNvPr id="6" name="Rectangle 5"/>
          <p:cNvSpPr/>
          <p:nvPr/>
        </p:nvSpPr>
        <p:spPr>
          <a:xfrm>
            <a:off x="274320" y="1188720"/>
            <a:ext cx="5577840" cy="5349240"/>
          </a:xfrm>
          <a:prstGeom prst="rect">
            <a:avLst/>
          </a:prstGeom>
          <a:solidFill>
            <a:srgbClr val="16283E"/>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74320" y="1188720"/>
            <a:ext cx="5577840" cy="36576"/>
          </a:xfrm>
          <a:prstGeom prst="rect">
            <a:avLst/>
          </a:prstGeom>
          <a:solidFill>
            <a:srgbClr val="00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11480" y="1261872"/>
            <a:ext cx="2209259" cy="307777"/>
          </a:xfrm>
          <a:prstGeom prst="rect">
            <a:avLst/>
          </a:prstGeom>
          <a:noFill/>
        </p:spPr>
        <p:txBody>
          <a:bodyPr wrap="none">
            <a:spAutoFit/>
          </a:bodyPr>
          <a:lstStyle/>
          <a:p>
            <a:r>
              <a:rPr sz="1400" b="1" dirty="0">
                <a:solidFill>
                  <a:srgbClr val="0099FF"/>
                </a:solidFill>
              </a:rPr>
              <a:t>Wat </a:t>
            </a:r>
            <a:r>
              <a:rPr lang="nl-BE" sz="1400" b="1" dirty="0">
                <a:solidFill>
                  <a:srgbClr val="0099FF"/>
                </a:solidFill>
              </a:rPr>
              <a:t>hebben we </a:t>
            </a:r>
            <a:r>
              <a:rPr lang="nl-BE" sz="1400" b="1" dirty="0" err="1">
                <a:solidFill>
                  <a:srgbClr val="0099FF"/>
                </a:solidFill>
              </a:rPr>
              <a:t>geb</a:t>
            </a:r>
            <a:r>
              <a:rPr sz="1400" b="1" dirty="0" err="1">
                <a:solidFill>
                  <a:srgbClr val="0099FF"/>
                </a:solidFill>
              </a:rPr>
              <a:t>ouw</a:t>
            </a:r>
            <a:r>
              <a:rPr lang="nl-BE" sz="1400" b="1" dirty="0">
                <a:solidFill>
                  <a:srgbClr val="0099FF"/>
                </a:solidFill>
              </a:rPr>
              <a:t>d</a:t>
            </a:r>
            <a:r>
              <a:rPr sz="1400" b="1" dirty="0">
                <a:solidFill>
                  <a:srgbClr val="0099FF"/>
                </a:solidFill>
              </a:rPr>
              <a:t>?</a:t>
            </a:r>
          </a:p>
        </p:txBody>
      </p:sp>
      <p:sp>
        <p:nvSpPr>
          <p:cNvPr id="9" name="TextBox 8"/>
          <p:cNvSpPr txBox="1"/>
          <p:nvPr/>
        </p:nvSpPr>
        <p:spPr>
          <a:xfrm>
            <a:off x="301625" y="1691640"/>
            <a:ext cx="5550535" cy="3808735"/>
          </a:xfrm>
          <a:prstGeom prst="rect">
            <a:avLst/>
          </a:prstGeom>
          <a:noFill/>
        </p:spPr>
        <p:txBody>
          <a:bodyPr wrap="square">
            <a:spAutoFit/>
          </a:bodyPr>
          <a:lstStyle/>
          <a:p>
            <a:pPr>
              <a:spcBef>
                <a:spcPts val="300"/>
              </a:spcBef>
            </a:pPr>
            <a:endParaRPr sz="1600" b="1" dirty="0">
              <a:solidFill>
                <a:srgbClr val="FFFFFF"/>
              </a:solidFill>
            </a:endParaRPr>
          </a:p>
          <a:p>
            <a:pPr>
              <a:spcBef>
                <a:spcPts val="300"/>
              </a:spcBef>
            </a:pPr>
            <a:r>
              <a:rPr b="0" dirty="0">
                <a:solidFill>
                  <a:srgbClr val="B0C4D8"/>
                </a:solidFill>
              </a:rPr>
              <a:t>🔹 </a:t>
            </a:r>
            <a:r>
              <a:rPr lang="nl-BE" dirty="0">
                <a:solidFill>
                  <a:srgbClr val="B0C4D8"/>
                </a:solidFill>
              </a:rPr>
              <a:t>Registratie &amp; inloggen (met validatie)</a:t>
            </a:r>
          </a:p>
          <a:p>
            <a:pPr>
              <a:spcBef>
                <a:spcPts val="300"/>
              </a:spcBef>
            </a:pPr>
            <a:endParaRPr b="0" dirty="0">
              <a:solidFill>
                <a:srgbClr val="B0C4D8"/>
              </a:solidFill>
            </a:endParaRPr>
          </a:p>
          <a:p>
            <a:pPr>
              <a:spcBef>
                <a:spcPts val="300"/>
              </a:spcBef>
            </a:pPr>
            <a:r>
              <a:rPr b="0" dirty="0">
                <a:solidFill>
                  <a:srgbClr val="B0C4D8"/>
                </a:solidFill>
              </a:rPr>
              <a:t>🔹</a:t>
            </a:r>
            <a:r>
              <a:rPr lang="nl-BE" dirty="0">
                <a:solidFill>
                  <a:srgbClr val="B0C4D8"/>
                </a:solidFill>
              </a:rPr>
              <a:t>Profielbeheer (gegevens &amp; wachtwoord aanpassen)</a:t>
            </a:r>
          </a:p>
          <a:p>
            <a:pPr>
              <a:spcBef>
                <a:spcPts val="300"/>
              </a:spcBef>
            </a:pPr>
            <a:endParaRPr b="0" dirty="0">
              <a:solidFill>
                <a:srgbClr val="B0C4D8"/>
              </a:solidFill>
            </a:endParaRPr>
          </a:p>
          <a:p>
            <a:pPr>
              <a:spcBef>
                <a:spcPts val="300"/>
              </a:spcBef>
            </a:pPr>
            <a:r>
              <a:rPr b="0" dirty="0">
                <a:solidFill>
                  <a:srgbClr val="B0C4D8"/>
                </a:solidFill>
              </a:rPr>
              <a:t>🔹 </a:t>
            </a:r>
            <a:r>
              <a:rPr lang="nl-BE" dirty="0">
                <a:solidFill>
                  <a:srgbClr val="B0C4D8"/>
                </a:solidFill>
              </a:rPr>
              <a:t>Verkeerskaart met scenarioselectie</a:t>
            </a:r>
          </a:p>
          <a:p>
            <a:pPr>
              <a:spcBef>
                <a:spcPts val="300"/>
              </a:spcBef>
            </a:pPr>
            <a:endParaRPr lang="nl-BE" dirty="0">
              <a:solidFill>
                <a:srgbClr val="B0C4D8"/>
              </a:solidFill>
            </a:endParaRPr>
          </a:p>
          <a:p>
            <a:pPr>
              <a:spcBef>
                <a:spcPts val="300"/>
              </a:spcBef>
            </a:pPr>
            <a:r>
              <a:rPr lang="nl-BE" dirty="0">
                <a:solidFill>
                  <a:srgbClr val="B0C4D8"/>
                </a:solidFill>
              </a:rPr>
              <a:t>🔹Geïntegreerde </a:t>
            </a:r>
            <a:r>
              <a:rPr lang="nl-BE" dirty="0" err="1">
                <a:solidFill>
                  <a:srgbClr val="B0C4D8"/>
                </a:solidFill>
              </a:rPr>
              <a:t>frontend</a:t>
            </a:r>
            <a:r>
              <a:rPr lang="nl-BE" dirty="0">
                <a:solidFill>
                  <a:srgbClr val="B0C4D8"/>
                </a:solidFill>
              </a:rPr>
              <a:t> en backend</a:t>
            </a:r>
          </a:p>
          <a:p>
            <a:pPr>
              <a:spcBef>
                <a:spcPts val="300"/>
              </a:spcBef>
            </a:pPr>
            <a:endParaRPr lang="nl-BE" dirty="0">
              <a:solidFill>
                <a:srgbClr val="B0C4D8"/>
              </a:solidFill>
            </a:endParaRPr>
          </a:p>
          <a:p>
            <a:pPr>
              <a:spcBef>
                <a:spcPts val="300"/>
              </a:spcBef>
            </a:pPr>
            <a:r>
              <a:rPr lang="nl-BE" dirty="0">
                <a:solidFill>
                  <a:srgbClr val="B0C4D8"/>
                </a:solidFill>
              </a:rPr>
              <a:t>🔹Docker + CI/CD pipeline</a:t>
            </a:r>
          </a:p>
          <a:p>
            <a:pPr>
              <a:spcBef>
                <a:spcPts val="300"/>
              </a:spcBef>
            </a:pPr>
            <a:endParaRPr b="0" dirty="0">
              <a:solidFill>
                <a:srgbClr val="B0C4D8"/>
              </a:solidFill>
            </a:endParaRPr>
          </a:p>
          <a:p>
            <a:pPr>
              <a:spcBef>
                <a:spcPts val="300"/>
              </a:spcBef>
            </a:pPr>
            <a:r>
              <a:rPr b="0" dirty="0">
                <a:solidFill>
                  <a:srgbClr val="B0C4D8"/>
                </a:solidFill>
              </a:rPr>
              <a:t>🔹</a:t>
            </a:r>
            <a:r>
              <a:rPr lang="nl-BE" dirty="0">
                <a:solidFill>
                  <a:srgbClr val="B0C4D8"/>
                </a:solidFill>
              </a:rPr>
              <a:t>SUMO-simulatie (incl. 3D) en basis AI-integratie</a:t>
            </a:r>
            <a:endParaRPr b="0" dirty="0">
              <a:solidFill>
                <a:srgbClr val="B0C4D8"/>
              </a:solidFill>
            </a:endParaRPr>
          </a:p>
        </p:txBody>
      </p:sp>
      <p:sp>
        <p:nvSpPr>
          <p:cNvPr id="10" name="Rectangle 9"/>
          <p:cNvSpPr/>
          <p:nvPr/>
        </p:nvSpPr>
        <p:spPr>
          <a:xfrm>
            <a:off x="6080760" y="1188720"/>
            <a:ext cx="5806440" cy="2423160"/>
          </a:xfrm>
          <a:prstGeom prst="rect">
            <a:avLst/>
          </a:prstGeom>
          <a:solidFill>
            <a:srgbClr val="16283E"/>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080760" y="1188720"/>
            <a:ext cx="5806440" cy="36576"/>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217920" y="1261872"/>
            <a:ext cx="1069524" cy="307777"/>
          </a:xfrm>
          <a:prstGeom prst="rect">
            <a:avLst/>
          </a:prstGeom>
          <a:noFill/>
        </p:spPr>
        <p:txBody>
          <a:bodyPr wrap="none">
            <a:spAutoFit/>
          </a:bodyPr>
          <a:lstStyle/>
          <a:p>
            <a:r>
              <a:rPr sz="1400" b="1" dirty="0" err="1">
                <a:solidFill>
                  <a:srgbClr val="00E596"/>
                </a:solidFill>
              </a:rPr>
              <a:t>Doelstelling</a:t>
            </a:r>
            <a:endParaRPr sz="1400" b="1" dirty="0">
              <a:solidFill>
                <a:srgbClr val="00E596"/>
              </a:solidFill>
            </a:endParaRPr>
          </a:p>
        </p:txBody>
      </p:sp>
      <p:sp>
        <p:nvSpPr>
          <p:cNvPr id="13" name="TextBox 12"/>
          <p:cNvSpPr txBox="1"/>
          <p:nvPr/>
        </p:nvSpPr>
        <p:spPr>
          <a:xfrm>
            <a:off x="6263640" y="1691640"/>
            <a:ext cx="5440680" cy="1610697"/>
          </a:xfrm>
          <a:prstGeom prst="rect">
            <a:avLst/>
          </a:prstGeom>
          <a:noFill/>
        </p:spPr>
        <p:txBody>
          <a:bodyPr wrap="square">
            <a:spAutoFit/>
          </a:bodyPr>
          <a:lstStyle/>
          <a:p>
            <a:pPr>
              <a:spcBef>
                <a:spcPts val="500"/>
              </a:spcBef>
            </a:pPr>
            <a:r>
              <a:rPr sz="1600" dirty="0">
                <a:solidFill>
                  <a:srgbClr val="FFFFFF"/>
                </a:solidFill>
              </a:rPr>
              <a:t>✓</a:t>
            </a:r>
            <a:r>
              <a:rPr lang="nl-BE" sz="1600" dirty="0">
                <a:solidFill>
                  <a:srgbClr val="FFFFFF"/>
                </a:solidFill>
              </a:rPr>
              <a:t>  Werkende baseline van de applicatie</a:t>
            </a:r>
            <a:endParaRPr sz="1600" dirty="0">
              <a:solidFill>
                <a:srgbClr val="FFFFFF"/>
              </a:solidFill>
            </a:endParaRPr>
          </a:p>
          <a:p>
            <a:pPr>
              <a:spcBef>
                <a:spcPts val="500"/>
              </a:spcBef>
            </a:pPr>
            <a:r>
              <a:rPr sz="1600" dirty="0">
                <a:solidFill>
                  <a:srgbClr val="FFFFFF"/>
                </a:solidFill>
              </a:rPr>
              <a:t>✓  </a:t>
            </a:r>
            <a:r>
              <a:rPr lang="nl-BE" sz="1600" dirty="0">
                <a:solidFill>
                  <a:srgbClr val="FFFFFF"/>
                </a:solidFill>
              </a:rPr>
              <a:t>Volledige gebruikersauthenticatie</a:t>
            </a:r>
          </a:p>
          <a:p>
            <a:pPr>
              <a:spcBef>
                <a:spcPts val="500"/>
              </a:spcBef>
            </a:pPr>
            <a:r>
              <a:rPr lang="nl-BE" sz="1600" dirty="0">
                <a:solidFill>
                  <a:srgbClr val="FFFFFF"/>
                </a:solidFill>
              </a:rPr>
              <a:t>✓  Profielbeheer implementeren</a:t>
            </a:r>
          </a:p>
          <a:p>
            <a:pPr>
              <a:spcBef>
                <a:spcPts val="500"/>
              </a:spcBef>
            </a:pPr>
            <a:r>
              <a:rPr lang="nl-BE" sz="1600" dirty="0">
                <a:solidFill>
                  <a:srgbClr val="FFFFFF"/>
                </a:solidFill>
              </a:rPr>
              <a:t>✓  Integratie van SUMO en verkeersvisualisatie</a:t>
            </a:r>
          </a:p>
          <a:p>
            <a:pPr>
              <a:spcBef>
                <a:spcPts val="500"/>
              </a:spcBef>
            </a:pPr>
            <a:r>
              <a:rPr sz="1600" dirty="0">
                <a:solidFill>
                  <a:srgbClr val="FFFFFF"/>
                </a:solidFill>
              </a:rPr>
              <a:t>✓</a:t>
            </a:r>
            <a:r>
              <a:rPr lang="nl-BE" sz="1600" dirty="0">
                <a:solidFill>
                  <a:srgbClr val="FFFFFF"/>
                </a:solidFill>
              </a:rPr>
              <a:t>  Stabiele </a:t>
            </a:r>
            <a:r>
              <a:rPr lang="nl-BE" sz="1600" dirty="0" err="1">
                <a:solidFill>
                  <a:srgbClr val="FFFFFF"/>
                </a:solidFill>
              </a:rPr>
              <a:t>frontend</a:t>
            </a:r>
            <a:r>
              <a:rPr lang="nl-BE" sz="1600" dirty="0">
                <a:solidFill>
                  <a:srgbClr val="FFFFFF"/>
                </a:solidFill>
              </a:rPr>
              <a:t>, backend, SUMO-web3d en CI/CD setup</a:t>
            </a:r>
            <a:endParaRPr sz="1600" dirty="0">
              <a:solidFill>
                <a:srgbClr val="FFFFFF"/>
              </a:solidFill>
            </a:endParaRPr>
          </a:p>
        </p:txBody>
      </p:sp>
      <p:sp>
        <p:nvSpPr>
          <p:cNvPr id="14" name="Rectangle 13"/>
          <p:cNvSpPr/>
          <p:nvPr/>
        </p:nvSpPr>
        <p:spPr>
          <a:xfrm>
            <a:off x="6080760" y="3794760"/>
            <a:ext cx="5806440" cy="2743200"/>
          </a:xfrm>
          <a:prstGeom prst="rect">
            <a:avLst/>
          </a:prstGeom>
          <a:solidFill>
            <a:srgbClr val="16283E"/>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080760" y="3794760"/>
            <a:ext cx="5806440" cy="36576"/>
          </a:xfrm>
          <a:prstGeom prst="rect">
            <a:avLst/>
          </a:prstGeom>
          <a:solidFill>
            <a:srgbClr val="FFB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217920" y="3867912"/>
            <a:ext cx="1471878" cy="307777"/>
          </a:xfrm>
          <a:prstGeom prst="rect">
            <a:avLst/>
          </a:prstGeom>
          <a:noFill/>
        </p:spPr>
        <p:txBody>
          <a:bodyPr wrap="none">
            <a:spAutoFit/>
          </a:bodyPr>
          <a:lstStyle/>
          <a:p>
            <a:r>
              <a:rPr sz="1400" b="1" dirty="0" err="1">
                <a:solidFill>
                  <a:srgbClr val="FFBF00"/>
                </a:solidFill>
              </a:rPr>
              <a:t>Technologiestack</a:t>
            </a:r>
            <a:endParaRPr sz="1400" b="1" dirty="0">
              <a:solidFill>
                <a:srgbClr val="FFBF00"/>
              </a:solidFill>
            </a:endParaRPr>
          </a:p>
        </p:txBody>
      </p:sp>
      <p:sp>
        <p:nvSpPr>
          <p:cNvPr id="17" name="Rectangle 16"/>
          <p:cNvSpPr/>
          <p:nvPr/>
        </p:nvSpPr>
        <p:spPr>
          <a:xfrm>
            <a:off x="6263640" y="4297680"/>
            <a:ext cx="1298448" cy="274320"/>
          </a:xfrm>
          <a:prstGeom prst="roundRect">
            <a:avLst/>
          </a:prstGeom>
          <a:solidFill>
            <a:srgbClr val="00C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63640" y="4325112"/>
            <a:ext cx="1298448" cy="256032"/>
          </a:xfrm>
          <a:prstGeom prst="rect">
            <a:avLst/>
          </a:prstGeom>
          <a:noFill/>
        </p:spPr>
        <p:txBody>
          <a:bodyPr wrap="square">
            <a:spAutoFit/>
          </a:bodyPr>
          <a:lstStyle/>
          <a:p>
            <a:pPr algn="ctr"/>
            <a:r>
              <a:rPr sz="1000" b="1" i="0">
                <a:solidFill>
                  <a:srgbClr val="0D1B2A"/>
                </a:solidFill>
              </a:rPr>
              <a:t>SUMO</a:t>
            </a:r>
          </a:p>
        </p:txBody>
      </p:sp>
      <p:sp>
        <p:nvSpPr>
          <p:cNvPr id="21" name="Rectangle 20"/>
          <p:cNvSpPr/>
          <p:nvPr/>
        </p:nvSpPr>
        <p:spPr>
          <a:xfrm>
            <a:off x="7653528" y="4297680"/>
            <a:ext cx="1298448" cy="274320"/>
          </a:xfrm>
          <a:prstGeom prst="roundRect">
            <a:avLst/>
          </a:prstGeom>
          <a:solidFill>
            <a:srgbClr val="FF4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653528" y="4325112"/>
            <a:ext cx="1298448" cy="256032"/>
          </a:xfrm>
          <a:prstGeom prst="rect">
            <a:avLst/>
          </a:prstGeom>
          <a:noFill/>
        </p:spPr>
        <p:txBody>
          <a:bodyPr wrap="square">
            <a:spAutoFit/>
          </a:bodyPr>
          <a:lstStyle/>
          <a:p>
            <a:pPr algn="ctr"/>
            <a:r>
              <a:rPr sz="1000" b="1" i="0" dirty="0">
                <a:solidFill>
                  <a:srgbClr val="0D1B2A"/>
                </a:solidFill>
              </a:rPr>
              <a:t>Gymnasium</a:t>
            </a:r>
          </a:p>
        </p:txBody>
      </p:sp>
      <p:sp>
        <p:nvSpPr>
          <p:cNvPr id="25" name="Rectangle 24"/>
          <p:cNvSpPr/>
          <p:nvPr/>
        </p:nvSpPr>
        <p:spPr>
          <a:xfrm>
            <a:off x="6263640" y="4663440"/>
            <a:ext cx="1298448" cy="274320"/>
          </a:xfrm>
          <a:prstGeom prst="roundRect">
            <a:avLst/>
          </a:prstGeom>
          <a:solidFill>
            <a:srgbClr val="00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263640" y="4690872"/>
            <a:ext cx="1298448" cy="256032"/>
          </a:xfrm>
          <a:prstGeom prst="rect">
            <a:avLst/>
          </a:prstGeom>
          <a:noFill/>
        </p:spPr>
        <p:txBody>
          <a:bodyPr wrap="square">
            <a:spAutoFit/>
          </a:bodyPr>
          <a:lstStyle/>
          <a:p>
            <a:pPr algn="ctr"/>
            <a:r>
              <a:rPr sz="1000" b="1" i="0">
                <a:solidFill>
                  <a:srgbClr val="0D1B2A"/>
                </a:solidFill>
              </a:rPr>
              <a:t>FastAPI</a:t>
            </a:r>
          </a:p>
        </p:txBody>
      </p:sp>
      <p:sp>
        <p:nvSpPr>
          <p:cNvPr id="27" name="Rectangle 26"/>
          <p:cNvSpPr/>
          <p:nvPr/>
        </p:nvSpPr>
        <p:spPr>
          <a:xfrm>
            <a:off x="7653528" y="4663440"/>
            <a:ext cx="1298448" cy="274320"/>
          </a:xfrm>
          <a:prstGeom prst="roundRect">
            <a:avLst/>
          </a:prstGeom>
          <a:solidFill>
            <a:srgbClr val="00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653528" y="4690872"/>
            <a:ext cx="1298448" cy="256032"/>
          </a:xfrm>
          <a:prstGeom prst="rect">
            <a:avLst/>
          </a:prstGeom>
          <a:noFill/>
        </p:spPr>
        <p:txBody>
          <a:bodyPr wrap="square">
            <a:spAutoFit/>
          </a:bodyPr>
          <a:lstStyle/>
          <a:p>
            <a:pPr algn="ctr"/>
            <a:r>
              <a:rPr sz="1000" b="1" i="0" dirty="0">
                <a:solidFill>
                  <a:srgbClr val="0D1B2A"/>
                </a:solidFill>
              </a:rPr>
              <a:t>Python</a:t>
            </a:r>
          </a:p>
        </p:txBody>
      </p:sp>
      <p:sp>
        <p:nvSpPr>
          <p:cNvPr id="29" name="Rectangle 28"/>
          <p:cNvSpPr/>
          <p:nvPr/>
        </p:nvSpPr>
        <p:spPr>
          <a:xfrm>
            <a:off x="9043416" y="4297680"/>
            <a:ext cx="1298448" cy="274320"/>
          </a:xfrm>
          <a:prstGeom prst="roundRect">
            <a:avLst/>
          </a:prstGeom>
          <a:solidFill>
            <a:srgbClr val="AB47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043416" y="4325112"/>
            <a:ext cx="1298448" cy="256032"/>
          </a:xfrm>
          <a:prstGeom prst="rect">
            <a:avLst/>
          </a:prstGeom>
          <a:noFill/>
        </p:spPr>
        <p:txBody>
          <a:bodyPr wrap="square">
            <a:spAutoFit/>
          </a:bodyPr>
          <a:lstStyle/>
          <a:p>
            <a:pPr algn="ctr"/>
            <a:r>
              <a:rPr sz="1000" b="1" i="0">
                <a:solidFill>
                  <a:srgbClr val="0D1B2A"/>
                </a:solidFill>
              </a:rPr>
              <a:t>MySQL</a:t>
            </a:r>
          </a:p>
        </p:txBody>
      </p:sp>
      <p:sp>
        <p:nvSpPr>
          <p:cNvPr id="33" name="Rectangle 32"/>
          <p:cNvSpPr/>
          <p:nvPr/>
        </p:nvSpPr>
        <p:spPr>
          <a:xfrm>
            <a:off x="6263640" y="5029200"/>
            <a:ext cx="1298448" cy="274320"/>
          </a:xfrm>
          <a:prstGeom prst="roundRect">
            <a:avLst/>
          </a:prstGeom>
          <a:solidFill>
            <a:srgbClr val="00BF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263640" y="5056632"/>
            <a:ext cx="1298448" cy="256032"/>
          </a:xfrm>
          <a:prstGeom prst="rect">
            <a:avLst/>
          </a:prstGeom>
          <a:noFill/>
        </p:spPr>
        <p:txBody>
          <a:bodyPr wrap="square">
            <a:spAutoFit/>
          </a:bodyPr>
          <a:lstStyle/>
          <a:p>
            <a:pPr algn="ctr"/>
            <a:r>
              <a:rPr sz="1000" b="1" i="0" dirty="0">
                <a:solidFill>
                  <a:srgbClr val="0D1B2A"/>
                </a:solidFill>
              </a:rPr>
              <a:t>Vue.js</a:t>
            </a:r>
          </a:p>
        </p:txBody>
      </p:sp>
      <p:sp>
        <p:nvSpPr>
          <p:cNvPr id="37" name="Rectangle 36"/>
          <p:cNvSpPr/>
          <p:nvPr/>
        </p:nvSpPr>
        <p:spPr>
          <a:xfrm>
            <a:off x="9043416" y="5029200"/>
            <a:ext cx="1298448" cy="274320"/>
          </a:xfrm>
          <a:prstGeom prst="round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043416" y="5056632"/>
            <a:ext cx="1298448" cy="256032"/>
          </a:xfrm>
          <a:prstGeom prst="rect">
            <a:avLst/>
          </a:prstGeom>
          <a:noFill/>
        </p:spPr>
        <p:txBody>
          <a:bodyPr wrap="square">
            <a:spAutoFit/>
          </a:bodyPr>
          <a:lstStyle/>
          <a:p>
            <a:pPr algn="ctr"/>
            <a:r>
              <a:rPr sz="1000" b="1" i="0">
                <a:solidFill>
                  <a:srgbClr val="0D1B2A"/>
                </a:solidFill>
              </a:rPr>
              <a:t>Docker</a:t>
            </a:r>
          </a:p>
        </p:txBody>
      </p:sp>
      <p:sp>
        <p:nvSpPr>
          <p:cNvPr id="39" name="Rectangle 38"/>
          <p:cNvSpPr/>
          <p:nvPr/>
        </p:nvSpPr>
        <p:spPr>
          <a:xfrm>
            <a:off x="9043416" y="4663440"/>
            <a:ext cx="1298448" cy="274320"/>
          </a:xfrm>
          <a:prstGeom prst="round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9043416" y="4690872"/>
            <a:ext cx="1298448" cy="256032"/>
          </a:xfrm>
          <a:prstGeom prst="rect">
            <a:avLst/>
          </a:prstGeom>
          <a:noFill/>
        </p:spPr>
        <p:txBody>
          <a:bodyPr wrap="square">
            <a:spAutoFit/>
          </a:bodyPr>
          <a:lstStyle/>
          <a:p>
            <a:pPr algn="ctr"/>
            <a:r>
              <a:rPr sz="1000" b="1" i="0" dirty="0">
                <a:solidFill>
                  <a:srgbClr val="0D1B2A"/>
                </a:solidFill>
              </a:rPr>
              <a:t>GitHub Actions</a:t>
            </a:r>
          </a:p>
        </p:txBody>
      </p:sp>
      <p:sp>
        <p:nvSpPr>
          <p:cNvPr id="41" name="Tijdelijke aanduiding voor dianummer 40">
            <a:extLst>
              <a:ext uri="{FF2B5EF4-FFF2-40B4-BE49-F238E27FC236}">
                <a16:creationId xmlns:a16="http://schemas.microsoft.com/office/drawing/2014/main" id="{82323D50-E7CB-5B5B-A5FC-FB6FA8673A78}"/>
              </a:ext>
            </a:extLst>
          </p:cNvPr>
          <p:cNvSpPr>
            <a:spLocks noGrp="1"/>
          </p:cNvSpPr>
          <p:nvPr>
            <p:ph type="sldNum" sz="quarter" idx="12"/>
          </p:nvPr>
        </p:nvSpPr>
        <p:spPr>
          <a:xfrm>
            <a:off x="10055352" y="6492875"/>
            <a:ext cx="2133600" cy="365125"/>
          </a:xfrm>
        </p:spPr>
        <p:txBody>
          <a:bodyPr/>
          <a:lstStyle/>
          <a:p>
            <a:fld id="{C1FF6DA9-008F-8B48-92A6-B652298478BF}" type="slidenum">
              <a:rPr lang="en-US" smtClean="0"/>
              <a:t>4</a:t>
            </a:fld>
            <a:endParaRPr lang="en-US"/>
          </a:p>
        </p:txBody>
      </p:sp>
      <p:sp>
        <p:nvSpPr>
          <p:cNvPr id="44" name="Rectangle 32">
            <a:extLst>
              <a:ext uri="{FF2B5EF4-FFF2-40B4-BE49-F238E27FC236}">
                <a16:creationId xmlns:a16="http://schemas.microsoft.com/office/drawing/2014/main" id="{4C04F5F2-8D95-819E-C4F1-FB77D60BAC74}"/>
              </a:ext>
            </a:extLst>
          </p:cNvPr>
          <p:cNvSpPr/>
          <p:nvPr/>
        </p:nvSpPr>
        <p:spPr>
          <a:xfrm>
            <a:off x="7653528" y="5032946"/>
            <a:ext cx="1298448" cy="274320"/>
          </a:xfrm>
          <a:prstGeom prst="roundRect">
            <a:avLst/>
          </a:prstGeom>
          <a:solidFill>
            <a:srgbClr val="00BF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33">
            <a:extLst>
              <a:ext uri="{FF2B5EF4-FFF2-40B4-BE49-F238E27FC236}">
                <a16:creationId xmlns:a16="http://schemas.microsoft.com/office/drawing/2014/main" id="{DCDD5F29-B8B6-AB42-31B8-53DB035221A6}"/>
              </a:ext>
            </a:extLst>
          </p:cNvPr>
          <p:cNvSpPr txBox="1"/>
          <p:nvPr/>
        </p:nvSpPr>
        <p:spPr>
          <a:xfrm>
            <a:off x="7616190" y="5060378"/>
            <a:ext cx="1298448" cy="256032"/>
          </a:xfrm>
          <a:prstGeom prst="rect">
            <a:avLst/>
          </a:prstGeom>
          <a:noFill/>
        </p:spPr>
        <p:txBody>
          <a:bodyPr wrap="square">
            <a:spAutoFit/>
          </a:bodyPr>
          <a:lstStyle/>
          <a:p>
            <a:pPr algn="ctr"/>
            <a:r>
              <a:rPr lang="nl-BE" sz="1000" b="1" dirty="0">
                <a:solidFill>
                  <a:srgbClr val="0D1B2A"/>
                </a:solidFill>
              </a:rPr>
              <a:t>Bootstrap</a:t>
            </a:r>
            <a:endParaRPr sz="1000" b="1" i="0" dirty="0">
              <a:solidFill>
                <a:srgbClr val="0D1B2A"/>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1"/>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5"/>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7"/>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9"/>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3"/>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37"/>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39"/>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p:bldP spid="9" grpId="0"/>
      <p:bldP spid="10" grpId="0" animBg="1"/>
      <p:bldP spid="11" grpId="0" animBg="1"/>
      <p:bldP spid="12" grpId="0"/>
      <p:bldP spid="13" grpId="0"/>
      <p:bldP spid="14" grpId="0" animBg="1"/>
      <p:bldP spid="15" grpId="0" animBg="1"/>
      <p:bldP spid="16" grpId="0"/>
      <p:bldP spid="17" grpId="0" animBg="1"/>
      <p:bldP spid="18" grpId="0"/>
      <p:bldP spid="21" grpId="0" animBg="1"/>
      <p:bldP spid="22" grpId="0"/>
      <p:bldP spid="25" grpId="0" animBg="1"/>
      <p:bldP spid="26" grpId="0"/>
      <p:bldP spid="27" grpId="0" animBg="1"/>
      <p:bldP spid="28" grpId="0"/>
      <p:bldP spid="29" grpId="0" animBg="1"/>
      <p:bldP spid="30" grpId="0"/>
      <p:bldP spid="33" grpId="0" animBg="1"/>
      <p:bldP spid="34" grpId="0"/>
      <p:bldP spid="37" grpId="0" animBg="1"/>
      <p:bldP spid="38" grpId="0"/>
      <p:bldP spid="39" grpId="0" animBg="1"/>
      <p:bldP spid="40" grpId="0"/>
      <p:bldP spid="44" grpId="0" animBg="1"/>
      <p:bldP spid="45"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4D558AFA-D231-29B0-3728-D0E8534A3AA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5178840-74C9-1F82-CA4B-C63B807A898B}"/>
              </a:ext>
            </a:extLst>
          </p:cNvPr>
          <p:cNvSpPr/>
          <p:nvPr/>
        </p:nvSpPr>
        <p:spPr>
          <a:xfrm>
            <a:off x="0" y="0"/>
            <a:ext cx="91440" cy="6858000"/>
          </a:xfrm>
          <a:prstGeom prst="rect">
            <a:avLst/>
          </a:prstGeom>
          <a:solidFill>
            <a:srgbClr val="00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Rectangle 2">
            <a:extLst>
              <a:ext uri="{FF2B5EF4-FFF2-40B4-BE49-F238E27FC236}">
                <a16:creationId xmlns:a16="http://schemas.microsoft.com/office/drawing/2014/main" id="{33C6975B-CCF8-652C-A489-D675D5690448}"/>
              </a:ext>
            </a:extLst>
          </p:cNvPr>
          <p:cNvSpPr/>
          <p:nvPr/>
        </p:nvSpPr>
        <p:spPr>
          <a:xfrm>
            <a:off x="0" y="6803136"/>
            <a:ext cx="12188952" cy="54864"/>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a:extLst>
              <a:ext uri="{FF2B5EF4-FFF2-40B4-BE49-F238E27FC236}">
                <a16:creationId xmlns:a16="http://schemas.microsoft.com/office/drawing/2014/main" id="{BBA240C6-BEBE-765E-C33A-59E784C60EB8}"/>
              </a:ext>
            </a:extLst>
          </p:cNvPr>
          <p:cNvSpPr txBox="1"/>
          <p:nvPr/>
        </p:nvSpPr>
        <p:spPr>
          <a:xfrm>
            <a:off x="1371600" y="1645920"/>
            <a:ext cx="9144000" cy="2308324"/>
          </a:xfrm>
          <a:prstGeom prst="rect">
            <a:avLst/>
          </a:prstGeom>
          <a:noFill/>
        </p:spPr>
        <p:txBody>
          <a:bodyPr wrap="square">
            <a:spAutoFit/>
          </a:bodyPr>
          <a:lstStyle/>
          <a:p>
            <a:pPr algn="ctr">
              <a:defRPr/>
            </a:pPr>
            <a:r>
              <a:rPr lang="nl-BE" sz="7200" b="1" dirty="0">
                <a:solidFill>
                  <a:srgbClr val="0099FF"/>
                </a:solidFill>
              </a:rPr>
              <a:t>Sprintdoel</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nl-BE" sz="7200" b="1" i="0" u="none" strike="noStrike" kern="1200" cap="none" spc="0" normalizeH="0" baseline="0" noProof="0" dirty="0">
              <a:ln>
                <a:noFill/>
              </a:ln>
              <a:solidFill>
                <a:srgbClr val="0099FF"/>
              </a:solidFill>
              <a:effectLst/>
              <a:uLnTx/>
              <a:uFillTx/>
              <a:latin typeface="Calibri"/>
              <a:ea typeface="+mn-ea"/>
              <a:cs typeface="+mn-cs"/>
            </a:endParaRPr>
          </a:p>
        </p:txBody>
      </p:sp>
      <p:sp>
        <p:nvSpPr>
          <p:cNvPr id="6" name="Rectangle 5">
            <a:extLst>
              <a:ext uri="{FF2B5EF4-FFF2-40B4-BE49-F238E27FC236}">
                <a16:creationId xmlns:a16="http://schemas.microsoft.com/office/drawing/2014/main" id="{30EF316A-11FD-4290-C45E-7E937487B0C3}"/>
              </a:ext>
            </a:extLst>
          </p:cNvPr>
          <p:cNvSpPr/>
          <p:nvPr/>
        </p:nvSpPr>
        <p:spPr>
          <a:xfrm>
            <a:off x="4114800" y="3794760"/>
            <a:ext cx="3959352" cy="36576"/>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Tijdelijke aanduiding voor dianummer 12">
            <a:extLst>
              <a:ext uri="{FF2B5EF4-FFF2-40B4-BE49-F238E27FC236}">
                <a16:creationId xmlns:a16="http://schemas.microsoft.com/office/drawing/2014/main" id="{30824791-2875-6FAB-0127-D7E6CF84522B}"/>
              </a:ext>
            </a:extLst>
          </p:cNvPr>
          <p:cNvSpPr>
            <a:spLocks noGrp="1"/>
          </p:cNvSpPr>
          <p:nvPr>
            <p:ph type="sldNum" sz="quarter" idx="12"/>
          </p:nvPr>
        </p:nvSpPr>
        <p:spPr>
          <a:xfrm>
            <a:off x="10055225" y="6483731"/>
            <a:ext cx="21336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1FF6DA9-008F-8B48-92A6-B652298478B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40737258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73152" cy="1005840"/>
          </a:xfrm>
          <a:prstGeom prst="rect">
            <a:avLst/>
          </a:prstGeom>
          <a:solidFill>
            <a:srgbClr val="FFB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01168" y="73152"/>
            <a:ext cx="1837491" cy="553998"/>
          </a:xfrm>
          <a:prstGeom prst="rect">
            <a:avLst/>
          </a:prstGeom>
          <a:noFill/>
        </p:spPr>
        <p:txBody>
          <a:bodyPr wrap="none">
            <a:spAutoFit/>
          </a:bodyPr>
          <a:lstStyle/>
          <a:p>
            <a:r>
              <a:rPr lang="nl-BE" sz="3000" b="1" dirty="0">
                <a:solidFill>
                  <a:srgbClr val="FFFFFF"/>
                </a:solidFill>
              </a:rPr>
              <a:t>Sprintdoel</a:t>
            </a:r>
            <a:endParaRPr sz="3000" b="1" dirty="0">
              <a:solidFill>
                <a:srgbClr val="FFFFFF"/>
              </a:solidFill>
            </a:endParaRPr>
          </a:p>
        </p:txBody>
      </p:sp>
      <p:sp>
        <p:nvSpPr>
          <p:cNvPr id="6" name="Rectangle 5"/>
          <p:cNvSpPr/>
          <p:nvPr/>
        </p:nvSpPr>
        <p:spPr>
          <a:xfrm>
            <a:off x="274320" y="1188720"/>
            <a:ext cx="11640312" cy="2377440"/>
          </a:xfrm>
          <a:prstGeom prst="rect">
            <a:avLst/>
          </a:prstGeom>
          <a:solidFill>
            <a:srgbClr val="122238"/>
          </a:solidFill>
          <a:ln w="25400">
            <a:solidFill>
              <a:srgbClr val="FFB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74320" y="1188720"/>
            <a:ext cx="109728" cy="2377440"/>
          </a:xfrm>
          <a:prstGeom prst="rect">
            <a:avLst/>
          </a:prstGeom>
          <a:solidFill>
            <a:srgbClr val="FFB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1371600"/>
            <a:ext cx="11064240" cy="1569660"/>
          </a:xfrm>
          <a:prstGeom prst="rect">
            <a:avLst/>
          </a:prstGeom>
          <a:noFill/>
        </p:spPr>
        <p:txBody>
          <a:bodyPr wrap="square">
            <a:spAutoFit/>
          </a:bodyPr>
          <a:lstStyle/>
          <a:p>
            <a:r>
              <a:rPr lang="nl-BE" sz="2400" i="1" dirty="0">
                <a:solidFill>
                  <a:srgbClr val="FFFFFF"/>
                </a:solidFill>
              </a:rPr>
              <a:t>Aan het einde van deze sprint is er een werkende baseline van de applicatie met </a:t>
            </a:r>
            <a:r>
              <a:rPr lang="nl-BE" sz="2400" i="1" dirty="0" err="1">
                <a:solidFill>
                  <a:srgbClr val="FFFFFF"/>
                </a:solidFill>
              </a:rPr>
              <a:t>frontend</a:t>
            </a:r>
            <a:r>
              <a:rPr lang="nl-BE" sz="2400" i="1" dirty="0">
                <a:solidFill>
                  <a:srgbClr val="FFFFFF"/>
                </a:solidFill>
              </a:rPr>
              <a:t>, backend, CI/CD en SUMO-simulatie, inclusief volledige functionaliteit voor inloggen, registratie en profielbeheer, zodat gebruikers de applicatie kunnen openen, accounts aanmaken en hun profiel beheren.</a:t>
            </a:r>
            <a:endParaRPr sz="2000" i="1" dirty="0">
              <a:solidFill>
                <a:srgbClr val="FFFFFF"/>
              </a:solidFill>
            </a:endParaRPr>
          </a:p>
        </p:txBody>
      </p:sp>
      <p:sp>
        <p:nvSpPr>
          <p:cNvPr id="9" name="Rectangle 8"/>
          <p:cNvSpPr/>
          <p:nvPr/>
        </p:nvSpPr>
        <p:spPr>
          <a:xfrm>
            <a:off x="274320" y="3794760"/>
            <a:ext cx="3749039" cy="2606040"/>
          </a:xfrm>
          <a:prstGeom prst="rect">
            <a:avLst/>
          </a:prstGeom>
          <a:solidFill>
            <a:srgbClr val="16283E"/>
          </a:solidFill>
          <a:ln w="25400">
            <a:solidFill>
              <a:srgbClr val="FF4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74320" y="3794760"/>
            <a:ext cx="3749039" cy="45720"/>
          </a:xfrm>
          <a:prstGeom prst="rect">
            <a:avLst/>
          </a:prstGeom>
          <a:solidFill>
            <a:srgbClr val="FF4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199" y="3977005"/>
            <a:ext cx="3383281" cy="461665"/>
          </a:xfrm>
          <a:prstGeom prst="rect">
            <a:avLst/>
          </a:prstGeom>
          <a:noFill/>
        </p:spPr>
        <p:txBody>
          <a:bodyPr wrap="square">
            <a:spAutoFit/>
          </a:bodyPr>
          <a:lstStyle/>
          <a:p>
            <a:pPr algn="ctr"/>
            <a:r>
              <a:rPr lang="nl-BE" sz="2400" b="1" dirty="0">
                <a:solidFill>
                  <a:srgbClr val="FF4500"/>
                </a:solidFill>
              </a:rPr>
              <a:t>User </a:t>
            </a:r>
            <a:r>
              <a:rPr lang="nl-BE" sz="2400" b="1" dirty="0" err="1">
                <a:solidFill>
                  <a:srgbClr val="FF4500"/>
                </a:solidFill>
              </a:rPr>
              <a:t>stories</a:t>
            </a:r>
            <a:endParaRPr sz="2400" b="1" i="0" dirty="0">
              <a:solidFill>
                <a:srgbClr val="FF4500"/>
              </a:solidFill>
            </a:endParaRPr>
          </a:p>
        </p:txBody>
      </p:sp>
      <p:sp>
        <p:nvSpPr>
          <p:cNvPr id="13" name="TextBox 12"/>
          <p:cNvSpPr txBox="1"/>
          <p:nvPr/>
        </p:nvSpPr>
        <p:spPr>
          <a:xfrm>
            <a:off x="457200" y="4526280"/>
            <a:ext cx="3383280" cy="461665"/>
          </a:xfrm>
          <a:prstGeom prst="rect">
            <a:avLst/>
          </a:prstGeom>
          <a:noFill/>
        </p:spPr>
        <p:txBody>
          <a:bodyPr wrap="square">
            <a:spAutoFit/>
          </a:bodyPr>
          <a:lstStyle/>
          <a:p>
            <a:pPr algn="ctr"/>
            <a:r>
              <a:rPr lang="nl-BE" sz="2400" b="0" i="0" dirty="0">
                <a:solidFill>
                  <a:srgbClr val="B0C4D8"/>
                </a:solidFill>
              </a:rPr>
              <a:t>13</a:t>
            </a:r>
            <a:endParaRPr sz="2400" b="0" i="0" dirty="0">
              <a:solidFill>
                <a:srgbClr val="B0C4D8"/>
              </a:solidFill>
            </a:endParaRPr>
          </a:p>
        </p:txBody>
      </p:sp>
      <p:sp>
        <p:nvSpPr>
          <p:cNvPr id="14" name="Rectangle 13"/>
          <p:cNvSpPr/>
          <p:nvPr/>
        </p:nvSpPr>
        <p:spPr>
          <a:xfrm>
            <a:off x="4169664" y="3794760"/>
            <a:ext cx="3749039" cy="2606040"/>
          </a:xfrm>
          <a:prstGeom prst="rect">
            <a:avLst/>
          </a:prstGeom>
          <a:solidFill>
            <a:srgbClr val="16283E"/>
          </a:solidFill>
          <a:ln w="25400">
            <a:solidFill>
              <a:srgbClr val="FF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169664" y="3794760"/>
            <a:ext cx="3749039" cy="45720"/>
          </a:xfrm>
          <a:prstGeom prst="rect">
            <a:avLst/>
          </a:prstGeom>
          <a:solidFill>
            <a:srgbClr val="FF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352544" y="3959352"/>
            <a:ext cx="3419856" cy="461665"/>
          </a:xfrm>
          <a:prstGeom prst="rect">
            <a:avLst/>
          </a:prstGeom>
          <a:noFill/>
        </p:spPr>
        <p:txBody>
          <a:bodyPr wrap="square">
            <a:spAutoFit/>
          </a:bodyPr>
          <a:lstStyle/>
          <a:p>
            <a:pPr algn="ctr"/>
            <a:r>
              <a:rPr lang="nl-BE" sz="2400" b="1" dirty="0" err="1">
                <a:solidFill>
                  <a:srgbClr val="FF9F00"/>
                </a:solidFill>
              </a:rPr>
              <a:t>Epics</a:t>
            </a:r>
            <a:endParaRPr sz="2400" b="1" i="0" dirty="0">
              <a:solidFill>
                <a:srgbClr val="FF9F00"/>
              </a:solidFill>
            </a:endParaRPr>
          </a:p>
        </p:txBody>
      </p:sp>
      <p:sp>
        <p:nvSpPr>
          <p:cNvPr id="18" name="TextBox 17"/>
          <p:cNvSpPr txBox="1"/>
          <p:nvPr/>
        </p:nvSpPr>
        <p:spPr>
          <a:xfrm>
            <a:off x="4334251" y="4421017"/>
            <a:ext cx="3675891" cy="1938992"/>
          </a:xfrm>
          <a:prstGeom prst="rect">
            <a:avLst/>
          </a:prstGeom>
          <a:noFill/>
        </p:spPr>
        <p:txBody>
          <a:bodyPr wrap="square">
            <a:spAutoFit/>
          </a:bodyPr>
          <a:lstStyle/>
          <a:p>
            <a:pPr algn="ctr"/>
            <a:r>
              <a:rPr lang="nl-BE" sz="2400" b="0" i="0" dirty="0">
                <a:solidFill>
                  <a:srgbClr val="B0C4D8"/>
                </a:solidFill>
              </a:rPr>
              <a:t>Registratie</a:t>
            </a:r>
          </a:p>
          <a:p>
            <a:pPr algn="ctr"/>
            <a:r>
              <a:rPr lang="nl-BE" sz="2400" dirty="0">
                <a:solidFill>
                  <a:srgbClr val="B0C4D8"/>
                </a:solidFill>
              </a:rPr>
              <a:t>Inloggen</a:t>
            </a:r>
          </a:p>
          <a:p>
            <a:pPr algn="ctr"/>
            <a:r>
              <a:rPr lang="nl-BE" sz="2400" b="0" i="0" dirty="0">
                <a:solidFill>
                  <a:srgbClr val="B0C4D8"/>
                </a:solidFill>
              </a:rPr>
              <a:t>Profielbeheer</a:t>
            </a:r>
          </a:p>
          <a:p>
            <a:pPr algn="ctr"/>
            <a:r>
              <a:rPr lang="nl-BE" sz="2400" dirty="0">
                <a:solidFill>
                  <a:srgbClr val="B0C4D8"/>
                </a:solidFill>
              </a:rPr>
              <a:t>Verkeerskaar weergave</a:t>
            </a:r>
          </a:p>
          <a:p>
            <a:pPr algn="ctr"/>
            <a:r>
              <a:rPr lang="nl-BE" sz="2400" b="0" i="0" dirty="0">
                <a:solidFill>
                  <a:srgbClr val="B0C4D8"/>
                </a:solidFill>
              </a:rPr>
              <a:t>Scenario selectie</a:t>
            </a:r>
            <a:endParaRPr sz="2400" b="0" i="0" dirty="0">
              <a:solidFill>
                <a:srgbClr val="B0C4D8"/>
              </a:solidFill>
            </a:endParaRPr>
          </a:p>
        </p:txBody>
      </p:sp>
      <p:sp>
        <p:nvSpPr>
          <p:cNvPr id="19" name="Rectangle 18"/>
          <p:cNvSpPr/>
          <p:nvPr/>
        </p:nvSpPr>
        <p:spPr>
          <a:xfrm>
            <a:off x="8065008" y="3794760"/>
            <a:ext cx="3749039" cy="2606040"/>
          </a:xfrm>
          <a:prstGeom prst="rect">
            <a:avLst/>
          </a:prstGeom>
          <a:solidFill>
            <a:srgbClr val="16283E"/>
          </a:solidFill>
          <a:ln w="25400">
            <a:solidFill>
              <a:srgbClr val="00C85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065008" y="3794760"/>
            <a:ext cx="3749039" cy="45720"/>
          </a:xfrm>
          <a:prstGeom prst="rect">
            <a:avLst/>
          </a:prstGeom>
          <a:solidFill>
            <a:srgbClr val="00C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247888" y="3977640"/>
            <a:ext cx="3383280" cy="461665"/>
          </a:xfrm>
          <a:prstGeom prst="rect">
            <a:avLst/>
          </a:prstGeom>
          <a:noFill/>
        </p:spPr>
        <p:txBody>
          <a:bodyPr wrap="square">
            <a:spAutoFit/>
          </a:bodyPr>
          <a:lstStyle/>
          <a:p>
            <a:pPr algn="ctr"/>
            <a:r>
              <a:rPr lang="nl-BE" sz="2400" b="1" i="0" dirty="0">
                <a:solidFill>
                  <a:srgbClr val="00C853"/>
                </a:solidFill>
              </a:rPr>
              <a:t>Story points</a:t>
            </a:r>
            <a:endParaRPr sz="2400" b="1" i="0" dirty="0">
              <a:solidFill>
                <a:srgbClr val="00C853"/>
              </a:solidFill>
            </a:endParaRPr>
          </a:p>
        </p:txBody>
      </p:sp>
      <p:sp>
        <p:nvSpPr>
          <p:cNvPr id="23" name="TextBox 22"/>
          <p:cNvSpPr txBox="1"/>
          <p:nvPr/>
        </p:nvSpPr>
        <p:spPr>
          <a:xfrm>
            <a:off x="8247888" y="4526280"/>
            <a:ext cx="3383280" cy="461665"/>
          </a:xfrm>
          <a:prstGeom prst="rect">
            <a:avLst/>
          </a:prstGeom>
          <a:noFill/>
        </p:spPr>
        <p:txBody>
          <a:bodyPr wrap="square">
            <a:spAutoFit/>
          </a:bodyPr>
          <a:lstStyle/>
          <a:p>
            <a:pPr algn="ctr"/>
            <a:r>
              <a:rPr lang="nl-BE" sz="2400" b="0" i="0" dirty="0">
                <a:solidFill>
                  <a:srgbClr val="B0C4D8"/>
                </a:solidFill>
              </a:rPr>
              <a:t>69</a:t>
            </a:r>
            <a:endParaRPr sz="2400" b="0" i="0" dirty="0">
              <a:solidFill>
                <a:srgbClr val="B0C4D8"/>
              </a:solidFill>
            </a:endParaRPr>
          </a:p>
        </p:txBody>
      </p:sp>
      <p:sp>
        <p:nvSpPr>
          <p:cNvPr id="26" name="Tijdelijke aanduiding voor dianummer 25">
            <a:extLst>
              <a:ext uri="{FF2B5EF4-FFF2-40B4-BE49-F238E27FC236}">
                <a16:creationId xmlns:a16="http://schemas.microsoft.com/office/drawing/2014/main" id="{438CA4F7-919D-2DB6-6036-68C3C89BA8CE}"/>
              </a:ext>
            </a:extLst>
          </p:cNvPr>
          <p:cNvSpPr>
            <a:spLocks noGrp="1"/>
          </p:cNvSpPr>
          <p:nvPr>
            <p:ph type="sldNum" sz="quarter" idx="12"/>
          </p:nvPr>
        </p:nvSpPr>
        <p:spPr>
          <a:xfrm>
            <a:off x="10055225" y="6484366"/>
            <a:ext cx="2133600" cy="365125"/>
          </a:xfrm>
        </p:spPr>
        <p:txBody>
          <a:bodyPr/>
          <a:lstStyle/>
          <a:p>
            <a:fld id="{C1FF6DA9-008F-8B48-92A6-B652298478BF}" type="slidenum">
              <a:rPr lang="en-US" smtClean="0"/>
              <a:t>6</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p:bldP spid="9" grpId="0" animBg="1"/>
      <p:bldP spid="10" grpId="0" animBg="1"/>
      <p:bldP spid="12" grpId="0"/>
      <p:bldP spid="13" grpId="0"/>
      <p:bldP spid="14" grpId="0" animBg="1"/>
      <p:bldP spid="15" grpId="0" animBg="1"/>
      <p:bldP spid="17" grpId="0"/>
      <p:bldP spid="18" grpId="0"/>
      <p:bldP spid="19" grpId="0" animBg="1"/>
      <p:bldP spid="20" grpId="0" animBg="1"/>
      <p:bldP spid="22" grpId="0"/>
      <p:bldP spid="23"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C1F6D684-7DBE-C976-D72A-7B363EDCD36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B764938-A53A-49CD-D626-686A5AD95BE2}"/>
              </a:ext>
            </a:extLst>
          </p:cNvPr>
          <p:cNvSpPr/>
          <p:nvPr/>
        </p:nvSpPr>
        <p:spPr>
          <a:xfrm>
            <a:off x="0" y="0"/>
            <a:ext cx="91440" cy="6858000"/>
          </a:xfrm>
          <a:prstGeom prst="rect">
            <a:avLst/>
          </a:prstGeom>
          <a:solidFill>
            <a:srgbClr val="00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Rectangle 2">
            <a:extLst>
              <a:ext uri="{FF2B5EF4-FFF2-40B4-BE49-F238E27FC236}">
                <a16:creationId xmlns:a16="http://schemas.microsoft.com/office/drawing/2014/main" id="{374AEEEF-E37E-B070-32CC-6EDD6D68FC5F}"/>
              </a:ext>
            </a:extLst>
          </p:cNvPr>
          <p:cNvSpPr/>
          <p:nvPr/>
        </p:nvSpPr>
        <p:spPr>
          <a:xfrm>
            <a:off x="0" y="6803136"/>
            <a:ext cx="12188952" cy="54864"/>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a:extLst>
              <a:ext uri="{FF2B5EF4-FFF2-40B4-BE49-F238E27FC236}">
                <a16:creationId xmlns:a16="http://schemas.microsoft.com/office/drawing/2014/main" id="{CF35359F-75D4-32B9-0D24-0DC3C5DBF32F}"/>
              </a:ext>
            </a:extLst>
          </p:cNvPr>
          <p:cNvSpPr txBox="1"/>
          <p:nvPr/>
        </p:nvSpPr>
        <p:spPr>
          <a:xfrm>
            <a:off x="1371600" y="1518954"/>
            <a:ext cx="9144000" cy="2308324"/>
          </a:xfrm>
          <a:prstGeom prst="rect">
            <a:avLst/>
          </a:prstGeom>
          <a:noFill/>
        </p:spPr>
        <p:txBody>
          <a:bodyPr wrap="square">
            <a:spAutoFit/>
          </a:bodyPr>
          <a:lstStyle/>
          <a:p>
            <a:pPr algn="ctr">
              <a:defRPr/>
            </a:pPr>
            <a:r>
              <a:rPr lang="nl-BE" sz="7200" b="1" dirty="0">
                <a:solidFill>
                  <a:srgbClr val="0099FF"/>
                </a:solidFill>
              </a:rPr>
              <a:t>Planning </a:t>
            </a:r>
            <a:r>
              <a:rPr lang="nl-BE" sz="7200" b="1" dirty="0" err="1">
                <a:solidFill>
                  <a:srgbClr val="0099FF"/>
                </a:solidFill>
              </a:rPr>
              <a:t>vs</a:t>
            </a:r>
            <a:r>
              <a:rPr lang="nl-BE" sz="7200" b="1" dirty="0">
                <a:solidFill>
                  <a:srgbClr val="0099FF"/>
                </a:solidFill>
              </a:rPr>
              <a:t> Realisatie</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nl-BE" sz="7200" b="1" i="0" u="none" strike="noStrike" kern="1200" cap="none" spc="0" normalizeH="0" baseline="0" noProof="0" dirty="0">
              <a:ln>
                <a:noFill/>
              </a:ln>
              <a:solidFill>
                <a:srgbClr val="0099FF"/>
              </a:solidFill>
              <a:effectLst/>
              <a:uLnTx/>
              <a:uFillTx/>
              <a:latin typeface="Calibri"/>
              <a:ea typeface="+mn-ea"/>
              <a:cs typeface="+mn-cs"/>
            </a:endParaRPr>
          </a:p>
        </p:txBody>
      </p:sp>
      <p:sp>
        <p:nvSpPr>
          <p:cNvPr id="6" name="Rectangle 5">
            <a:extLst>
              <a:ext uri="{FF2B5EF4-FFF2-40B4-BE49-F238E27FC236}">
                <a16:creationId xmlns:a16="http://schemas.microsoft.com/office/drawing/2014/main" id="{4F55075F-AEAE-E4E7-DC21-5685424D1C2A}"/>
              </a:ext>
            </a:extLst>
          </p:cNvPr>
          <p:cNvSpPr/>
          <p:nvPr/>
        </p:nvSpPr>
        <p:spPr>
          <a:xfrm>
            <a:off x="4114800" y="3794760"/>
            <a:ext cx="3959352" cy="36576"/>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Tijdelijke aanduiding voor dianummer 12">
            <a:extLst>
              <a:ext uri="{FF2B5EF4-FFF2-40B4-BE49-F238E27FC236}">
                <a16:creationId xmlns:a16="http://schemas.microsoft.com/office/drawing/2014/main" id="{4503E777-2693-4C77-58A2-E118A9DB7D66}"/>
              </a:ext>
            </a:extLst>
          </p:cNvPr>
          <p:cNvSpPr>
            <a:spLocks noGrp="1"/>
          </p:cNvSpPr>
          <p:nvPr>
            <p:ph type="sldNum" sz="quarter" idx="12"/>
          </p:nvPr>
        </p:nvSpPr>
        <p:spPr>
          <a:xfrm>
            <a:off x="10055225" y="6483731"/>
            <a:ext cx="21336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1FF6DA9-008F-8B48-92A6-B652298478B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3139620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73152" cy="1005840"/>
          </a:xfrm>
          <a:prstGeom prst="rect">
            <a:avLst/>
          </a:prstGeom>
          <a:solidFill>
            <a:srgbClr val="FF6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01168" y="73152"/>
            <a:ext cx="3623941" cy="553998"/>
          </a:xfrm>
          <a:prstGeom prst="rect">
            <a:avLst/>
          </a:prstGeom>
          <a:noFill/>
        </p:spPr>
        <p:txBody>
          <a:bodyPr wrap="none">
            <a:spAutoFit/>
          </a:bodyPr>
          <a:lstStyle/>
          <a:p>
            <a:r>
              <a:rPr lang="nl-BE" sz="3000" b="1" dirty="0">
                <a:solidFill>
                  <a:srgbClr val="FFFFFF"/>
                </a:solidFill>
              </a:rPr>
              <a:t>Planning </a:t>
            </a:r>
            <a:r>
              <a:rPr lang="nl-BE" sz="3000" b="1" dirty="0" err="1">
                <a:solidFill>
                  <a:srgbClr val="FFFFFF"/>
                </a:solidFill>
              </a:rPr>
              <a:t>vs</a:t>
            </a:r>
            <a:r>
              <a:rPr lang="nl-BE" sz="3000" b="1" dirty="0">
                <a:solidFill>
                  <a:srgbClr val="FFFFFF"/>
                </a:solidFill>
              </a:rPr>
              <a:t> Realisatie</a:t>
            </a:r>
            <a:endParaRPr sz="3000" b="1" dirty="0">
              <a:solidFill>
                <a:srgbClr val="FFFFFF"/>
              </a:solidFill>
            </a:endParaRPr>
          </a:p>
        </p:txBody>
      </p:sp>
      <p:sp>
        <p:nvSpPr>
          <p:cNvPr id="6" name="Rectangle 5"/>
          <p:cNvSpPr/>
          <p:nvPr/>
        </p:nvSpPr>
        <p:spPr>
          <a:xfrm>
            <a:off x="274320" y="1188720"/>
            <a:ext cx="11640312" cy="1417320"/>
          </a:xfrm>
          <a:prstGeom prst="rect">
            <a:avLst/>
          </a:prstGeom>
          <a:solidFill>
            <a:srgbClr val="0A1E35"/>
          </a:solidFill>
          <a:ln w="31750">
            <a:solidFill>
              <a:srgbClr val="FF6500"/>
            </a:solidFill>
          </a:ln>
        </p:spPr>
        <p:style>
          <a:lnRef idx="1">
            <a:schemeClr val="accent1"/>
          </a:lnRef>
          <a:fillRef idx="3">
            <a:schemeClr val="accent1"/>
          </a:fillRef>
          <a:effectRef idx="2">
            <a:schemeClr val="accent1"/>
          </a:effectRef>
          <a:fontRef idx="minor">
            <a:schemeClr val="lt1"/>
          </a:fontRef>
        </p:style>
        <p:txBody>
          <a:bodyPr rtlCol="0" anchor="ctr"/>
          <a:lstStyle/>
          <a:p>
            <a:pPr lvl="1"/>
            <a:r>
              <a:rPr lang="nl-BE" i="1" dirty="0"/>
              <a:t>We probeerden elke week de geplande taken en user </a:t>
            </a:r>
            <a:r>
              <a:rPr lang="nl-BE" i="1" dirty="0" err="1"/>
              <a:t>stories</a:t>
            </a:r>
            <a:r>
              <a:rPr lang="nl-BE" i="1" dirty="0"/>
              <a:t> te realiseren, zodat het overzichtelijk bleef en we niet bleven vastzitten door het uitstellen van eventuele bugs. Als er achteraf nog bugs bijkwamen, moesten die eerst opgelost worden, maar op dat moment moest alles vooral werken.</a:t>
            </a:r>
            <a:endParaRPr i="1" dirty="0"/>
          </a:p>
        </p:txBody>
      </p:sp>
      <p:sp>
        <p:nvSpPr>
          <p:cNvPr id="7" name="Rectangle 6"/>
          <p:cNvSpPr/>
          <p:nvPr/>
        </p:nvSpPr>
        <p:spPr>
          <a:xfrm>
            <a:off x="274320" y="1188720"/>
            <a:ext cx="128016" cy="1417320"/>
          </a:xfrm>
          <a:prstGeom prst="rect">
            <a:avLst/>
          </a:prstGeom>
          <a:solidFill>
            <a:srgbClr val="FF6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1207008"/>
            <a:ext cx="2743200" cy="292388"/>
          </a:xfrm>
          <a:prstGeom prst="rect">
            <a:avLst/>
          </a:prstGeom>
          <a:noFill/>
        </p:spPr>
        <p:txBody>
          <a:bodyPr wrap="square">
            <a:spAutoFit/>
          </a:bodyPr>
          <a:lstStyle/>
          <a:p>
            <a:pPr algn="l"/>
            <a:r>
              <a:rPr lang="nl-BE" sz="1300" b="1" dirty="0">
                <a:solidFill>
                  <a:srgbClr val="FF6500"/>
                </a:solidFill>
              </a:rPr>
              <a:t>Planning</a:t>
            </a:r>
            <a:endParaRPr sz="1300" b="1" i="0" dirty="0">
              <a:solidFill>
                <a:srgbClr val="FF6500"/>
              </a:solidFill>
            </a:endParaRPr>
          </a:p>
        </p:txBody>
      </p:sp>
      <p:sp>
        <p:nvSpPr>
          <p:cNvPr id="10" name="Rectangle 9"/>
          <p:cNvSpPr/>
          <p:nvPr/>
        </p:nvSpPr>
        <p:spPr>
          <a:xfrm>
            <a:off x="274320" y="2834640"/>
            <a:ext cx="3813048" cy="1691640"/>
          </a:xfrm>
          <a:prstGeom prst="rect">
            <a:avLst/>
          </a:prstGeom>
          <a:solidFill>
            <a:srgbClr val="16283E"/>
          </a:solidFill>
          <a:ln w="19050">
            <a:solidFill>
              <a:srgbClr val="009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74320" y="2834640"/>
            <a:ext cx="3813048" cy="45720"/>
          </a:xfrm>
          <a:prstGeom prst="rect">
            <a:avLst/>
          </a:prstGeom>
          <a:solidFill>
            <a:srgbClr val="00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84048" y="2944368"/>
            <a:ext cx="457200" cy="274320"/>
          </a:xfrm>
          <a:prstGeom prst="roundRect">
            <a:avLst/>
          </a:prstGeom>
          <a:solidFill>
            <a:srgbClr val="00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38326" y="2944368"/>
            <a:ext cx="548640" cy="261610"/>
          </a:xfrm>
          <a:prstGeom prst="rect">
            <a:avLst/>
          </a:prstGeom>
          <a:noFill/>
        </p:spPr>
        <p:txBody>
          <a:bodyPr wrap="square">
            <a:spAutoFit/>
          </a:bodyPr>
          <a:lstStyle/>
          <a:p>
            <a:pPr algn="ctr"/>
            <a:r>
              <a:rPr lang="nl-BE" sz="1100" b="1" dirty="0">
                <a:solidFill>
                  <a:srgbClr val="0D1B2A"/>
                </a:solidFill>
              </a:rPr>
              <a:t>WK</a:t>
            </a:r>
            <a:r>
              <a:rPr sz="1100" b="1" i="0" dirty="0">
                <a:solidFill>
                  <a:srgbClr val="0D1B2A"/>
                </a:solidFill>
              </a:rPr>
              <a:t>1</a:t>
            </a:r>
          </a:p>
        </p:txBody>
      </p:sp>
      <p:sp>
        <p:nvSpPr>
          <p:cNvPr id="15" name="TextBox 14"/>
          <p:cNvSpPr txBox="1"/>
          <p:nvPr/>
        </p:nvSpPr>
        <p:spPr>
          <a:xfrm>
            <a:off x="411480" y="3310128"/>
            <a:ext cx="3538728" cy="830997"/>
          </a:xfrm>
          <a:prstGeom prst="rect">
            <a:avLst/>
          </a:prstGeom>
          <a:noFill/>
        </p:spPr>
        <p:txBody>
          <a:bodyPr wrap="square">
            <a:spAutoFit/>
          </a:bodyPr>
          <a:lstStyle/>
          <a:p>
            <a:pPr algn="l"/>
            <a:r>
              <a:rPr lang="nl-BE" sz="2400" b="0" i="0" dirty="0">
                <a:solidFill>
                  <a:srgbClr val="B0C4D8"/>
                </a:solidFill>
              </a:rPr>
              <a:t>Inloggen</a:t>
            </a:r>
          </a:p>
          <a:p>
            <a:pPr algn="l"/>
            <a:r>
              <a:rPr lang="nl-BE" sz="2400" dirty="0">
                <a:solidFill>
                  <a:srgbClr val="B0C4D8"/>
                </a:solidFill>
              </a:rPr>
              <a:t>Registeren</a:t>
            </a:r>
            <a:endParaRPr sz="2400" b="0" i="0" dirty="0">
              <a:solidFill>
                <a:srgbClr val="B0C4D8"/>
              </a:solidFill>
            </a:endParaRPr>
          </a:p>
        </p:txBody>
      </p:sp>
      <p:sp>
        <p:nvSpPr>
          <p:cNvPr id="16" name="Rectangle 15"/>
          <p:cNvSpPr/>
          <p:nvPr/>
        </p:nvSpPr>
        <p:spPr>
          <a:xfrm>
            <a:off x="4224528" y="2834640"/>
            <a:ext cx="3813048" cy="1691640"/>
          </a:xfrm>
          <a:prstGeom prst="rect">
            <a:avLst/>
          </a:prstGeom>
          <a:solidFill>
            <a:srgbClr val="16283E"/>
          </a:solidFill>
          <a:ln w="19050">
            <a:solidFill>
              <a:srgbClr val="00E5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224528" y="2834640"/>
            <a:ext cx="3813048" cy="45720"/>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334256" y="2944368"/>
            <a:ext cx="457200" cy="274320"/>
          </a:xfrm>
          <a:prstGeom prst="round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315968" y="2952393"/>
            <a:ext cx="502920" cy="430887"/>
          </a:xfrm>
          <a:prstGeom prst="rect">
            <a:avLst/>
          </a:prstGeom>
          <a:noFill/>
        </p:spPr>
        <p:txBody>
          <a:bodyPr wrap="square">
            <a:spAutoFit/>
          </a:bodyPr>
          <a:lstStyle/>
          <a:p>
            <a:pPr algn="ctr"/>
            <a:r>
              <a:rPr lang="nl-BE" sz="1100" b="1" dirty="0">
                <a:solidFill>
                  <a:srgbClr val="0D1B2A"/>
                </a:solidFill>
              </a:rPr>
              <a:t>WK2</a:t>
            </a:r>
          </a:p>
          <a:p>
            <a:pPr algn="ctr"/>
            <a:endParaRPr sz="1100" b="1" i="0" dirty="0">
              <a:solidFill>
                <a:srgbClr val="0D1B2A"/>
              </a:solidFill>
            </a:endParaRPr>
          </a:p>
        </p:txBody>
      </p:sp>
      <p:sp>
        <p:nvSpPr>
          <p:cNvPr id="20" name="TextBox 19"/>
          <p:cNvSpPr txBox="1"/>
          <p:nvPr/>
        </p:nvSpPr>
        <p:spPr>
          <a:xfrm>
            <a:off x="4882896" y="2944368"/>
            <a:ext cx="3017520" cy="292608"/>
          </a:xfrm>
          <a:prstGeom prst="rect">
            <a:avLst/>
          </a:prstGeom>
          <a:noFill/>
        </p:spPr>
        <p:txBody>
          <a:bodyPr wrap="square">
            <a:spAutoFit/>
          </a:bodyPr>
          <a:lstStyle/>
          <a:p>
            <a:pPr algn="l"/>
            <a:r>
              <a:rPr lang="nl-BE" sz="1300" b="1" dirty="0">
                <a:solidFill>
                  <a:srgbClr val="00E596"/>
                </a:solidFill>
              </a:rPr>
              <a:t>User </a:t>
            </a:r>
            <a:r>
              <a:rPr lang="nl-BE" sz="1300" b="1" dirty="0" err="1">
                <a:solidFill>
                  <a:srgbClr val="00E596"/>
                </a:solidFill>
              </a:rPr>
              <a:t>stories</a:t>
            </a:r>
            <a:endParaRPr sz="1300" b="1" i="0" dirty="0">
              <a:solidFill>
                <a:srgbClr val="00E596"/>
              </a:solidFill>
            </a:endParaRPr>
          </a:p>
        </p:txBody>
      </p:sp>
      <p:sp>
        <p:nvSpPr>
          <p:cNvPr id="21" name="TextBox 20"/>
          <p:cNvSpPr txBox="1"/>
          <p:nvPr/>
        </p:nvSpPr>
        <p:spPr>
          <a:xfrm>
            <a:off x="4361688" y="3310128"/>
            <a:ext cx="3538728" cy="461665"/>
          </a:xfrm>
          <a:prstGeom prst="rect">
            <a:avLst/>
          </a:prstGeom>
          <a:noFill/>
        </p:spPr>
        <p:txBody>
          <a:bodyPr wrap="square">
            <a:spAutoFit/>
          </a:bodyPr>
          <a:lstStyle/>
          <a:p>
            <a:pPr algn="l"/>
            <a:r>
              <a:rPr lang="nl-BE" sz="2400" b="0" i="0" dirty="0">
                <a:solidFill>
                  <a:srgbClr val="B0C4D8"/>
                </a:solidFill>
              </a:rPr>
              <a:t>Profielbeheer</a:t>
            </a:r>
            <a:endParaRPr sz="2400" b="0" i="0" dirty="0">
              <a:solidFill>
                <a:srgbClr val="B0C4D8"/>
              </a:solidFill>
            </a:endParaRPr>
          </a:p>
        </p:txBody>
      </p:sp>
      <p:sp>
        <p:nvSpPr>
          <p:cNvPr id="22" name="Rectangle 21"/>
          <p:cNvSpPr/>
          <p:nvPr/>
        </p:nvSpPr>
        <p:spPr>
          <a:xfrm>
            <a:off x="8174736" y="2834640"/>
            <a:ext cx="3813048" cy="1691640"/>
          </a:xfrm>
          <a:prstGeom prst="rect">
            <a:avLst/>
          </a:prstGeom>
          <a:solidFill>
            <a:srgbClr val="16283E"/>
          </a:solidFill>
          <a:ln w="19050">
            <a:solidFill>
              <a:srgbClr val="FFB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174736" y="2834640"/>
            <a:ext cx="3813048" cy="45720"/>
          </a:xfrm>
          <a:prstGeom prst="rect">
            <a:avLst/>
          </a:prstGeom>
          <a:solidFill>
            <a:srgbClr val="FFB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8284464" y="2944368"/>
            <a:ext cx="457200" cy="274320"/>
          </a:xfrm>
          <a:prstGeom prst="roundRect">
            <a:avLst/>
          </a:prstGeom>
          <a:solidFill>
            <a:srgbClr val="FFB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238744" y="2944368"/>
            <a:ext cx="548640" cy="430887"/>
          </a:xfrm>
          <a:prstGeom prst="rect">
            <a:avLst/>
          </a:prstGeom>
          <a:noFill/>
        </p:spPr>
        <p:txBody>
          <a:bodyPr wrap="square">
            <a:spAutoFit/>
          </a:bodyPr>
          <a:lstStyle/>
          <a:p>
            <a:pPr algn="ctr"/>
            <a:r>
              <a:rPr lang="nl-BE" sz="1100" b="1" dirty="0">
                <a:solidFill>
                  <a:srgbClr val="0D1B2A"/>
                </a:solidFill>
              </a:rPr>
              <a:t>WK3</a:t>
            </a:r>
          </a:p>
          <a:p>
            <a:pPr algn="ctr"/>
            <a:endParaRPr sz="1100" b="1" i="0" dirty="0">
              <a:solidFill>
                <a:srgbClr val="0D1B2A"/>
              </a:solidFill>
            </a:endParaRPr>
          </a:p>
        </p:txBody>
      </p:sp>
      <p:sp>
        <p:nvSpPr>
          <p:cNvPr id="26" name="TextBox 25"/>
          <p:cNvSpPr txBox="1"/>
          <p:nvPr/>
        </p:nvSpPr>
        <p:spPr>
          <a:xfrm>
            <a:off x="8833104" y="2944368"/>
            <a:ext cx="3017520" cy="292608"/>
          </a:xfrm>
          <a:prstGeom prst="rect">
            <a:avLst/>
          </a:prstGeom>
          <a:noFill/>
        </p:spPr>
        <p:txBody>
          <a:bodyPr wrap="square">
            <a:spAutoFit/>
          </a:bodyPr>
          <a:lstStyle/>
          <a:p>
            <a:pPr algn="l"/>
            <a:r>
              <a:rPr lang="nl-BE" sz="1300" b="1" dirty="0">
                <a:solidFill>
                  <a:srgbClr val="FFBF00"/>
                </a:solidFill>
              </a:rPr>
              <a:t>User </a:t>
            </a:r>
            <a:r>
              <a:rPr lang="nl-BE" sz="1300" b="1" dirty="0" err="1">
                <a:solidFill>
                  <a:srgbClr val="FFBF00"/>
                </a:solidFill>
              </a:rPr>
              <a:t>stories</a:t>
            </a:r>
            <a:endParaRPr sz="1300" b="1" i="0" dirty="0">
              <a:solidFill>
                <a:srgbClr val="FFBF00"/>
              </a:solidFill>
            </a:endParaRPr>
          </a:p>
        </p:txBody>
      </p:sp>
      <p:sp>
        <p:nvSpPr>
          <p:cNvPr id="27" name="TextBox 26"/>
          <p:cNvSpPr txBox="1"/>
          <p:nvPr/>
        </p:nvSpPr>
        <p:spPr>
          <a:xfrm>
            <a:off x="8311896" y="3310128"/>
            <a:ext cx="3538728" cy="830997"/>
          </a:xfrm>
          <a:prstGeom prst="rect">
            <a:avLst/>
          </a:prstGeom>
          <a:noFill/>
        </p:spPr>
        <p:txBody>
          <a:bodyPr wrap="square">
            <a:spAutoFit/>
          </a:bodyPr>
          <a:lstStyle/>
          <a:p>
            <a:pPr algn="l"/>
            <a:r>
              <a:rPr lang="nl-BE" sz="2400" b="0" i="0" dirty="0">
                <a:solidFill>
                  <a:srgbClr val="B0C4D8"/>
                </a:solidFill>
              </a:rPr>
              <a:t>Verkeerskaart weergave</a:t>
            </a:r>
          </a:p>
          <a:p>
            <a:pPr algn="l"/>
            <a:r>
              <a:rPr lang="nl-BE" sz="2400" dirty="0">
                <a:solidFill>
                  <a:srgbClr val="B0C4D8"/>
                </a:solidFill>
              </a:rPr>
              <a:t>Scenario selectie</a:t>
            </a:r>
            <a:endParaRPr sz="2400" b="0" i="0" dirty="0">
              <a:solidFill>
                <a:srgbClr val="B0C4D8"/>
              </a:solidFill>
            </a:endParaRPr>
          </a:p>
        </p:txBody>
      </p:sp>
      <p:sp>
        <p:nvSpPr>
          <p:cNvPr id="28" name="Rectangle 27"/>
          <p:cNvSpPr/>
          <p:nvPr/>
        </p:nvSpPr>
        <p:spPr>
          <a:xfrm>
            <a:off x="274320" y="4690872"/>
            <a:ext cx="3813048" cy="1691640"/>
          </a:xfrm>
          <a:prstGeom prst="rect">
            <a:avLst/>
          </a:prstGeom>
          <a:solidFill>
            <a:srgbClr val="16283E"/>
          </a:solidFill>
          <a:ln w="19050">
            <a:solidFill>
              <a:srgbClr val="AB47B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274320" y="4690872"/>
            <a:ext cx="3813048" cy="45720"/>
          </a:xfrm>
          <a:prstGeom prst="rect">
            <a:avLst/>
          </a:prstGeom>
          <a:solidFill>
            <a:srgbClr val="AB47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384048" y="4800600"/>
            <a:ext cx="457200" cy="274320"/>
          </a:xfrm>
          <a:prstGeom prst="roundRect">
            <a:avLst/>
          </a:prstGeom>
          <a:solidFill>
            <a:srgbClr val="AB47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84047" y="4800600"/>
            <a:ext cx="502919" cy="261610"/>
          </a:xfrm>
          <a:prstGeom prst="rect">
            <a:avLst/>
          </a:prstGeom>
          <a:noFill/>
        </p:spPr>
        <p:txBody>
          <a:bodyPr wrap="square">
            <a:spAutoFit/>
          </a:bodyPr>
          <a:lstStyle/>
          <a:p>
            <a:pPr algn="ctr"/>
            <a:r>
              <a:rPr lang="nl-BE" sz="1100" b="1" dirty="0">
                <a:solidFill>
                  <a:srgbClr val="0D1B2A"/>
                </a:solidFill>
              </a:rPr>
              <a:t>WK</a:t>
            </a:r>
            <a:r>
              <a:rPr sz="1100" b="1" i="0" dirty="0">
                <a:solidFill>
                  <a:srgbClr val="0D1B2A"/>
                </a:solidFill>
              </a:rPr>
              <a:t>4</a:t>
            </a:r>
          </a:p>
        </p:txBody>
      </p:sp>
      <p:sp>
        <p:nvSpPr>
          <p:cNvPr id="32" name="TextBox 31"/>
          <p:cNvSpPr txBox="1"/>
          <p:nvPr/>
        </p:nvSpPr>
        <p:spPr>
          <a:xfrm>
            <a:off x="932688" y="4800600"/>
            <a:ext cx="3017520" cy="292608"/>
          </a:xfrm>
          <a:prstGeom prst="rect">
            <a:avLst/>
          </a:prstGeom>
          <a:noFill/>
        </p:spPr>
        <p:txBody>
          <a:bodyPr wrap="square">
            <a:spAutoFit/>
          </a:bodyPr>
          <a:lstStyle/>
          <a:p>
            <a:pPr algn="l"/>
            <a:r>
              <a:rPr lang="nl-BE" sz="1300" b="1" dirty="0">
                <a:solidFill>
                  <a:srgbClr val="AB47BC"/>
                </a:solidFill>
              </a:rPr>
              <a:t>User </a:t>
            </a:r>
            <a:r>
              <a:rPr lang="nl-BE" sz="1300" b="1" dirty="0" err="1">
                <a:solidFill>
                  <a:srgbClr val="AB47BC"/>
                </a:solidFill>
              </a:rPr>
              <a:t>stories</a:t>
            </a:r>
            <a:endParaRPr sz="1300" b="1" i="0" dirty="0">
              <a:solidFill>
                <a:srgbClr val="AB47BC"/>
              </a:solidFill>
            </a:endParaRPr>
          </a:p>
        </p:txBody>
      </p:sp>
      <p:sp>
        <p:nvSpPr>
          <p:cNvPr id="33" name="TextBox 32"/>
          <p:cNvSpPr txBox="1"/>
          <p:nvPr/>
        </p:nvSpPr>
        <p:spPr>
          <a:xfrm>
            <a:off x="411480" y="5166360"/>
            <a:ext cx="3538728" cy="1200329"/>
          </a:xfrm>
          <a:prstGeom prst="rect">
            <a:avLst/>
          </a:prstGeom>
          <a:noFill/>
        </p:spPr>
        <p:txBody>
          <a:bodyPr wrap="square">
            <a:spAutoFit/>
          </a:bodyPr>
          <a:lstStyle/>
          <a:p>
            <a:pPr algn="l"/>
            <a:r>
              <a:rPr lang="nl-BE" sz="2400" b="0" i="0" dirty="0">
                <a:solidFill>
                  <a:srgbClr val="B0C4D8"/>
                </a:solidFill>
              </a:rPr>
              <a:t>Geen</a:t>
            </a:r>
          </a:p>
          <a:p>
            <a:pPr algn="l"/>
            <a:endParaRPr lang="nl-BE" sz="2400" dirty="0">
              <a:solidFill>
                <a:srgbClr val="B0C4D8"/>
              </a:solidFill>
            </a:endParaRPr>
          </a:p>
          <a:p>
            <a:pPr algn="l"/>
            <a:r>
              <a:rPr lang="nl-BE" sz="2400" b="0" i="0" dirty="0">
                <a:solidFill>
                  <a:srgbClr val="B0C4D8"/>
                </a:solidFill>
              </a:rPr>
              <a:t>Onderzoek RL</a:t>
            </a:r>
            <a:endParaRPr sz="2400" b="0" i="0" dirty="0">
              <a:solidFill>
                <a:srgbClr val="B0C4D8"/>
              </a:solidFill>
            </a:endParaRPr>
          </a:p>
        </p:txBody>
      </p:sp>
      <p:sp>
        <p:nvSpPr>
          <p:cNvPr id="40" name="Tijdelijke aanduiding voor dianummer 39">
            <a:extLst>
              <a:ext uri="{FF2B5EF4-FFF2-40B4-BE49-F238E27FC236}">
                <a16:creationId xmlns:a16="http://schemas.microsoft.com/office/drawing/2014/main" id="{59AD1A57-54CE-86F1-FCDE-9D66B2906AF0}"/>
              </a:ext>
            </a:extLst>
          </p:cNvPr>
          <p:cNvSpPr>
            <a:spLocks noGrp="1"/>
          </p:cNvSpPr>
          <p:nvPr>
            <p:ph type="sldNum" sz="quarter" idx="12"/>
          </p:nvPr>
        </p:nvSpPr>
        <p:spPr>
          <a:xfrm>
            <a:off x="10055352" y="6483731"/>
            <a:ext cx="2133600" cy="365125"/>
          </a:xfrm>
        </p:spPr>
        <p:txBody>
          <a:bodyPr/>
          <a:lstStyle/>
          <a:p>
            <a:fld id="{C1FF6DA9-008F-8B48-92A6-B652298478BF}" type="slidenum">
              <a:rPr lang="en-US" smtClean="0"/>
              <a:t>8</a:t>
            </a:fld>
            <a:endParaRPr lang="en-US" dirty="0"/>
          </a:p>
        </p:txBody>
      </p:sp>
      <p:sp>
        <p:nvSpPr>
          <p:cNvPr id="41" name="TextBox 19">
            <a:extLst>
              <a:ext uri="{FF2B5EF4-FFF2-40B4-BE49-F238E27FC236}">
                <a16:creationId xmlns:a16="http://schemas.microsoft.com/office/drawing/2014/main" id="{7D8E631E-B842-250A-F17D-389894DFD0CD}"/>
              </a:ext>
            </a:extLst>
          </p:cNvPr>
          <p:cNvSpPr txBox="1"/>
          <p:nvPr/>
        </p:nvSpPr>
        <p:spPr>
          <a:xfrm>
            <a:off x="886966" y="2941320"/>
            <a:ext cx="3017520" cy="292608"/>
          </a:xfrm>
          <a:prstGeom prst="rect">
            <a:avLst/>
          </a:prstGeom>
          <a:noFill/>
        </p:spPr>
        <p:txBody>
          <a:bodyPr wrap="square">
            <a:spAutoFit/>
          </a:bodyPr>
          <a:lstStyle/>
          <a:p>
            <a:pPr algn="l"/>
            <a:r>
              <a:rPr lang="nl-BE" sz="1300" b="1" dirty="0">
                <a:solidFill>
                  <a:srgbClr val="0099FF"/>
                </a:solidFill>
              </a:rPr>
              <a:t>User </a:t>
            </a:r>
            <a:r>
              <a:rPr lang="nl-BE" sz="1300" b="1" dirty="0" err="1">
                <a:solidFill>
                  <a:srgbClr val="0099FF"/>
                </a:solidFill>
              </a:rPr>
              <a:t>stories</a:t>
            </a:r>
            <a:endParaRPr sz="1300" b="1" i="0" dirty="0">
              <a:solidFill>
                <a:srgbClr val="0099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2"/>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6"/>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9"/>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0"/>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1"/>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8"/>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32"/>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p:bldP spid="10" grpId="0" animBg="1"/>
      <p:bldP spid="11" grpId="0" animBg="1"/>
      <p:bldP spid="12" grpId="0" animBg="1"/>
      <p:bldP spid="13" grpId="0"/>
      <p:bldP spid="15" grpId="0"/>
      <p:bldP spid="16" grpId="0" animBg="1"/>
      <p:bldP spid="17" grpId="0" animBg="1"/>
      <p:bldP spid="18" grpId="0" animBg="1"/>
      <p:bldP spid="19" grpId="0"/>
      <p:bldP spid="20" grpId="0"/>
      <p:bldP spid="21" grpId="0"/>
      <p:bldP spid="22" grpId="0" animBg="1"/>
      <p:bldP spid="23" grpId="0" animBg="1"/>
      <p:bldP spid="24" grpId="0" animBg="1"/>
      <p:bldP spid="25" grpId="0"/>
      <p:bldP spid="26" grpId="0"/>
      <p:bldP spid="27" grpId="0"/>
      <p:bldP spid="28" grpId="0" animBg="1"/>
      <p:bldP spid="29" grpId="0" animBg="1"/>
      <p:bldP spid="30" grpId="0" animBg="1"/>
      <p:bldP spid="31" grpId="0"/>
      <p:bldP spid="32" grpId="0"/>
      <p:bldP spid="33" grpId="0"/>
      <p:bldP spid="41"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D6BF263B-B9A7-0CAF-455C-6E77880F3E1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DDD60FA-5D56-A9F0-9817-C181F4FEAD45}"/>
              </a:ext>
            </a:extLst>
          </p:cNvPr>
          <p:cNvSpPr/>
          <p:nvPr/>
        </p:nvSpPr>
        <p:spPr>
          <a:xfrm>
            <a:off x="0" y="0"/>
            <a:ext cx="12188952"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Rectangle 2">
            <a:extLst>
              <a:ext uri="{FF2B5EF4-FFF2-40B4-BE49-F238E27FC236}">
                <a16:creationId xmlns:a16="http://schemas.microsoft.com/office/drawing/2014/main" id="{77189C73-F8ED-8466-883A-4BFCF07C91F5}"/>
              </a:ext>
            </a:extLst>
          </p:cNvPr>
          <p:cNvSpPr/>
          <p:nvPr/>
        </p:nvSpPr>
        <p:spPr>
          <a:xfrm>
            <a:off x="0" y="0"/>
            <a:ext cx="73152" cy="1005840"/>
          </a:xfrm>
          <a:prstGeom prst="rect">
            <a:avLst/>
          </a:prstGeom>
          <a:solidFill>
            <a:srgbClr val="FF6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a:extLst>
              <a:ext uri="{FF2B5EF4-FFF2-40B4-BE49-F238E27FC236}">
                <a16:creationId xmlns:a16="http://schemas.microsoft.com/office/drawing/2014/main" id="{10B6CE48-3B48-E50C-415D-E563B5E5FE37}"/>
              </a:ext>
            </a:extLst>
          </p:cNvPr>
          <p:cNvSpPr txBox="1"/>
          <p:nvPr/>
        </p:nvSpPr>
        <p:spPr>
          <a:xfrm>
            <a:off x="201168" y="73152"/>
            <a:ext cx="3623941" cy="553998"/>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nl-BE" sz="3000" b="1" i="0" u="none" strike="noStrike" kern="1200" cap="none" spc="0" normalizeH="0" baseline="0" noProof="0" dirty="0">
                <a:ln>
                  <a:noFill/>
                </a:ln>
                <a:solidFill>
                  <a:srgbClr val="FFFFFF"/>
                </a:solidFill>
                <a:effectLst/>
                <a:uLnTx/>
                <a:uFillTx/>
                <a:latin typeface="Calibri"/>
                <a:ea typeface="+mn-ea"/>
                <a:cs typeface="+mn-cs"/>
              </a:rPr>
              <a:t>Planning </a:t>
            </a:r>
            <a:r>
              <a:rPr kumimoji="0" lang="nl-BE" sz="3000" b="1" i="0" u="none" strike="noStrike" kern="1200" cap="none" spc="0" normalizeH="0" baseline="0" noProof="0" dirty="0" err="1">
                <a:ln>
                  <a:noFill/>
                </a:ln>
                <a:solidFill>
                  <a:srgbClr val="FFFFFF"/>
                </a:solidFill>
                <a:effectLst/>
                <a:uLnTx/>
                <a:uFillTx/>
                <a:latin typeface="Calibri"/>
                <a:ea typeface="+mn-ea"/>
                <a:cs typeface="+mn-cs"/>
              </a:rPr>
              <a:t>vs</a:t>
            </a:r>
            <a:r>
              <a:rPr kumimoji="0" lang="nl-BE" sz="3000" b="1" i="0" u="none" strike="noStrike" kern="1200" cap="none" spc="0" normalizeH="0" baseline="0" noProof="0" dirty="0">
                <a:ln>
                  <a:noFill/>
                </a:ln>
                <a:solidFill>
                  <a:srgbClr val="FFFFFF"/>
                </a:solidFill>
                <a:effectLst/>
                <a:uLnTx/>
                <a:uFillTx/>
                <a:latin typeface="Calibri"/>
                <a:ea typeface="+mn-ea"/>
                <a:cs typeface="+mn-cs"/>
              </a:rPr>
              <a:t> Realisatie</a:t>
            </a:r>
            <a:endParaRPr kumimoji="0" sz="3000" b="1" i="0" u="none" strike="noStrike" kern="1200" cap="none" spc="0" normalizeH="0" baseline="0" noProof="0" dirty="0">
              <a:ln>
                <a:noFill/>
              </a:ln>
              <a:solidFill>
                <a:srgbClr val="FFFFFF"/>
              </a:solidFill>
              <a:effectLst/>
              <a:uLnTx/>
              <a:uFillTx/>
              <a:latin typeface="Calibri"/>
              <a:ea typeface="+mn-ea"/>
              <a:cs typeface="+mn-cs"/>
            </a:endParaRPr>
          </a:p>
        </p:txBody>
      </p:sp>
      <p:sp>
        <p:nvSpPr>
          <p:cNvPr id="40" name="Tijdelijke aanduiding voor dianummer 39">
            <a:extLst>
              <a:ext uri="{FF2B5EF4-FFF2-40B4-BE49-F238E27FC236}">
                <a16:creationId xmlns:a16="http://schemas.microsoft.com/office/drawing/2014/main" id="{30C7BEEA-4EBE-036E-3E31-C00E2D57C43C}"/>
              </a:ext>
            </a:extLst>
          </p:cNvPr>
          <p:cNvSpPr>
            <a:spLocks noGrp="1"/>
          </p:cNvSpPr>
          <p:nvPr>
            <p:ph type="sldNum" sz="quarter" idx="12"/>
          </p:nvPr>
        </p:nvSpPr>
        <p:spPr>
          <a:xfrm>
            <a:off x="10055352" y="6483731"/>
            <a:ext cx="21336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1FF6DA9-008F-8B48-92A6-B652298478B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pic>
        <p:nvPicPr>
          <p:cNvPr id="34" name="Afbeelding 33">
            <a:extLst>
              <a:ext uri="{FF2B5EF4-FFF2-40B4-BE49-F238E27FC236}">
                <a16:creationId xmlns:a16="http://schemas.microsoft.com/office/drawing/2014/main" id="{72B0CC96-A379-0115-72F7-40A7C880ED34}"/>
              </a:ext>
            </a:extLst>
          </p:cNvPr>
          <p:cNvPicPr>
            <a:picLocks noChangeAspect="1"/>
          </p:cNvPicPr>
          <p:nvPr/>
        </p:nvPicPr>
        <p:blipFill>
          <a:blip r:embed="rId2"/>
          <a:stretch>
            <a:fillRect/>
          </a:stretch>
        </p:blipFill>
        <p:spPr>
          <a:xfrm>
            <a:off x="854931" y="1139460"/>
            <a:ext cx="10478962" cy="5344271"/>
          </a:xfrm>
          <a:prstGeom prst="rect">
            <a:avLst/>
          </a:prstGeom>
        </p:spPr>
      </p:pic>
    </p:spTree>
    <p:extLst>
      <p:ext uri="{BB962C8B-B14F-4D97-AF65-F5344CB8AC3E}">
        <p14:creationId xmlns:p14="http://schemas.microsoft.com/office/powerpoint/2010/main" val="1215504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3314D6C5-6BCE-2ADC-4BDF-099ADB27A09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2433EFB-9A89-98C7-7B65-CD51DBE4E141}"/>
              </a:ext>
            </a:extLst>
          </p:cNvPr>
          <p:cNvSpPr/>
          <p:nvPr/>
        </p:nvSpPr>
        <p:spPr>
          <a:xfrm>
            <a:off x="0" y="0"/>
            <a:ext cx="91440" cy="6858000"/>
          </a:xfrm>
          <a:prstGeom prst="rect">
            <a:avLst/>
          </a:prstGeom>
          <a:solidFill>
            <a:srgbClr val="00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Rectangle 2">
            <a:extLst>
              <a:ext uri="{FF2B5EF4-FFF2-40B4-BE49-F238E27FC236}">
                <a16:creationId xmlns:a16="http://schemas.microsoft.com/office/drawing/2014/main" id="{D2CF91F9-7805-E080-FA54-670C42681AC3}"/>
              </a:ext>
            </a:extLst>
          </p:cNvPr>
          <p:cNvSpPr/>
          <p:nvPr/>
        </p:nvSpPr>
        <p:spPr>
          <a:xfrm>
            <a:off x="0" y="6803136"/>
            <a:ext cx="12188952" cy="54864"/>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a:extLst>
              <a:ext uri="{FF2B5EF4-FFF2-40B4-BE49-F238E27FC236}">
                <a16:creationId xmlns:a16="http://schemas.microsoft.com/office/drawing/2014/main" id="{823869E9-D2A6-6037-082C-D9DC01437AE8}"/>
              </a:ext>
            </a:extLst>
          </p:cNvPr>
          <p:cNvSpPr txBox="1"/>
          <p:nvPr/>
        </p:nvSpPr>
        <p:spPr>
          <a:xfrm>
            <a:off x="1371600" y="1645920"/>
            <a:ext cx="9144000" cy="2308324"/>
          </a:xfrm>
          <a:prstGeom prst="rect">
            <a:avLst/>
          </a:prstGeom>
          <a:noFill/>
        </p:spPr>
        <p:txBody>
          <a:bodyPr wrap="square">
            <a:spAutoFit/>
          </a:bodyPr>
          <a:lstStyle/>
          <a:p>
            <a:pPr algn="ctr"/>
            <a:r>
              <a:rPr lang="nl-BE" sz="7200" b="1" dirty="0">
                <a:solidFill>
                  <a:srgbClr val="0099FF"/>
                </a:solidFill>
              </a:rPr>
              <a:t>Architectuurdiagram</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nl-BE" sz="7200" b="1" i="0" u="none" strike="noStrike" kern="1200" cap="none" spc="0" normalizeH="0" baseline="0" noProof="0" dirty="0">
              <a:ln>
                <a:noFill/>
              </a:ln>
              <a:solidFill>
                <a:srgbClr val="0099FF"/>
              </a:solidFill>
              <a:effectLst/>
              <a:uLnTx/>
              <a:uFillTx/>
              <a:latin typeface="Calibri"/>
              <a:ea typeface="+mn-ea"/>
              <a:cs typeface="+mn-cs"/>
            </a:endParaRPr>
          </a:p>
        </p:txBody>
      </p:sp>
      <p:sp>
        <p:nvSpPr>
          <p:cNvPr id="6" name="Rectangle 5">
            <a:extLst>
              <a:ext uri="{FF2B5EF4-FFF2-40B4-BE49-F238E27FC236}">
                <a16:creationId xmlns:a16="http://schemas.microsoft.com/office/drawing/2014/main" id="{3C206F67-0B42-F5BE-DFAB-572AF15FF6B0}"/>
              </a:ext>
            </a:extLst>
          </p:cNvPr>
          <p:cNvSpPr/>
          <p:nvPr/>
        </p:nvSpPr>
        <p:spPr>
          <a:xfrm>
            <a:off x="4114800" y="3794760"/>
            <a:ext cx="3959352" cy="36576"/>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Tijdelijke aanduiding voor dianummer 12">
            <a:extLst>
              <a:ext uri="{FF2B5EF4-FFF2-40B4-BE49-F238E27FC236}">
                <a16:creationId xmlns:a16="http://schemas.microsoft.com/office/drawing/2014/main" id="{6B19BB16-2463-51C8-3776-C306CCAD1000}"/>
              </a:ext>
            </a:extLst>
          </p:cNvPr>
          <p:cNvSpPr>
            <a:spLocks noGrp="1"/>
          </p:cNvSpPr>
          <p:nvPr>
            <p:ph type="sldNum" sz="quarter" idx="12"/>
          </p:nvPr>
        </p:nvSpPr>
        <p:spPr>
          <a:xfrm>
            <a:off x="10055225" y="6483731"/>
            <a:ext cx="21336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1FF6DA9-008F-8B48-92A6-B652298478B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3936219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73152" cy="1005840"/>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01168" y="73152"/>
            <a:ext cx="9144000" cy="548640"/>
          </a:xfrm>
          <a:prstGeom prst="rect">
            <a:avLst/>
          </a:prstGeom>
          <a:noFill/>
        </p:spPr>
        <p:txBody>
          <a:bodyPr wrap="none">
            <a:spAutoFit/>
          </a:bodyPr>
          <a:lstStyle/>
          <a:p>
            <a:r>
              <a:rPr sz="3000" b="1">
                <a:solidFill>
                  <a:srgbClr val="FFFFFF"/>
                </a:solidFill>
              </a:rPr>
              <a:t>Architectuurdiagram</a:t>
            </a:r>
          </a:p>
        </p:txBody>
      </p:sp>
      <p:sp>
        <p:nvSpPr>
          <p:cNvPr id="5" name="TextBox 4"/>
          <p:cNvSpPr txBox="1"/>
          <p:nvPr/>
        </p:nvSpPr>
        <p:spPr>
          <a:xfrm>
            <a:off x="201168" y="585216"/>
            <a:ext cx="9144000" cy="310896"/>
          </a:xfrm>
          <a:prstGeom prst="rect">
            <a:avLst/>
          </a:prstGeom>
          <a:noFill/>
        </p:spPr>
        <p:txBody>
          <a:bodyPr wrap="none">
            <a:spAutoFit/>
          </a:bodyPr>
          <a:lstStyle/>
          <a:p>
            <a:r>
              <a:rPr sz="1400" dirty="0">
                <a:solidFill>
                  <a:srgbClr val="B0C4D8"/>
                </a:solidFill>
              </a:rPr>
              <a:t>04 – </a:t>
            </a:r>
            <a:r>
              <a:rPr sz="1400" dirty="0" err="1">
                <a:solidFill>
                  <a:srgbClr val="B0C4D8"/>
                </a:solidFill>
              </a:rPr>
              <a:t>Volledig</a:t>
            </a:r>
            <a:r>
              <a:rPr sz="1400" dirty="0">
                <a:solidFill>
                  <a:srgbClr val="B0C4D8"/>
                </a:solidFill>
              </a:rPr>
              <a:t> </a:t>
            </a:r>
            <a:r>
              <a:rPr sz="1400" dirty="0" err="1">
                <a:solidFill>
                  <a:srgbClr val="B0C4D8"/>
                </a:solidFill>
              </a:rPr>
              <a:t>systeemoverzicht</a:t>
            </a:r>
            <a:endParaRPr sz="1400" dirty="0">
              <a:solidFill>
                <a:srgbClr val="B0C4D8"/>
              </a:solidFill>
            </a:endParaRPr>
          </a:p>
        </p:txBody>
      </p:sp>
      <p:pic>
        <p:nvPicPr>
          <p:cNvPr id="6" name="Picture 5" descr="slide1_shape3.png"/>
          <p:cNvPicPr>
            <a:picLocks noChangeAspect="1"/>
          </p:cNvPicPr>
          <p:nvPr/>
        </p:nvPicPr>
        <p:blipFill>
          <a:blip r:embed="rId2"/>
          <a:stretch>
            <a:fillRect/>
          </a:stretch>
        </p:blipFill>
        <p:spPr>
          <a:xfrm>
            <a:off x="137160" y="1051560"/>
            <a:ext cx="11795760" cy="5669280"/>
          </a:xfrm>
          <a:prstGeom prst="rect">
            <a:avLst/>
          </a:prstGeom>
        </p:spPr>
      </p:pic>
      <p:sp>
        <p:nvSpPr>
          <p:cNvPr id="12" name="Tijdelijke aanduiding voor dianummer 11">
            <a:extLst>
              <a:ext uri="{FF2B5EF4-FFF2-40B4-BE49-F238E27FC236}">
                <a16:creationId xmlns:a16="http://schemas.microsoft.com/office/drawing/2014/main" id="{B2A774A5-721B-A96F-2174-17A7DC395853}"/>
              </a:ext>
            </a:extLst>
          </p:cNvPr>
          <p:cNvSpPr>
            <a:spLocks noGrp="1"/>
          </p:cNvSpPr>
          <p:nvPr>
            <p:ph type="sldNum" sz="quarter" idx="12"/>
          </p:nvPr>
        </p:nvSpPr>
        <p:spPr>
          <a:xfrm>
            <a:off x="10055352" y="6483731"/>
            <a:ext cx="2133600" cy="365125"/>
          </a:xfrm>
        </p:spPr>
        <p:txBody>
          <a:bodyPr/>
          <a:lstStyle/>
          <a:p>
            <a:fld id="{C1FF6DA9-008F-8B48-92A6-B652298478BF}" type="slidenum">
              <a:rPr lang="en-US" smtClean="0"/>
              <a:t>11</a:t>
            </a:fld>
            <a:endParaRPr lang="en-US" dirty="0"/>
          </a:p>
        </p:txBody>
      </p:sp>
      <p:pic>
        <p:nvPicPr>
          <p:cNvPr id="10" name="Afbeelding 9">
            <a:extLst>
              <a:ext uri="{FF2B5EF4-FFF2-40B4-BE49-F238E27FC236}">
                <a16:creationId xmlns:a16="http://schemas.microsoft.com/office/drawing/2014/main" id="{BDED66A0-71B4-EB53-A18C-0095297ADFF4}"/>
              </a:ext>
            </a:extLst>
          </p:cNvPr>
          <p:cNvPicPr>
            <a:picLocks noChangeAspect="1"/>
          </p:cNvPicPr>
          <p:nvPr/>
        </p:nvPicPr>
        <p:blipFill>
          <a:blip r:embed="rId3"/>
          <a:stretch>
            <a:fillRect/>
          </a:stretch>
        </p:blipFill>
        <p:spPr>
          <a:xfrm>
            <a:off x="137160" y="1078992"/>
            <a:ext cx="11795760" cy="564184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6BF9774F-D3F8-C8B4-CC80-7208997F47D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DBB3FF1-18BE-6B82-1192-F7DA33E2389F}"/>
              </a:ext>
            </a:extLst>
          </p:cNvPr>
          <p:cNvSpPr/>
          <p:nvPr/>
        </p:nvSpPr>
        <p:spPr>
          <a:xfrm>
            <a:off x="0" y="0"/>
            <a:ext cx="12188952"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Rectangle 2">
            <a:extLst>
              <a:ext uri="{FF2B5EF4-FFF2-40B4-BE49-F238E27FC236}">
                <a16:creationId xmlns:a16="http://schemas.microsoft.com/office/drawing/2014/main" id="{12EBDDC9-DBBC-BC2A-46EE-D55C17E6A214}"/>
              </a:ext>
            </a:extLst>
          </p:cNvPr>
          <p:cNvSpPr/>
          <p:nvPr/>
        </p:nvSpPr>
        <p:spPr>
          <a:xfrm>
            <a:off x="0" y="0"/>
            <a:ext cx="73152" cy="1005840"/>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a:extLst>
              <a:ext uri="{FF2B5EF4-FFF2-40B4-BE49-F238E27FC236}">
                <a16:creationId xmlns:a16="http://schemas.microsoft.com/office/drawing/2014/main" id="{0DEDE7A2-0088-E9CE-11E8-8D60224F7560}"/>
              </a:ext>
            </a:extLst>
          </p:cNvPr>
          <p:cNvSpPr txBox="1"/>
          <p:nvPr/>
        </p:nvSpPr>
        <p:spPr>
          <a:xfrm>
            <a:off x="201168" y="73152"/>
            <a:ext cx="9144000" cy="548640"/>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3000" b="1" i="0" u="none" strike="noStrike" kern="1200" cap="none" spc="0" normalizeH="0" baseline="0" noProof="0">
                <a:ln>
                  <a:noFill/>
                </a:ln>
                <a:solidFill>
                  <a:srgbClr val="FFFFFF"/>
                </a:solidFill>
                <a:effectLst/>
                <a:uLnTx/>
                <a:uFillTx/>
                <a:latin typeface="Calibri"/>
                <a:ea typeface="+mn-ea"/>
                <a:cs typeface="+mn-cs"/>
              </a:rPr>
              <a:t>Architectuurdiagram</a:t>
            </a:r>
          </a:p>
        </p:txBody>
      </p:sp>
      <p:sp>
        <p:nvSpPr>
          <p:cNvPr id="5" name="TextBox 4">
            <a:extLst>
              <a:ext uri="{FF2B5EF4-FFF2-40B4-BE49-F238E27FC236}">
                <a16:creationId xmlns:a16="http://schemas.microsoft.com/office/drawing/2014/main" id="{A847AF9B-025B-DDEB-EE9B-412972620CE8}"/>
              </a:ext>
            </a:extLst>
          </p:cNvPr>
          <p:cNvSpPr txBox="1"/>
          <p:nvPr/>
        </p:nvSpPr>
        <p:spPr>
          <a:xfrm>
            <a:off x="201168" y="585216"/>
            <a:ext cx="9144000" cy="310896"/>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dirty="0">
                <a:ln>
                  <a:noFill/>
                </a:ln>
                <a:solidFill>
                  <a:srgbClr val="B0C4D8"/>
                </a:solidFill>
                <a:effectLst/>
                <a:uLnTx/>
                <a:uFillTx/>
                <a:latin typeface="Calibri"/>
                <a:ea typeface="+mn-ea"/>
                <a:cs typeface="+mn-cs"/>
              </a:rPr>
              <a:t>04 – </a:t>
            </a:r>
            <a:r>
              <a:rPr kumimoji="0" sz="1400" b="0" i="0" u="none" strike="noStrike" kern="1200" cap="none" spc="0" normalizeH="0" baseline="0" noProof="0" dirty="0" err="1">
                <a:ln>
                  <a:noFill/>
                </a:ln>
                <a:solidFill>
                  <a:srgbClr val="B0C4D8"/>
                </a:solidFill>
                <a:effectLst/>
                <a:uLnTx/>
                <a:uFillTx/>
                <a:latin typeface="Calibri"/>
                <a:ea typeface="+mn-ea"/>
                <a:cs typeface="+mn-cs"/>
              </a:rPr>
              <a:t>Volledig</a:t>
            </a:r>
            <a:r>
              <a:rPr kumimoji="0" sz="1400" b="0" i="0" u="none" strike="noStrike" kern="1200" cap="none" spc="0" normalizeH="0" baseline="0" noProof="0" dirty="0">
                <a:ln>
                  <a:noFill/>
                </a:ln>
                <a:solidFill>
                  <a:srgbClr val="B0C4D8"/>
                </a:solidFill>
                <a:effectLst/>
                <a:uLnTx/>
                <a:uFillTx/>
                <a:latin typeface="Calibri"/>
                <a:ea typeface="+mn-ea"/>
                <a:cs typeface="+mn-cs"/>
              </a:rPr>
              <a:t> </a:t>
            </a:r>
            <a:r>
              <a:rPr kumimoji="0" sz="1400" b="0" i="0" u="none" strike="noStrike" kern="1200" cap="none" spc="0" normalizeH="0" baseline="0" noProof="0" dirty="0" err="1">
                <a:ln>
                  <a:noFill/>
                </a:ln>
                <a:solidFill>
                  <a:srgbClr val="B0C4D8"/>
                </a:solidFill>
                <a:effectLst/>
                <a:uLnTx/>
                <a:uFillTx/>
                <a:latin typeface="Calibri"/>
                <a:ea typeface="+mn-ea"/>
                <a:cs typeface="+mn-cs"/>
              </a:rPr>
              <a:t>systeemoverzicht</a:t>
            </a:r>
            <a:endParaRPr kumimoji="0" sz="1400" b="0" i="0" u="none" strike="noStrike" kern="1200" cap="none" spc="0" normalizeH="0" baseline="0" noProof="0" dirty="0">
              <a:ln>
                <a:noFill/>
              </a:ln>
              <a:solidFill>
                <a:srgbClr val="B0C4D8"/>
              </a:solidFill>
              <a:effectLst/>
              <a:uLnTx/>
              <a:uFillTx/>
              <a:latin typeface="Calibri"/>
              <a:ea typeface="+mn-ea"/>
              <a:cs typeface="+mn-cs"/>
            </a:endParaRPr>
          </a:p>
        </p:txBody>
      </p:sp>
      <p:sp>
        <p:nvSpPr>
          <p:cNvPr id="12" name="Tijdelijke aanduiding voor dianummer 11">
            <a:extLst>
              <a:ext uri="{FF2B5EF4-FFF2-40B4-BE49-F238E27FC236}">
                <a16:creationId xmlns:a16="http://schemas.microsoft.com/office/drawing/2014/main" id="{A9F7EF58-98DD-CFD0-1292-CE8142D9754E}"/>
              </a:ext>
            </a:extLst>
          </p:cNvPr>
          <p:cNvSpPr>
            <a:spLocks noGrp="1"/>
          </p:cNvSpPr>
          <p:nvPr>
            <p:ph type="sldNum" sz="quarter" idx="12"/>
          </p:nvPr>
        </p:nvSpPr>
        <p:spPr>
          <a:xfrm>
            <a:off x="10055352" y="6483731"/>
            <a:ext cx="21336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1FF6DA9-008F-8B48-92A6-B652298478B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pic>
        <p:nvPicPr>
          <p:cNvPr id="8" name="Afbeelding 7">
            <a:extLst>
              <a:ext uri="{FF2B5EF4-FFF2-40B4-BE49-F238E27FC236}">
                <a16:creationId xmlns:a16="http://schemas.microsoft.com/office/drawing/2014/main" id="{781178FF-2719-60EA-D44F-0E4B2BF93D49}"/>
              </a:ext>
            </a:extLst>
          </p:cNvPr>
          <p:cNvPicPr>
            <a:picLocks noChangeAspect="1"/>
          </p:cNvPicPr>
          <p:nvPr/>
        </p:nvPicPr>
        <p:blipFill>
          <a:blip r:embed="rId2"/>
          <a:stretch>
            <a:fillRect/>
          </a:stretch>
        </p:blipFill>
        <p:spPr>
          <a:xfrm>
            <a:off x="0" y="2342088"/>
            <a:ext cx="5078868" cy="4506768"/>
          </a:xfrm>
          <a:prstGeom prst="rect">
            <a:avLst/>
          </a:prstGeom>
        </p:spPr>
      </p:pic>
      <p:pic>
        <p:nvPicPr>
          <p:cNvPr id="11" name="Afbeelding 10">
            <a:extLst>
              <a:ext uri="{FF2B5EF4-FFF2-40B4-BE49-F238E27FC236}">
                <a16:creationId xmlns:a16="http://schemas.microsoft.com/office/drawing/2014/main" id="{BB1EA253-6EF9-CB3B-11B6-FA05F567C550}"/>
              </a:ext>
            </a:extLst>
          </p:cNvPr>
          <p:cNvPicPr>
            <a:picLocks noChangeAspect="1"/>
          </p:cNvPicPr>
          <p:nvPr/>
        </p:nvPicPr>
        <p:blipFill>
          <a:blip r:embed="rId3"/>
          <a:stretch>
            <a:fillRect/>
          </a:stretch>
        </p:blipFill>
        <p:spPr>
          <a:xfrm>
            <a:off x="5078868" y="2342088"/>
            <a:ext cx="7109830" cy="2173824"/>
          </a:xfrm>
          <a:prstGeom prst="rect">
            <a:avLst/>
          </a:prstGeom>
        </p:spPr>
      </p:pic>
      <p:sp>
        <p:nvSpPr>
          <p:cNvPr id="14" name="Rectangle 26">
            <a:extLst>
              <a:ext uri="{FF2B5EF4-FFF2-40B4-BE49-F238E27FC236}">
                <a16:creationId xmlns:a16="http://schemas.microsoft.com/office/drawing/2014/main" id="{6A8E63B3-FC65-C97C-8380-30EEB8FB4295}"/>
              </a:ext>
            </a:extLst>
          </p:cNvPr>
          <p:cNvSpPr/>
          <p:nvPr/>
        </p:nvSpPr>
        <p:spPr>
          <a:xfrm>
            <a:off x="466344" y="1504800"/>
            <a:ext cx="4206240" cy="650854"/>
          </a:xfrm>
          <a:prstGeom prst="roundRect">
            <a:avLst/>
          </a:prstGeom>
          <a:solidFill>
            <a:srgbClr val="00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27">
            <a:extLst>
              <a:ext uri="{FF2B5EF4-FFF2-40B4-BE49-F238E27FC236}">
                <a16:creationId xmlns:a16="http://schemas.microsoft.com/office/drawing/2014/main" id="{D207534C-9AE7-9663-31D7-09FA9FB88B21}"/>
              </a:ext>
            </a:extLst>
          </p:cNvPr>
          <p:cNvSpPr txBox="1"/>
          <p:nvPr/>
        </p:nvSpPr>
        <p:spPr>
          <a:xfrm>
            <a:off x="466344" y="1414728"/>
            <a:ext cx="4206240" cy="830997"/>
          </a:xfrm>
          <a:prstGeom prst="rect">
            <a:avLst/>
          </a:prstGeom>
          <a:noFill/>
        </p:spPr>
        <p:txBody>
          <a:bodyPr wrap="square">
            <a:spAutoFit/>
          </a:bodyPr>
          <a:lstStyle/>
          <a:p>
            <a:pPr algn="ctr"/>
            <a:r>
              <a:rPr lang="nl-BE" sz="2400" b="1" dirty="0">
                <a:solidFill>
                  <a:srgbClr val="FFFFFF"/>
                </a:solidFill>
              </a:rPr>
              <a:t>Lokaal</a:t>
            </a:r>
          </a:p>
          <a:p>
            <a:pPr algn="ctr"/>
            <a:r>
              <a:rPr lang="nl-BE" sz="2400" b="1" i="0" dirty="0">
                <a:solidFill>
                  <a:srgbClr val="FFFFFF"/>
                </a:solidFill>
              </a:rPr>
              <a:t>Docker Desktop</a:t>
            </a:r>
            <a:endParaRPr sz="2400" b="1" i="0" dirty="0">
              <a:solidFill>
                <a:srgbClr val="FFFFFF"/>
              </a:solidFill>
            </a:endParaRPr>
          </a:p>
        </p:txBody>
      </p:sp>
      <p:sp>
        <p:nvSpPr>
          <p:cNvPr id="16" name="Rectangle 26">
            <a:extLst>
              <a:ext uri="{FF2B5EF4-FFF2-40B4-BE49-F238E27FC236}">
                <a16:creationId xmlns:a16="http://schemas.microsoft.com/office/drawing/2014/main" id="{5C42FDD1-2E14-0E20-DA53-DC2725925DB2}"/>
              </a:ext>
            </a:extLst>
          </p:cNvPr>
          <p:cNvSpPr/>
          <p:nvPr/>
        </p:nvSpPr>
        <p:spPr>
          <a:xfrm>
            <a:off x="6571488" y="1499210"/>
            <a:ext cx="4206240" cy="650854"/>
          </a:xfrm>
          <a:prstGeom prst="roundRect">
            <a:avLst/>
          </a:prstGeom>
          <a:solidFill>
            <a:srgbClr val="00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27">
            <a:extLst>
              <a:ext uri="{FF2B5EF4-FFF2-40B4-BE49-F238E27FC236}">
                <a16:creationId xmlns:a16="http://schemas.microsoft.com/office/drawing/2014/main" id="{12FED298-4A2D-C6B8-BE15-AE1EAB8C8120}"/>
              </a:ext>
            </a:extLst>
          </p:cNvPr>
          <p:cNvSpPr txBox="1"/>
          <p:nvPr/>
        </p:nvSpPr>
        <p:spPr>
          <a:xfrm>
            <a:off x="6571488" y="1401271"/>
            <a:ext cx="4206240" cy="830997"/>
          </a:xfrm>
          <a:prstGeom prst="rect">
            <a:avLst/>
          </a:prstGeom>
          <a:noFill/>
        </p:spPr>
        <p:txBody>
          <a:bodyPr wrap="square">
            <a:spAutoFit/>
          </a:bodyPr>
          <a:lstStyle/>
          <a:p>
            <a:pPr algn="ctr"/>
            <a:r>
              <a:rPr lang="nl-BE" sz="2400" b="1" dirty="0" err="1">
                <a:solidFill>
                  <a:srgbClr val="FFFFFF"/>
                </a:solidFill>
              </a:rPr>
              <a:t>Deployed</a:t>
            </a:r>
            <a:endParaRPr lang="nl-BE" sz="2400" b="1" dirty="0">
              <a:solidFill>
                <a:srgbClr val="FFFFFF"/>
              </a:solidFill>
            </a:endParaRPr>
          </a:p>
          <a:p>
            <a:pPr algn="ctr"/>
            <a:r>
              <a:rPr lang="nl-BE" sz="2400" b="1" dirty="0">
                <a:solidFill>
                  <a:srgbClr val="FFFFFF"/>
                </a:solidFill>
              </a:rPr>
              <a:t>Docker Hub</a:t>
            </a:r>
            <a:endParaRPr sz="2400" b="1" i="0" dirty="0">
              <a:solidFill>
                <a:srgbClr val="FFFFFF"/>
              </a:solidFill>
            </a:endParaRPr>
          </a:p>
        </p:txBody>
      </p:sp>
      <p:sp>
        <p:nvSpPr>
          <p:cNvPr id="18" name="Pijl: rechts 17">
            <a:extLst>
              <a:ext uri="{FF2B5EF4-FFF2-40B4-BE49-F238E27FC236}">
                <a16:creationId xmlns:a16="http://schemas.microsoft.com/office/drawing/2014/main" id="{81B274BE-FFB6-64D6-E41C-4C233E15DFD6}"/>
              </a:ext>
            </a:extLst>
          </p:cNvPr>
          <p:cNvSpPr/>
          <p:nvPr/>
        </p:nvSpPr>
        <p:spPr>
          <a:xfrm>
            <a:off x="4773168" y="1735085"/>
            <a:ext cx="1645920" cy="169776"/>
          </a:xfrm>
          <a:prstGeom prst="rightArrow">
            <a:avLst/>
          </a:prstGeom>
          <a:solidFill>
            <a:srgbClr val="FFFFFF"/>
          </a:solidFill>
          <a:ln>
            <a:solidFill>
              <a:srgbClr val="009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Tree>
    <p:extLst>
      <p:ext uri="{BB962C8B-B14F-4D97-AF65-F5344CB8AC3E}">
        <p14:creationId xmlns:p14="http://schemas.microsoft.com/office/powerpoint/2010/main" val="9515221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3C957EEF-E249-104D-51FE-8826BA95C73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C1A26F1-6BBC-C883-BEC6-598776D9D68F}"/>
              </a:ext>
            </a:extLst>
          </p:cNvPr>
          <p:cNvSpPr/>
          <p:nvPr/>
        </p:nvSpPr>
        <p:spPr>
          <a:xfrm>
            <a:off x="0" y="0"/>
            <a:ext cx="91440" cy="6858000"/>
          </a:xfrm>
          <a:prstGeom prst="rect">
            <a:avLst/>
          </a:prstGeom>
          <a:solidFill>
            <a:srgbClr val="00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Rectangle 2">
            <a:extLst>
              <a:ext uri="{FF2B5EF4-FFF2-40B4-BE49-F238E27FC236}">
                <a16:creationId xmlns:a16="http://schemas.microsoft.com/office/drawing/2014/main" id="{4FD1C3E1-89FE-119A-8300-7265E3F9C978}"/>
              </a:ext>
            </a:extLst>
          </p:cNvPr>
          <p:cNvSpPr/>
          <p:nvPr/>
        </p:nvSpPr>
        <p:spPr>
          <a:xfrm>
            <a:off x="0" y="6803136"/>
            <a:ext cx="12188952" cy="54864"/>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a:extLst>
              <a:ext uri="{FF2B5EF4-FFF2-40B4-BE49-F238E27FC236}">
                <a16:creationId xmlns:a16="http://schemas.microsoft.com/office/drawing/2014/main" id="{A0F9D32A-8083-15DA-9326-5DBEAC5ED68D}"/>
              </a:ext>
            </a:extLst>
          </p:cNvPr>
          <p:cNvSpPr txBox="1"/>
          <p:nvPr/>
        </p:nvSpPr>
        <p:spPr>
          <a:xfrm>
            <a:off x="1371600" y="1645920"/>
            <a:ext cx="9144000" cy="2308324"/>
          </a:xfrm>
          <a:prstGeom prst="rect">
            <a:avLst/>
          </a:prstGeom>
          <a:noFill/>
        </p:spPr>
        <p:txBody>
          <a:bodyPr wrap="square">
            <a:spAutoFit/>
          </a:bodyPr>
          <a:lstStyle/>
          <a:p>
            <a:pPr algn="ctr">
              <a:defRPr/>
            </a:pPr>
            <a:r>
              <a:rPr lang="nl-BE" sz="7200" b="1" dirty="0">
                <a:solidFill>
                  <a:srgbClr val="0099FF"/>
                </a:solidFill>
              </a:rPr>
              <a:t>Scope changes</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nl-BE" sz="7200" b="1" i="0" u="none" strike="noStrike" kern="1200" cap="none" spc="0" normalizeH="0" baseline="0" noProof="0" dirty="0">
              <a:ln>
                <a:noFill/>
              </a:ln>
              <a:solidFill>
                <a:srgbClr val="0099FF"/>
              </a:solidFill>
              <a:effectLst/>
              <a:uLnTx/>
              <a:uFillTx/>
              <a:latin typeface="Calibri"/>
              <a:ea typeface="+mn-ea"/>
              <a:cs typeface="+mn-cs"/>
            </a:endParaRPr>
          </a:p>
        </p:txBody>
      </p:sp>
      <p:sp>
        <p:nvSpPr>
          <p:cNvPr id="6" name="Rectangle 5">
            <a:extLst>
              <a:ext uri="{FF2B5EF4-FFF2-40B4-BE49-F238E27FC236}">
                <a16:creationId xmlns:a16="http://schemas.microsoft.com/office/drawing/2014/main" id="{B6A533FC-D87F-3B76-B150-0F1A9D7299D9}"/>
              </a:ext>
            </a:extLst>
          </p:cNvPr>
          <p:cNvSpPr/>
          <p:nvPr/>
        </p:nvSpPr>
        <p:spPr>
          <a:xfrm>
            <a:off x="4114800" y="3794760"/>
            <a:ext cx="3959352" cy="36576"/>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Tijdelijke aanduiding voor dianummer 12">
            <a:extLst>
              <a:ext uri="{FF2B5EF4-FFF2-40B4-BE49-F238E27FC236}">
                <a16:creationId xmlns:a16="http://schemas.microsoft.com/office/drawing/2014/main" id="{5FEA95DD-5633-0652-D529-5916BE7F406D}"/>
              </a:ext>
            </a:extLst>
          </p:cNvPr>
          <p:cNvSpPr>
            <a:spLocks noGrp="1"/>
          </p:cNvSpPr>
          <p:nvPr>
            <p:ph type="sldNum" sz="quarter" idx="12"/>
          </p:nvPr>
        </p:nvSpPr>
        <p:spPr>
          <a:xfrm>
            <a:off x="10055225" y="6483731"/>
            <a:ext cx="21336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1FF6DA9-008F-8B48-92A6-B652298478B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40854943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ectangle 1"/>
          <p:cNvSpPr/>
          <p:nvPr/>
        </p:nvSpPr>
        <p:spPr>
          <a:xfrm>
            <a:off x="0" y="31672"/>
            <a:ext cx="12188952" cy="8644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ectangle 2"/>
          <p:cNvSpPr/>
          <p:nvPr/>
        </p:nvSpPr>
        <p:spPr>
          <a:xfrm>
            <a:off x="0" y="0"/>
            <a:ext cx="63881" cy="896112"/>
          </a:xfrm>
          <a:prstGeom prst="rect">
            <a:avLst/>
          </a:prstGeom>
          <a:solidFill>
            <a:srgbClr val="AB47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287781" y="1953392"/>
            <a:ext cx="4934524" cy="2934257"/>
          </a:xfrm>
          <a:prstGeom prst="rect">
            <a:avLst/>
          </a:prstGeom>
          <a:solidFill>
            <a:srgbClr val="0A1422"/>
          </a:solidFill>
          <a:ln w="12700">
            <a:solidFill>
              <a:srgbClr val="AB47B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214629" y="1931175"/>
            <a:ext cx="7759566" cy="3003826"/>
          </a:xfrm>
          <a:prstGeom prst="rect">
            <a:avLst/>
          </a:prstGeom>
          <a:solidFill>
            <a:srgbClr val="16283E"/>
          </a:solidFill>
          <a:ln w="19050">
            <a:solidFill>
              <a:srgbClr val="009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6" name="TextBox 15"/>
          <p:cNvSpPr txBox="1"/>
          <p:nvPr/>
        </p:nvSpPr>
        <p:spPr>
          <a:xfrm>
            <a:off x="6309360" y="2197763"/>
            <a:ext cx="6353065" cy="400110"/>
          </a:xfrm>
          <a:prstGeom prst="rect">
            <a:avLst/>
          </a:prstGeom>
          <a:noFill/>
        </p:spPr>
        <p:txBody>
          <a:bodyPr wrap="square">
            <a:spAutoFit/>
          </a:bodyPr>
          <a:lstStyle/>
          <a:p>
            <a:pPr algn="l"/>
            <a:r>
              <a:rPr lang="nl-BE" sz="2000" b="1" dirty="0">
                <a:solidFill>
                  <a:srgbClr val="0099FF"/>
                </a:solidFill>
              </a:rPr>
              <a:t>T</a:t>
            </a:r>
            <a:r>
              <a:rPr lang="nl-BE" sz="2000" b="1" i="0" dirty="0">
                <a:solidFill>
                  <a:srgbClr val="0099FF"/>
                </a:solidFill>
              </a:rPr>
              <a:t>aken</a:t>
            </a:r>
            <a:endParaRPr sz="2000" b="1" i="0" dirty="0">
              <a:solidFill>
                <a:srgbClr val="0099FF"/>
              </a:solidFill>
            </a:endParaRPr>
          </a:p>
        </p:txBody>
      </p:sp>
      <p:sp>
        <p:nvSpPr>
          <p:cNvPr id="17" name="TextBox 16"/>
          <p:cNvSpPr txBox="1"/>
          <p:nvPr/>
        </p:nvSpPr>
        <p:spPr>
          <a:xfrm>
            <a:off x="6309360" y="2839700"/>
            <a:ext cx="3664836" cy="1118255"/>
          </a:xfrm>
          <a:prstGeom prst="rect">
            <a:avLst/>
          </a:prstGeom>
          <a:noFill/>
        </p:spPr>
        <p:txBody>
          <a:bodyPr wrap="square">
            <a:spAutoFit/>
          </a:bodyPr>
          <a:lstStyle/>
          <a:p>
            <a:pPr>
              <a:spcBef>
                <a:spcPts val="400"/>
              </a:spcBef>
            </a:pPr>
            <a:r>
              <a:rPr sz="2000" dirty="0">
                <a:solidFill>
                  <a:srgbClr val="B0C4D8"/>
                </a:solidFill>
              </a:rPr>
              <a:t>•  </a:t>
            </a:r>
            <a:r>
              <a:rPr lang="nl-BE" sz="2000" dirty="0">
                <a:solidFill>
                  <a:srgbClr val="B0C4D8"/>
                </a:solidFill>
              </a:rPr>
              <a:t>Code </a:t>
            </a:r>
            <a:r>
              <a:rPr lang="nl-BE" sz="2000" dirty="0" err="1">
                <a:solidFill>
                  <a:srgbClr val="B0C4D8"/>
                </a:solidFill>
              </a:rPr>
              <a:t>cleanup</a:t>
            </a:r>
            <a:endParaRPr lang="nl-BE" sz="2000" dirty="0">
              <a:solidFill>
                <a:srgbClr val="B0C4D8"/>
              </a:solidFill>
            </a:endParaRPr>
          </a:p>
          <a:p>
            <a:pPr>
              <a:spcBef>
                <a:spcPts val="400"/>
              </a:spcBef>
            </a:pPr>
            <a:r>
              <a:rPr sz="2000" dirty="0">
                <a:solidFill>
                  <a:srgbClr val="B0C4D8"/>
                </a:solidFill>
              </a:rPr>
              <a:t>•  </a:t>
            </a:r>
            <a:r>
              <a:rPr lang="nl-BE" sz="2000" dirty="0">
                <a:solidFill>
                  <a:srgbClr val="B0C4D8"/>
                </a:solidFill>
              </a:rPr>
              <a:t>Literatuur onderzoek uitvoeren</a:t>
            </a:r>
          </a:p>
          <a:p>
            <a:pPr>
              <a:spcBef>
                <a:spcPts val="400"/>
              </a:spcBef>
            </a:pPr>
            <a:r>
              <a:rPr sz="2000" dirty="0">
                <a:solidFill>
                  <a:srgbClr val="B0C4D8"/>
                </a:solidFill>
              </a:rPr>
              <a:t>•  </a:t>
            </a:r>
            <a:r>
              <a:rPr lang="nl-BE" sz="2000" dirty="0">
                <a:solidFill>
                  <a:srgbClr val="B0C4D8"/>
                </a:solidFill>
              </a:rPr>
              <a:t>AI integratie</a:t>
            </a:r>
            <a:endParaRPr sz="2000" dirty="0">
              <a:solidFill>
                <a:srgbClr val="B0C4D8"/>
              </a:solidFill>
            </a:endParaRPr>
          </a:p>
        </p:txBody>
      </p:sp>
      <p:sp>
        <p:nvSpPr>
          <p:cNvPr id="31" name="Tijdelijke aanduiding voor dianummer 30">
            <a:extLst>
              <a:ext uri="{FF2B5EF4-FFF2-40B4-BE49-F238E27FC236}">
                <a16:creationId xmlns:a16="http://schemas.microsoft.com/office/drawing/2014/main" id="{0297E5DE-9965-F51E-6146-F472D9DEA6A8}"/>
              </a:ext>
            </a:extLst>
          </p:cNvPr>
          <p:cNvSpPr>
            <a:spLocks noGrp="1"/>
          </p:cNvSpPr>
          <p:nvPr>
            <p:ph type="sldNum" sz="quarter" idx="12"/>
          </p:nvPr>
        </p:nvSpPr>
        <p:spPr>
          <a:xfrm>
            <a:off x="10036937" y="6483413"/>
            <a:ext cx="2133600" cy="365125"/>
          </a:xfrm>
        </p:spPr>
        <p:txBody>
          <a:bodyPr/>
          <a:lstStyle/>
          <a:p>
            <a:fld id="{C1FF6DA9-008F-8B48-92A6-B652298478BF}" type="slidenum">
              <a:rPr lang="en-US" smtClean="0"/>
              <a:t>14</a:t>
            </a:fld>
            <a:endParaRPr lang="en-US" dirty="0"/>
          </a:p>
        </p:txBody>
      </p:sp>
      <p:sp>
        <p:nvSpPr>
          <p:cNvPr id="7" name="Tekstvak 6">
            <a:extLst>
              <a:ext uri="{FF2B5EF4-FFF2-40B4-BE49-F238E27FC236}">
                <a16:creationId xmlns:a16="http://schemas.microsoft.com/office/drawing/2014/main" id="{56CEE534-8729-3963-1C22-8FB9E4D8FDD4}"/>
              </a:ext>
            </a:extLst>
          </p:cNvPr>
          <p:cNvSpPr txBox="1"/>
          <p:nvPr/>
        </p:nvSpPr>
        <p:spPr>
          <a:xfrm>
            <a:off x="201168" y="83264"/>
            <a:ext cx="2888261" cy="584775"/>
          </a:xfrm>
          <a:prstGeom prst="rect">
            <a:avLst/>
          </a:prstGeom>
          <a:noFill/>
        </p:spPr>
        <p:txBody>
          <a:bodyPr wrap="square" rtlCol="0">
            <a:spAutoFit/>
          </a:bodyPr>
          <a:lstStyle/>
          <a:p>
            <a:r>
              <a:rPr lang="en-US" sz="3200" dirty="0">
                <a:solidFill>
                  <a:schemeClr val="bg1"/>
                </a:solidFill>
              </a:rPr>
              <a:t>Scope changes</a:t>
            </a:r>
            <a:endParaRPr lang="nl-BE" sz="3200" dirty="0">
              <a:solidFill>
                <a:schemeClr val="bg1"/>
              </a:solidFill>
            </a:endParaRPr>
          </a:p>
        </p:txBody>
      </p:sp>
      <p:sp>
        <p:nvSpPr>
          <p:cNvPr id="13" name="Niet toegestaan-symbool 12">
            <a:extLst>
              <a:ext uri="{FF2B5EF4-FFF2-40B4-BE49-F238E27FC236}">
                <a16:creationId xmlns:a16="http://schemas.microsoft.com/office/drawing/2014/main" id="{9F4B02B2-AC31-B35C-CD4D-5FD1AA34ABEC}"/>
              </a:ext>
            </a:extLst>
          </p:cNvPr>
          <p:cNvSpPr/>
          <p:nvPr/>
        </p:nvSpPr>
        <p:spPr>
          <a:xfrm>
            <a:off x="3225207" y="2605959"/>
            <a:ext cx="1965960" cy="1816863"/>
          </a:xfrm>
          <a:prstGeom prst="noSmoking">
            <a:avLst/>
          </a:prstGeom>
          <a:solidFill>
            <a:srgbClr val="FF00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solidFill>
                <a:schemeClr val="tx1"/>
              </a:solidFill>
            </a:endParaRPr>
          </a:p>
        </p:txBody>
      </p:sp>
      <p:sp>
        <p:nvSpPr>
          <p:cNvPr id="15" name="TextBox 15">
            <a:extLst>
              <a:ext uri="{FF2B5EF4-FFF2-40B4-BE49-F238E27FC236}">
                <a16:creationId xmlns:a16="http://schemas.microsoft.com/office/drawing/2014/main" id="{CFE9440A-2F70-95B1-E360-440E2110D437}"/>
              </a:ext>
            </a:extLst>
          </p:cNvPr>
          <p:cNvSpPr txBox="1"/>
          <p:nvPr/>
        </p:nvSpPr>
        <p:spPr>
          <a:xfrm>
            <a:off x="3474720" y="2175974"/>
            <a:ext cx="3429635" cy="400110"/>
          </a:xfrm>
          <a:prstGeom prst="rect">
            <a:avLst/>
          </a:prstGeom>
          <a:noFill/>
        </p:spPr>
        <p:txBody>
          <a:bodyPr wrap="square">
            <a:spAutoFit/>
          </a:bodyPr>
          <a:lstStyle/>
          <a:p>
            <a:pPr algn="l"/>
            <a:r>
              <a:rPr lang="nl-BE" sz="2000" b="1" i="0" dirty="0">
                <a:solidFill>
                  <a:srgbClr val="0099FF"/>
                </a:solidFill>
              </a:rPr>
              <a:t>User </a:t>
            </a:r>
            <a:r>
              <a:rPr lang="nl-BE" sz="2000" b="1" i="0" dirty="0" err="1">
                <a:solidFill>
                  <a:srgbClr val="0099FF"/>
                </a:solidFill>
              </a:rPr>
              <a:t>stories</a:t>
            </a:r>
            <a:endParaRPr sz="2000" b="1" i="0" dirty="0">
              <a:solidFill>
                <a:srgbClr val="0099FF"/>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3A0E356F-4466-EB93-0A07-22A1D6B9C61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FF49C2F-C370-8C9E-7177-2A74213A8927}"/>
              </a:ext>
            </a:extLst>
          </p:cNvPr>
          <p:cNvSpPr/>
          <p:nvPr/>
        </p:nvSpPr>
        <p:spPr>
          <a:xfrm>
            <a:off x="0" y="0"/>
            <a:ext cx="91440" cy="6858000"/>
          </a:xfrm>
          <a:prstGeom prst="rect">
            <a:avLst/>
          </a:prstGeom>
          <a:solidFill>
            <a:srgbClr val="00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Rectangle 2">
            <a:extLst>
              <a:ext uri="{FF2B5EF4-FFF2-40B4-BE49-F238E27FC236}">
                <a16:creationId xmlns:a16="http://schemas.microsoft.com/office/drawing/2014/main" id="{AD0532BB-D326-5CC4-46A1-E9EE13EF12DD}"/>
              </a:ext>
            </a:extLst>
          </p:cNvPr>
          <p:cNvSpPr/>
          <p:nvPr/>
        </p:nvSpPr>
        <p:spPr>
          <a:xfrm>
            <a:off x="0" y="6803136"/>
            <a:ext cx="12188952" cy="54864"/>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a:extLst>
              <a:ext uri="{FF2B5EF4-FFF2-40B4-BE49-F238E27FC236}">
                <a16:creationId xmlns:a16="http://schemas.microsoft.com/office/drawing/2014/main" id="{0BDAC9D3-0F4B-9D99-A76A-773F839C67BF}"/>
              </a:ext>
            </a:extLst>
          </p:cNvPr>
          <p:cNvSpPr txBox="1"/>
          <p:nvPr/>
        </p:nvSpPr>
        <p:spPr>
          <a:xfrm>
            <a:off x="1371600" y="1645920"/>
            <a:ext cx="9144000" cy="2308324"/>
          </a:xfrm>
          <a:prstGeom prst="rect">
            <a:avLst/>
          </a:prstGeom>
          <a:noFill/>
        </p:spPr>
        <p:txBody>
          <a:bodyPr wrap="square">
            <a:spAutoFit/>
          </a:bodyPr>
          <a:lstStyle/>
          <a:p>
            <a:pPr algn="ctr">
              <a:defRPr/>
            </a:pPr>
            <a:r>
              <a:rPr lang="nl-BE" sz="7200" b="1" dirty="0">
                <a:solidFill>
                  <a:srgbClr val="0099FF"/>
                </a:solidFill>
              </a:rPr>
              <a:t>Demo</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nl-BE" sz="7200" b="1" i="0" u="none" strike="noStrike" kern="1200" cap="none" spc="0" normalizeH="0" baseline="0" noProof="0" dirty="0">
              <a:ln>
                <a:noFill/>
              </a:ln>
              <a:solidFill>
                <a:srgbClr val="0099FF"/>
              </a:solidFill>
              <a:effectLst/>
              <a:uLnTx/>
              <a:uFillTx/>
              <a:latin typeface="Calibri"/>
              <a:ea typeface="+mn-ea"/>
              <a:cs typeface="+mn-cs"/>
            </a:endParaRPr>
          </a:p>
        </p:txBody>
      </p:sp>
      <p:sp>
        <p:nvSpPr>
          <p:cNvPr id="6" name="Rectangle 5">
            <a:extLst>
              <a:ext uri="{FF2B5EF4-FFF2-40B4-BE49-F238E27FC236}">
                <a16:creationId xmlns:a16="http://schemas.microsoft.com/office/drawing/2014/main" id="{1CA1D6BF-2D25-CE66-76AF-CEEDFC3D18F1}"/>
              </a:ext>
            </a:extLst>
          </p:cNvPr>
          <p:cNvSpPr/>
          <p:nvPr/>
        </p:nvSpPr>
        <p:spPr>
          <a:xfrm>
            <a:off x="4114800" y="3794760"/>
            <a:ext cx="3959352" cy="36576"/>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Tijdelijke aanduiding voor dianummer 12">
            <a:extLst>
              <a:ext uri="{FF2B5EF4-FFF2-40B4-BE49-F238E27FC236}">
                <a16:creationId xmlns:a16="http://schemas.microsoft.com/office/drawing/2014/main" id="{3E2C738A-6FF1-BB6F-4E20-8C5F2307B008}"/>
              </a:ext>
            </a:extLst>
          </p:cNvPr>
          <p:cNvSpPr>
            <a:spLocks noGrp="1"/>
          </p:cNvSpPr>
          <p:nvPr>
            <p:ph type="sldNum" sz="quarter" idx="12"/>
          </p:nvPr>
        </p:nvSpPr>
        <p:spPr>
          <a:xfrm>
            <a:off x="10055225" y="6483731"/>
            <a:ext cx="21336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1FF6DA9-008F-8B48-92A6-B652298478B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5822035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DBD705EF-BFF7-8435-5B63-2BF0C13F47A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5D502E8-D669-1D98-23E8-283F788DF2CB}"/>
              </a:ext>
            </a:extLst>
          </p:cNvPr>
          <p:cNvSpPr/>
          <p:nvPr/>
        </p:nvSpPr>
        <p:spPr>
          <a:xfrm>
            <a:off x="0" y="0"/>
            <a:ext cx="91440" cy="6858000"/>
          </a:xfrm>
          <a:prstGeom prst="rect">
            <a:avLst/>
          </a:prstGeom>
          <a:solidFill>
            <a:srgbClr val="00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Rectangle 2">
            <a:extLst>
              <a:ext uri="{FF2B5EF4-FFF2-40B4-BE49-F238E27FC236}">
                <a16:creationId xmlns:a16="http://schemas.microsoft.com/office/drawing/2014/main" id="{E5A02CC2-6C80-167B-CB89-B2010133FC21}"/>
              </a:ext>
            </a:extLst>
          </p:cNvPr>
          <p:cNvSpPr/>
          <p:nvPr/>
        </p:nvSpPr>
        <p:spPr>
          <a:xfrm>
            <a:off x="0" y="6803136"/>
            <a:ext cx="12188952" cy="54864"/>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a:extLst>
              <a:ext uri="{FF2B5EF4-FFF2-40B4-BE49-F238E27FC236}">
                <a16:creationId xmlns:a16="http://schemas.microsoft.com/office/drawing/2014/main" id="{04CAF8B9-3546-52EC-39E2-3FD53F27BF00}"/>
              </a:ext>
            </a:extLst>
          </p:cNvPr>
          <p:cNvSpPr txBox="1"/>
          <p:nvPr/>
        </p:nvSpPr>
        <p:spPr>
          <a:xfrm>
            <a:off x="1371600" y="1645920"/>
            <a:ext cx="9144000" cy="3416320"/>
          </a:xfrm>
          <a:prstGeom prst="rect">
            <a:avLst/>
          </a:prstGeom>
          <a:noFill/>
        </p:spPr>
        <p:txBody>
          <a:bodyPr wrap="square">
            <a:spAutoFit/>
          </a:bodyPr>
          <a:lstStyle/>
          <a:p>
            <a:pPr lvl="0" algn="ctr">
              <a:defRPr/>
            </a:pPr>
            <a:r>
              <a:rPr lang="nl-BE" sz="7200" b="1" dirty="0">
                <a:solidFill>
                  <a:srgbClr val="0099FF"/>
                </a:solidFill>
                <a:hlinkClick r:id="rId2"/>
              </a:rPr>
              <a:t>http://localhost:5173</a:t>
            </a:r>
            <a:endParaRPr lang="nl-BE" sz="7200" b="1" dirty="0">
              <a:solidFill>
                <a:srgbClr val="0099FF"/>
              </a:solidFill>
            </a:endParaRPr>
          </a:p>
          <a:p>
            <a:pPr lvl="0" algn="ctr">
              <a:defRPr/>
            </a:pPr>
            <a:endParaRPr lang="nl-BE" sz="7200" b="1" dirty="0">
              <a:solidFill>
                <a:srgbClr val="0099FF"/>
              </a:solidFill>
            </a:endParaRPr>
          </a:p>
          <a:p>
            <a:pPr lvl="0" algn="ctr">
              <a:defRPr/>
            </a:pPr>
            <a:endParaRPr kumimoji="0" lang="nl-BE" sz="7200" b="1" i="0" u="none" strike="noStrike" kern="1200" cap="none" spc="0" normalizeH="0" baseline="0" noProof="0" dirty="0">
              <a:ln>
                <a:noFill/>
              </a:ln>
              <a:solidFill>
                <a:srgbClr val="0099FF"/>
              </a:solidFill>
              <a:effectLst/>
              <a:uLnTx/>
              <a:uFillTx/>
              <a:latin typeface="Calibri"/>
              <a:ea typeface="+mn-ea"/>
              <a:cs typeface="+mn-cs"/>
            </a:endParaRPr>
          </a:p>
        </p:txBody>
      </p:sp>
      <p:sp>
        <p:nvSpPr>
          <p:cNvPr id="6" name="Rectangle 5">
            <a:extLst>
              <a:ext uri="{FF2B5EF4-FFF2-40B4-BE49-F238E27FC236}">
                <a16:creationId xmlns:a16="http://schemas.microsoft.com/office/drawing/2014/main" id="{4DF69F3F-B42C-F5AF-FCB4-49447731988F}"/>
              </a:ext>
            </a:extLst>
          </p:cNvPr>
          <p:cNvSpPr/>
          <p:nvPr/>
        </p:nvSpPr>
        <p:spPr>
          <a:xfrm>
            <a:off x="4114800" y="3794760"/>
            <a:ext cx="3959352" cy="36576"/>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Tijdelijke aanduiding voor dianummer 12">
            <a:extLst>
              <a:ext uri="{FF2B5EF4-FFF2-40B4-BE49-F238E27FC236}">
                <a16:creationId xmlns:a16="http://schemas.microsoft.com/office/drawing/2014/main" id="{71DF78AA-B9B9-5094-9479-65D41086D534}"/>
              </a:ext>
            </a:extLst>
          </p:cNvPr>
          <p:cNvSpPr>
            <a:spLocks noGrp="1"/>
          </p:cNvSpPr>
          <p:nvPr>
            <p:ph type="sldNum" sz="quarter" idx="12"/>
          </p:nvPr>
        </p:nvSpPr>
        <p:spPr>
          <a:xfrm>
            <a:off x="10055225" y="6483731"/>
            <a:ext cx="21336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1FF6DA9-008F-8B48-92A6-B652298478B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5867901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7EF960EE-1841-F4F1-32B0-AE9DA374AB8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9EA62FD-212D-0646-C1AF-E732DB490B4F}"/>
              </a:ext>
            </a:extLst>
          </p:cNvPr>
          <p:cNvSpPr/>
          <p:nvPr/>
        </p:nvSpPr>
        <p:spPr>
          <a:xfrm>
            <a:off x="0" y="0"/>
            <a:ext cx="91440" cy="6858000"/>
          </a:xfrm>
          <a:prstGeom prst="rect">
            <a:avLst/>
          </a:prstGeom>
          <a:solidFill>
            <a:srgbClr val="00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Rectangle 2">
            <a:extLst>
              <a:ext uri="{FF2B5EF4-FFF2-40B4-BE49-F238E27FC236}">
                <a16:creationId xmlns:a16="http://schemas.microsoft.com/office/drawing/2014/main" id="{65D7151E-4F3F-09A8-64EF-39EFAFE42717}"/>
              </a:ext>
            </a:extLst>
          </p:cNvPr>
          <p:cNvSpPr/>
          <p:nvPr/>
        </p:nvSpPr>
        <p:spPr>
          <a:xfrm>
            <a:off x="0" y="6803136"/>
            <a:ext cx="12188952" cy="54864"/>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a:extLst>
              <a:ext uri="{FF2B5EF4-FFF2-40B4-BE49-F238E27FC236}">
                <a16:creationId xmlns:a16="http://schemas.microsoft.com/office/drawing/2014/main" id="{1FE0511A-FD2F-E5B9-1839-26F10CB57D54}"/>
              </a:ext>
            </a:extLst>
          </p:cNvPr>
          <p:cNvSpPr txBox="1"/>
          <p:nvPr/>
        </p:nvSpPr>
        <p:spPr>
          <a:xfrm>
            <a:off x="91439" y="1645920"/>
            <a:ext cx="12097385" cy="2308324"/>
          </a:xfrm>
          <a:prstGeom prst="rect">
            <a:avLst/>
          </a:prstGeom>
          <a:noFill/>
        </p:spPr>
        <p:txBody>
          <a:bodyPr wrap="square">
            <a:spAutoFit/>
          </a:bodyPr>
          <a:lstStyle/>
          <a:p>
            <a:pPr algn="ctr">
              <a:defRPr/>
            </a:pPr>
            <a:r>
              <a:rPr lang="nl-BE" sz="7200" b="1" dirty="0">
                <a:solidFill>
                  <a:srgbClr val="0099FF"/>
                </a:solidFill>
              </a:rPr>
              <a:t>Sprint 2 voorbereiding</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nl-BE" sz="7200" b="1" i="0" u="none" strike="noStrike" kern="1200" cap="none" spc="0" normalizeH="0" baseline="0" noProof="0" dirty="0">
              <a:ln>
                <a:noFill/>
              </a:ln>
              <a:solidFill>
                <a:srgbClr val="0099FF"/>
              </a:solidFill>
              <a:effectLst/>
              <a:uLnTx/>
              <a:uFillTx/>
              <a:latin typeface="Calibri"/>
              <a:ea typeface="+mn-ea"/>
              <a:cs typeface="+mn-cs"/>
            </a:endParaRPr>
          </a:p>
        </p:txBody>
      </p:sp>
      <p:sp>
        <p:nvSpPr>
          <p:cNvPr id="6" name="Rectangle 5">
            <a:extLst>
              <a:ext uri="{FF2B5EF4-FFF2-40B4-BE49-F238E27FC236}">
                <a16:creationId xmlns:a16="http://schemas.microsoft.com/office/drawing/2014/main" id="{5A54803D-9897-DE80-84E0-3D103FD05D54}"/>
              </a:ext>
            </a:extLst>
          </p:cNvPr>
          <p:cNvSpPr/>
          <p:nvPr/>
        </p:nvSpPr>
        <p:spPr>
          <a:xfrm>
            <a:off x="4114800" y="3794760"/>
            <a:ext cx="3959352" cy="36576"/>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Tijdelijke aanduiding voor dianummer 12">
            <a:extLst>
              <a:ext uri="{FF2B5EF4-FFF2-40B4-BE49-F238E27FC236}">
                <a16:creationId xmlns:a16="http://schemas.microsoft.com/office/drawing/2014/main" id="{BE24A567-7AE4-3245-B90E-5302957493AF}"/>
              </a:ext>
            </a:extLst>
          </p:cNvPr>
          <p:cNvSpPr>
            <a:spLocks noGrp="1"/>
          </p:cNvSpPr>
          <p:nvPr>
            <p:ph type="sldNum" sz="quarter" idx="12"/>
          </p:nvPr>
        </p:nvSpPr>
        <p:spPr>
          <a:xfrm>
            <a:off x="10055225" y="6483731"/>
            <a:ext cx="21336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1FF6DA9-008F-8B48-92A6-B652298478B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4853175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73152" cy="1005840"/>
          </a:xfrm>
          <a:prstGeom prst="rect">
            <a:avLst/>
          </a:prstGeom>
          <a:solidFill>
            <a:srgbClr val="FFB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01168" y="73152"/>
            <a:ext cx="4059060" cy="553998"/>
          </a:xfrm>
          <a:prstGeom prst="rect">
            <a:avLst/>
          </a:prstGeom>
          <a:noFill/>
        </p:spPr>
        <p:txBody>
          <a:bodyPr wrap="none">
            <a:spAutoFit/>
          </a:bodyPr>
          <a:lstStyle/>
          <a:p>
            <a:r>
              <a:rPr sz="3000" b="1" dirty="0">
                <a:solidFill>
                  <a:srgbClr val="FFFFFF"/>
                </a:solidFill>
              </a:rPr>
              <a:t>Sprint </a:t>
            </a:r>
            <a:r>
              <a:rPr lang="nl-BE" sz="3000" b="1" dirty="0">
                <a:solidFill>
                  <a:srgbClr val="FFFFFF"/>
                </a:solidFill>
              </a:rPr>
              <a:t>2</a:t>
            </a:r>
            <a:r>
              <a:rPr sz="3000" b="1" dirty="0">
                <a:solidFill>
                  <a:srgbClr val="FFFFFF"/>
                </a:solidFill>
              </a:rPr>
              <a:t> – </a:t>
            </a:r>
            <a:r>
              <a:rPr sz="3000" b="1" dirty="0" err="1">
                <a:solidFill>
                  <a:srgbClr val="FFFFFF"/>
                </a:solidFill>
              </a:rPr>
              <a:t>Voorbereiding</a:t>
            </a:r>
            <a:endParaRPr sz="3000" b="1" dirty="0">
              <a:solidFill>
                <a:srgbClr val="FFFFFF"/>
              </a:solidFill>
            </a:endParaRPr>
          </a:p>
        </p:txBody>
      </p:sp>
      <p:sp>
        <p:nvSpPr>
          <p:cNvPr id="5" name="TextBox 4"/>
          <p:cNvSpPr txBox="1"/>
          <p:nvPr/>
        </p:nvSpPr>
        <p:spPr>
          <a:xfrm>
            <a:off x="201168" y="585216"/>
            <a:ext cx="9144000" cy="310896"/>
          </a:xfrm>
          <a:prstGeom prst="rect">
            <a:avLst/>
          </a:prstGeom>
          <a:noFill/>
        </p:spPr>
        <p:txBody>
          <a:bodyPr wrap="none">
            <a:spAutoFit/>
          </a:bodyPr>
          <a:lstStyle/>
          <a:p>
            <a:r>
              <a:rPr sz="1400">
                <a:solidFill>
                  <a:srgbClr val="B0C4D8"/>
                </a:solidFill>
              </a:rPr>
              <a:t>08 – User Stories &amp; Sprint Goal</a:t>
            </a:r>
          </a:p>
        </p:txBody>
      </p:sp>
      <p:sp>
        <p:nvSpPr>
          <p:cNvPr id="6" name="Rectangle 5"/>
          <p:cNvSpPr/>
          <p:nvPr/>
        </p:nvSpPr>
        <p:spPr>
          <a:xfrm>
            <a:off x="274320" y="1188720"/>
            <a:ext cx="11640312" cy="1234440"/>
          </a:xfrm>
          <a:prstGeom prst="rect">
            <a:avLst/>
          </a:prstGeom>
          <a:solidFill>
            <a:srgbClr val="1A2E14"/>
          </a:solidFill>
          <a:ln w="25400">
            <a:solidFill>
              <a:srgbClr val="00E5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74320" y="1188720"/>
            <a:ext cx="109728" cy="1234440"/>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1216152"/>
            <a:ext cx="2743200" cy="261610"/>
          </a:xfrm>
          <a:prstGeom prst="rect">
            <a:avLst/>
          </a:prstGeom>
          <a:noFill/>
        </p:spPr>
        <p:txBody>
          <a:bodyPr wrap="square">
            <a:spAutoFit/>
          </a:bodyPr>
          <a:lstStyle/>
          <a:p>
            <a:pPr algn="l"/>
            <a:r>
              <a:rPr sz="1100" b="1" i="0" dirty="0">
                <a:solidFill>
                  <a:srgbClr val="00E596"/>
                </a:solidFill>
              </a:rPr>
              <a:t>Sprint </a:t>
            </a:r>
            <a:r>
              <a:rPr lang="nl-BE" sz="1100" b="1" i="0" dirty="0">
                <a:solidFill>
                  <a:srgbClr val="00E596"/>
                </a:solidFill>
              </a:rPr>
              <a:t>2</a:t>
            </a:r>
            <a:r>
              <a:rPr sz="1100" b="1" i="0" dirty="0">
                <a:solidFill>
                  <a:srgbClr val="00E596"/>
                </a:solidFill>
              </a:rPr>
              <a:t> Goal</a:t>
            </a:r>
          </a:p>
        </p:txBody>
      </p:sp>
      <p:sp>
        <p:nvSpPr>
          <p:cNvPr id="9" name="TextBox 8"/>
          <p:cNvSpPr txBox="1"/>
          <p:nvPr/>
        </p:nvSpPr>
        <p:spPr>
          <a:xfrm>
            <a:off x="502920" y="1447647"/>
            <a:ext cx="10972800" cy="646331"/>
          </a:xfrm>
          <a:prstGeom prst="rect">
            <a:avLst/>
          </a:prstGeom>
          <a:noFill/>
        </p:spPr>
        <p:txBody>
          <a:bodyPr wrap="square">
            <a:spAutoFit/>
          </a:bodyPr>
          <a:lstStyle/>
          <a:p>
            <a:r>
              <a:rPr lang="nl-BE" i="1" dirty="0">
                <a:solidFill>
                  <a:srgbClr val="AAFFAA"/>
                </a:solidFill>
              </a:rPr>
              <a:t>Aan het einde van deze sprint kan de applicatie AI-gestuurde simulaties uitvoeren, inclusief bediening, strategie-selectie, verkeerskaart, KPI-dashboard en waarschuwingen.</a:t>
            </a:r>
            <a:endParaRPr sz="1600" b="1" i="1" dirty="0">
              <a:solidFill>
                <a:srgbClr val="AAFFAA"/>
              </a:solidFill>
            </a:endParaRPr>
          </a:p>
        </p:txBody>
      </p:sp>
      <p:sp>
        <p:nvSpPr>
          <p:cNvPr id="67" name="Rectangle 66"/>
          <p:cNvSpPr/>
          <p:nvPr/>
        </p:nvSpPr>
        <p:spPr>
          <a:xfrm>
            <a:off x="8961120" y="6217920"/>
            <a:ext cx="2971800" cy="457200"/>
          </a:xfrm>
          <a:prstGeom prst="rect">
            <a:avLst/>
          </a:prstGeom>
          <a:solidFill>
            <a:srgbClr val="16283E"/>
          </a:solidFill>
          <a:ln w="19050">
            <a:solidFill>
              <a:srgbClr val="FFB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9052560" y="6254496"/>
            <a:ext cx="2834640" cy="292388"/>
          </a:xfrm>
          <a:prstGeom prst="rect">
            <a:avLst/>
          </a:prstGeom>
          <a:noFill/>
        </p:spPr>
        <p:txBody>
          <a:bodyPr wrap="square">
            <a:spAutoFit/>
          </a:bodyPr>
          <a:lstStyle/>
          <a:p>
            <a:pPr algn="ctr"/>
            <a:r>
              <a:rPr sz="1300" b="1" i="0" dirty="0">
                <a:solidFill>
                  <a:srgbClr val="FFBF00"/>
                </a:solidFill>
              </a:rPr>
              <a:t>Sprint </a:t>
            </a:r>
            <a:r>
              <a:rPr lang="nl-BE" sz="1300" b="1" i="0" dirty="0">
                <a:solidFill>
                  <a:srgbClr val="FFBF00"/>
                </a:solidFill>
              </a:rPr>
              <a:t>2</a:t>
            </a:r>
            <a:r>
              <a:rPr sz="1300" b="1" i="0" dirty="0">
                <a:solidFill>
                  <a:srgbClr val="FFBF00"/>
                </a:solidFill>
              </a:rPr>
              <a:t> : </a:t>
            </a:r>
            <a:r>
              <a:rPr lang="en-US" sz="1300" b="1" dirty="0">
                <a:solidFill>
                  <a:srgbClr val="FFBF00"/>
                </a:solidFill>
              </a:rPr>
              <a:t>72</a:t>
            </a:r>
            <a:r>
              <a:rPr sz="1300" b="1" i="0" dirty="0">
                <a:solidFill>
                  <a:srgbClr val="FFBF00"/>
                </a:solidFill>
              </a:rPr>
              <a:t> Story Points</a:t>
            </a:r>
          </a:p>
        </p:txBody>
      </p:sp>
      <p:sp>
        <p:nvSpPr>
          <p:cNvPr id="69" name="Tijdelijke aanduiding voor dianummer 68">
            <a:extLst>
              <a:ext uri="{FF2B5EF4-FFF2-40B4-BE49-F238E27FC236}">
                <a16:creationId xmlns:a16="http://schemas.microsoft.com/office/drawing/2014/main" id="{AEF1A8C3-F41B-8D38-5F00-3F6816D7F24D}"/>
              </a:ext>
            </a:extLst>
          </p:cNvPr>
          <p:cNvSpPr>
            <a:spLocks noGrp="1"/>
          </p:cNvSpPr>
          <p:nvPr>
            <p:ph type="sldNum" sz="quarter" idx="12"/>
          </p:nvPr>
        </p:nvSpPr>
        <p:spPr>
          <a:xfrm>
            <a:off x="10055352" y="6483731"/>
            <a:ext cx="2133600" cy="365125"/>
          </a:xfrm>
        </p:spPr>
        <p:txBody>
          <a:bodyPr/>
          <a:lstStyle/>
          <a:p>
            <a:fld id="{C1FF6DA9-008F-8B48-92A6-B652298478BF}" type="slidenum">
              <a:rPr lang="en-US" smtClean="0"/>
              <a:t>18</a:t>
            </a:fld>
            <a:endParaRPr lang="en-US" dirty="0"/>
          </a:p>
        </p:txBody>
      </p:sp>
      <p:sp>
        <p:nvSpPr>
          <p:cNvPr id="126" name="Rectangle 5">
            <a:extLst>
              <a:ext uri="{FF2B5EF4-FFF2-40B4-BE49-F238E27FC236}">
                <a16:creationId xmlns:a16="http://schemas.microsoft.com/office/drawing/2014/main" id="{5D5511B5-FDDE-88E0-F629-D2C3BF26E453}"/>
              </a:ext>
            </a:extLst>
          </p:cNvPr>
          <p:cNvSpPr/>
          <p:nvPr/>
        </p:nvSpPr>
        <p:spPr>
          <a:xfrm>
            <a:off x="73152" y="2697269"/>
            <a:ext cx="11658600" cy="329184"/>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TextBox 6">
            <a:extLst>
              <a:ext uri="{FF2B5EF4-FFF2-40B4-BE49-F238E27FC236}">
                <a16:creationId xmlns:a16="http://schemas.microsoft.com/office/drawing/2014/main" id="{614FE009-CD53-3526-9B09-ABE51C113F8E}"/>
              </a:ext>
            </a:extLst>
          </p:cNvPr>
          <p:cNvSpPr txBox="1"/>
          <p:nvPr/>
        </p:nvSpPr>
        <p:spPr>
          <a:xfrm>
            <a:off x="530225" y="2735262"/>
            <a:ext cx="640080" cy="256032"/>
          </a:xfrm>
          <a:prstGeom prst="rect">
            <a:avLst/>
          </a:prstGeom>
          <a:noFill/>
        </p:spPr>
        <p:txBody>
          <a:bodyPr wrap="square">
            <a:spAutoFit/>
          </a:bodyPr>
          <a:lstStyle/>
          <a:p>
            <a:pPr algn="l"/>
            <a:r>
              <a:rPr sz="1100" b="1" i="0" dirty="0">
                <a:solidFill>
                  <a:srgbClr val="0099FF"/>
                </a:solidFill>
              </a:rPr>
              <a:t>ID</a:t>
            </a:r>
          </a:p>
        </p:txBody>
      </p:sp>
      <p:sp>
        <p:nvSpPr>
          <p:cNvPr id="128" name="TextBox 7">
            <a:extLst>
              <a:ext uri="{FF2B5EF4-FFF2-40B4-BE49-F238E27FC236}">
                <a16:creationId xmlns:a16="http://schemas.microsoft.com/office/drawing/2014/main" id="{EFB91A26-A57D-A75B-DDA6-A40FD2C912A7}"/>
              </a:ext>
            </a:extLst>
          </p:cNvPr>
          <p:cNvSpPr txBox="1"/>
          <p:nvPr/>
        </p:nvSpPr>
        <p:spPr>
          <a:xfrm>
            <a:off x="1600200" y="2742989"/>
            <a:ext cx="1920240" cy="261610"/>
          </a:xfrm>
          <a:prstGeom prst="rect">
            <a:avLst/>
          </a:prstGeom>
          <a:noFill/>
        </p:spPr>
        <p:txBody>
          <a:bodyPr wrap="square">
            <a:spAutoFit/>
          </a:bodyPr>
          <a:lstStyle/>
          <a:p>
            <a:pPr algn="l"/>
            <a:r>
              <a:rPr lang="en-US" sz="1100" b="1" dirty="0">
                <a:solidFill>
                  <a:srgbClr val="0099FF"/>
                </a:solidFill>
              </a:rPr>
              <a:t>Epic</a:t>
            </a:r>
            <a:endParaRPr sz="1100" b="1" i="0" dirty="0">
              <a:solidFill>
                <a:srgbClr val="0099FF"/>
              </a:solidFill>
            </a:endParaRPr>
          </a:p>
        </p:txBody>
      </p:sp>
      <p:sp>
        <p:nvSpPr>
          <p:cNvPr id="129" name="TextBox 8">
            <a:extLst>
              <a:ext uri="{FF2B5EF4-FFF2-40B4-BE49-F238E27FC236}">
                <a16:creationId xmlns:a16="http://schemas.microsoft.com/office/drawing/2014/main" id="{9D7D16C8-FDB7-4CBD-CEF0-57680D7E12D0}"/>
              </a:ext>
            </a:extLst>
          </p:cNvPr>
          <p:cNvSpPr txBox="1"/>
          <p:nvPr/>
        </p:nvSpPr>
        <p:spPr>
          <a:xfrm>
            <a:off x="2788920" y="2742989"/>
            <a:ext cx="5029200" cy="256032"/>
          </a:xfrm>
          <a:prstGeom prst="rect">
            <a:avLst/>
          </a:prstGeom>
          <a:noFill/>
        </p:spPr>
        <p:txBody>
          <a:bodyPr wrap="square">
            <a:spAutoFit/>
          </a:bodyPr>
          <a:lstStyle/>
          <a:p>
            <a:pPr algn="l"/>
            <a:r>
              <a:rPr sz="1100" b="1" i="0">
                <a:solidFill>
                  <a:srgbClr val="0099FF"/>
                </a:solidFill>
              </a:rPr>
              <a:t>User Story</a:t>
            </a:r>
          </a:p>
        </p:txBody>
      </p:sp>
      <p:sp>
        <p:nvSpPr>
          <p:cNvPr id="130" name="TextBox 9">
            <a:extLst>
              <a:ext uri="{FF2B5EF4-FFF2-40B4-BE49-F238E27FC236}">
                <a16:creationId xmlns:a16="http://schemas.microsoft.com/office/drawing/2014/main" id="{99BBEE27-F06D-2C5C-F423-7AAE23483D04}"/>
              </a:ext>
            </a:extLst>
          </p:cNvPr>
          <p:cNvSpPr txBox="1"/>
          <p:nvPr/>
        </p:nvSpPr>
        <p:spPr>
          <a:xfrm>
            <a:off x="7863840" y="2742989"/>
            <a:ext cx="1371600" cy="256032"/>
          </a:xfrm>
          <a:prstGeom prst="rect">
            <a:avLst/>
          </a:prstGeom>
          <a:noFill/>
        </p:spPr>
        <p:txBody>
          <a:bodyPr wrap="square">
            <a:spAutoFit/>
          </a:bodyPr>
          <a:lstStyle/>
          <a:p>
            <a:pPr algn="l"/>
            <a:r>
              <a:rPr sz="1100" b="1" i="0">
                <a:solidFill>
                  <a:srgbClr val="0099FF"/>
                </a:solidFill>
              </a:rPr>
              <a:t>Prioriteit</a:t>
            </a:r>
          </a:p>
        </p:txBody>
      </p:sp>
      <p:sp>
        <p:nvSpPr>
          <p:cNvPr id="131" name="TextBox 10">
            <a:extLst>
              <a:ext uri="{FF2B5EF4-FFF2-40B4-BE49-F238E27FC236}">
                <a16:creationId xmlns:a16="http://schemas.microsoft.com/office/drawing/2014/main" id="{E659E3F4-81D3-8A5E-1109-F2D62586B652}"/>
              </a:ext>
            </a:extLst>
          </p:cNvPr>
          <p:cNvSpPr txBox="1"/>
          <p:nvPr/>
        </p:nvSpPr>
        <p:spPr>
          <a:xfrm>
            <a:off x="9326880" y="2742989"/>
            <a:ext cx="1188720" cy="256032"/>
          </a:xfrm>
          <a:prstGeom prst="rect">
            <a:avLst/>
          </a:prstGeom>
          <a:noFill/>
        </p:spPr>
        <p:txBody>
          <a:bodyPr wrap="square">
            <a:spAutoFit/>
          </a:bodyPr>
          <a:lstStyle/>
          <a:p>
            <a:pPr algn="l"/>
            <a:r>
              <a:rPr sz="1100" b="1" i="0">
                <a:solidFill>
                  <a:srgbClr val="0099FF"/>
                </a:solidFill>
              </a:rPr>
              <a:t>Story Points</a:t>
            </a:r>
          </a:p>
        </p:txBody>
      </p:sp>
      <p:sp>
        <p:nvSpPr>
          <p:cNvPr id="132" name="TextBox 11">
            <a:extLst>
              <a:ext uri="{FF2B5EF4-FFF2-40B4-BE49-F238E27FC236}">
                <a16:creationId xmlns:a16="http://schemas.microsoft.com/office/drawing/2014/main" id="{B0D5D86A-D501-B723-5503-2CBAD832F1C9}"/>
              </a:ext>
            </a:extLst>
          </p:cNvPr>
          <p:cNvSpPr txBox="1"/>
          <p:nvPr/>
        </p:nvSpPr>
        <p:spPr>
          <a:xfrm>
            <a:off x="10607040" y="2742989"/>
            <a:ext cx="731520" cy="256032"/>
          </a:xfrm>
          <a:prstGeom prst="rect">
            <a:avLst/>
          </a:prstGeom>
          <a:noFill/>
        </p:spPr>
        <p:txBody>
          <a:bodyPr wrap="square">
            <a:spAutoFit/>
          </a:bodyPr>
          <a:lstStyle/>
          <a:p>
            <a:pPr algn="l"/>
            <a:r>
              <a:rPr sz="1100" b="1" i="0">
                <a:solidFill>
                  <a:srgbClr val="0099FF"/>
                </a:solidFill>
              </a:rPr>
              <a:t>Sprint</a:t>
            </a:r>
          </a:p>
        </p:txBody>
      </p:sp>
      <p:sp>
        <p:nvSpPr>
          <p:cNvPr id="133" name="Rectangle 12">
            <a:extLst>
              <a:ext uri="{FF2B5EF4-FFF2-40B4-BE49-F238E27FC236}">
                <a16:creationId xmlns:a16="http://schemas.microsoft.com/office/drawing/2014/main" id="{18A6ABDD-5DE5-9C57-8EE7-541E60FD032D}"/>
              </a:ext>
            </a:extLst>
          </p:cNvPr>
          <p:cNvSpPr/>
          <p:nvPr/>
        </p:nvSpPr>
        <p:spPr>
          <a:xfrm>
            <a:off x="73152" y="3089853"/>
            <a:ext cx="11658600" cy="604112"/>
          </a:xfrm>
          <a:prstGeom prst="rect">
            <a:avLst/>
          </a:prstGeom>
          <a:solidFill>
            <a:srgbClr val="1628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TextBox 13">
            <a:extLst>
              <a:ext uri="{FF2B5EF4-FFF2-40B4-BE49-F238E27FC236}">
                <a16:creationId xmlns:a16="http://schemas.microsoft.com/office/drawing/2014/main" id="{1267F623-3539-F9F7-CCC5-A356BA153BE0}"/>
              </a:ext>
            </a:extLst>
          </p:cNvPr>
          <p:cNvSpPr txBox="1"/>
          <p:nvPr/>
        </p:nvSpPr>
        <p:spPr>
          <a:xfrm>
            <a:off x="137159" y="3181901"/>
            <a:ext cx="1463041" cy="261610"/>
          </a:xfrm>
          <a:prstGeom prst="rect">
            <a:avLst/>
          </a:prstGeom>
          <a:noFill/>
        </p:spPr>
        <p:txBody>
          <a:bodyPr wrap="square">
            <a:spAutoFit/>
          </a:bodyPr>
          <a:lstStyle/>
          <a:p>
            <a:pPr algn="l"/>
            <a:r>
              <a:rPr sz="1100" b="1" i="0" dirty="0">
                <a:solidFill>
                  <a:srgbClr val="0099FF"/>
                </a:solidFill>
              </a:rPr>
              <a:t>US</a:t>
            </a:r>
            <a:r>
              <a:rPr lang="nl-BE" sz="1100" b="1" i="0" dirty="0">
                <a:solidFill>
                  <a:srgbClr val="0099FF"/>
                </a:solidFill>
              </a:rPr>
              <a:t>R2526AI03-</a:t>
            </a:r>
            <a:r>
              <a:rPr lang="nl-BE" sz="1100" b="1" dirty="0">
                <a:solidFill>
                  <a:srgbClr val="0099FF"/>
                </a:solidFill>
              </a:rPr>
              <a:t>38</a:t>
            </a:r>
            <a:r>
              <a:rPr sz="1100" b="1" i="0" dirty="0">
                <a:solidFill>
                  <a:srgbClr val="0099FF"/>
                </a:solidFill>
              </a:rPr>
              <a:t> </a:t>
            </a:r>
          </a:p>
        </p:txBody>
      </p:sp>
      <p:sp>
        <p:nvSpPr>
          <p:cNvPr id="135" name="TextBox 14">
            <a:extLst>
              <a:ext uri="{FF2B5EF4-FFF2-40B4-BE49-F238E27FC236}">
                <a16:creationId xmlns:a16="http://schemas.microsoft.com/office/drawing/2014/main" id="{71EC73C8-78CC-DDA2-81EF-DCB6C4757773}"/>
              </a:ext>
            </a:extLst>
          </p:cNvPr>
          <p:cNvSpPr txBox="1"/>
          <p:nvPr/>
        </p:nvSpPr>
        <p:spPr>
          <a:xfrm>
            <a:off x="1353184" y="3203026"/>
            <a:ext cx="1828800" cy="261610"/>
          </a:xfrm>
          <a:prstGeom prst="rect">
            <a:avLst/>
          </a:prstGeom>
          <a:noFill/>
        </p:spPr>
        <p:txBody>
          <a:bodyPr wrap="square">
            <a:spAutoFit/>
          </a:bodyPr>
          <a:lstStyle/>
          <a:p>
            <a:pPr algn="l"/>
            <a:r>
              <a:rPr lang="en-US" sz="1100" b="1" dirty="0">
                <a:solidFill>
                  <a:srgbClr val="FFFFFF"/>
                </a:solidFill>
              </a:rPr>
              <a:t>KPI dashboard</a:t>
            </a:r>
            <a:endParaRPr sz="1100" b="1" i="0" dirty="0">
              <a:solidFill>
                <a:srgbClr val="FFFFFF"/>
              </a:solidFill>
            </a:endParaRPr>
          </a:p>
        </p:txBody>
      </p:sp>
      <p:sp>
        <p:nvSpPr>
          <p:cNvPr id="136" name="TextBox 15">
            <a:extLst>
              <a:ext uri="{FF2B5EF4-FFF2-40B4-BE49-F238E27FC236}">
                <a16:creationId xmlns:a16="http://schemas.microsoft.com/office/drawing/2014/main" id="{03FC3FEC-0EEA-155E-7496-FA058E04B180}"/>
              </a:ext>
            </a:extLst>
          </p:cNvPr>
          <p:cNvSpPr txBox="1"/>
          <p:nvPr/>
        </p:nvSpPr>
        <p:spPr>
          <a:xfrm>
            <a:off x="2788920" y="3145325"/>
            <a:ext cx="4937760" cy="577081"/>
          </a:xfrm>
          <a:prstGeom prst="rect">
            <a:avLst/>
          </a:prstGeom>
          <a:noFill/>
        </p:spPr>
        <p:txBody>
          <a:bodyPr wrap="square">
            <a:spAutoFit/>
          </a:bodyPr>
          <a:lstStyle/>
          <a:p>
            <a:r>
              <a:rPr lang="nl-BE" sz="1050" dirty="0">
                <a:solidFill>
                  <a:srgbClr val="B0C4D8"/>
                </a:solidFill>
              </a:rPr>
              <a:t>Als verkeersdeskundige of lid van het stadsbestuur wil ik tijdens een actieve simulatie een KPI-dashboard kunnen bekijken zodat ik </a:t>
            </a:r>
            <a:r>
              <a:rPr lang="nl-BE" sz="1050" dirty="0" err="1">
                <a:solidFill>
                  <a:srgbClr val="B0C4D8"/>
                </a:solidFill>
              </a:rPr>
              <a:t>realtime</a:t>
            </a:r>
            <a:r>
              <a:rPr lang="nl-BE" sz="1050" dirty="0">
                <a:solidFill>
                  <a:srgbClr val="B0C4D8"/>
                </a:solidFill>
              </a:rPr>
              <a:t> inzicht krijg in de verkeersprestaties.</a:t>
            </a:r>
            <a:endParaRPr sz="1050" b="0" i="0" dirty="0">
              <a:solidFill>
                <a:srgbClr val="B0C4D8"/>
              </a:solidFill>
            </a:endParaRPr>
          </a:p>
        </p:txBody>
      </p:sp>
      <p:sp>
        <p:nvSpPr>
          <p:cNvPr id="137" name="TextBox 18">
            <a:extLst>
              <a:ext uri="{FF2B5EF4-FFF2-40B4-BE49-F238E27FC236}">
                <a16:creationId xmlns:a16="http://schemas.microsoft.com/office/drawing/2014/main" id="{382D1F69-9F33-A9BF-0791-C846A101467E}"/>
              </a:ext>
            </a:extLst>
          </p:cNvPr>
          <p:cNvSpPr txBox="1"/>
          <p:nvPr/>
        </p:nvSpPr>
        <p:spPr>
          <a:xfrm>
            <a:off x="9372600" y="3236765"/>
            <a:ext cx="1097280" cy="253916"/>
          </a:xfrm>
          <a:prstGeom prst="rect">
            <a:avLst/>
          </a:prstGeom>
          <a:noFill/>
        </p:spPr>
        <p:txBody>
          <a:bodyPr wrap="square">
            <a:spAutoFit/>
          </a:bodyPr>
          <a:lstStyle/>
          <a:p>
            <a:pPr algn="l"/>
            <a:r>
              <a:rPr sz="1050" b="1" i="0" dirty="0">
                <a:solidFill>
                  <a:srgbClr val="FFBF00"/>
                </a:solidFill>
              </a:rPr>
              <a:t>  </a:t>
            </a:r>
            <a:r>
              <a:rPr lang="nl-BE" sz="1050" b="1" dirty="0">
                <a:solidFill>
                  <a:srgbClr val="FFBF00"/>
                </a:solidFill>
              </a:rPr>
              <a:t>8</a:t>
            </a:r>
            <a:r>
              <a:rPr sz="1050" b="1" i="0" dirty="0">
                <a:solidFill>
                  <a:srgbClr val="FFBF00"/>
                </a:solidFill>
              </a:rPr>
              <a:t> </a:t>
            </a:r>
            <a:r>
              <a:rPr lang="en-US" sz="1050" b="1" i="0" dirty="0">
                <a:solidFill>
                  <a:srgbClr val="FFBF00"/>
                </a:solidFill>
              </a:rPr>
              <a:t>SP</a:t>
            </a:r>
            <a:endParaRPr sz="1050" b="1" i="0" dirty="0">
              <a:solidFill>
                <a:srgbClr val="FFBF00"/>
              </a:solidFill>
            </a:endParaRPr>
          </a:p>
        </p:txBody>
      </p:sp>
      <p:sp>
        <p:nvSpPr>
          <p:cNvPr id="138" name="TextBox 19">
            <a:extLst>
              <a:ext uri="{FF2B5EF4-FFF2-40B4-BE49-F238E27FC236}">
                <a16:creationId xmlns:a16="http://schemas.microsoft.com/office/drawing/2014/main" id="{1E8EEE0A-C8AD-4306-7763-F4C9A894E205}"/>
              </a:ext>
            </a:extLst>
          </p:cNvPr>
          <p:cNvSpPr txBox="1"/>
          <p:nvPr/>
        </p:nvSpPr>
        <p:spPr>
          <a:xfrm>
            <a:off x="10652760" y="3236765"/>
            <a:ext cx="640080" cy="261610"/>
          </a:xfrm>
          <a:prstGeom prst="rect">
            <a:avLst/>
          </a:prstGeom>
          <a:noFill/>
        </p:spPr>
        <p:txBody>
          <a:bodyPr wrap="square">
            <a:spAutoFit/>
          </a:bodyPr>
          <a:lstStyle/>
          <a:p>
            <a:pPr algn="ctr"/>
            <a:r>
              <a:rPr sz="1100" b="1" i="0" dirty="0">
                <a:solidFill>
                  <a:srgbClr val="00E596"/>
                </a:solidFill>
              </a:rPr>
              <a:t>S</a:t>
            </a:r>
            <a:r>
              <a:rPr lang="nl-BE" sz="1100" b="1" i="0" dirty="0">
                <a:solidFill>
                  <a:srgbClr val="00E596"/>
                </a:solidFill>
              </a:rPr>
              <a:t>2</a:t>
            </a:r>
            <a:endParaRPr sz="1100" b="1" i="0" dirty="0">
              <a:solidFill>
                <a:srgbClr val="00E596"/>
              </a:solidFill>
            </a:endParaRPr>
          </a:p>
        </p:txBody>
      </p:sp>
      <p:sp>
        <p:nvSpPr>
          <p:cNvPr id="139" name="Rectangle 20">
            <a:extLst>
              <a:ext uri="{FF2B5EF4-FFF2-40B4-BE49-F238E27FC236}">
                <a16:creationId xmlns:a16="http://schemas.microsoft.com/office/drawing/2014/main" id="{3A43CE79-D94F-E10F-B029-C038216D66B8}"/>
              </a:ext>
            </a:extLst>
          </p:cNvPr>
          <p:cNvSpPr/>
          <p:nvPr/>
        </p:nvSpPr>
        <p:spPr>
          <a:xfrm>
            <a:off x="73152" y="3730541"/>
            <a:ext cx="11658600" cy="621792"/>
          </a:xfrm>
          <a:prstGeom prst="rect">
            <a:avLst/>
          </a:prstGeom>
          <a:solidFill>
            <a:srgbClr val="122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TextBox 21">
            <a:extLst>
              <a:ext uri="{FF2B5EF4-FFF2-40B4-BE49-F238E27FC236}">
                <a16:creationId xmlns:a16="http://schemas.microsoft.com/office/drawing/2014/main" id="{3596DB74-C3C1-3B0D-15A5-25AE77863AF8}"/>
              </a:ext>
            </a:extLst>
          </p:cNvPr>
          <p:cNvSpPr txBox="1"/>
          <p:nvPr/>
        </p:nvSpPr>
        <p:spPr>
          <a:xfrm>
            <a:off x="137160" y="3840269"/>
            <a:ext cx="1463040" cy="430887"/>
          </a:xfrm>
          <a:prstGeom prst="rect">
            <a:avLst/>
          </a:prstGeom>
          <a:noFill/>
        </p:spPr>
        <p:txBody>
          <a:bodyPr wrap="square">
            <a:spAutoFit/>
          </a:bodyPr>
          <a:lstStyle/>
          <a:p>
            <a:r>
              <a:rPr lang="nl-BE" sz="1100" b="1" dirty="0">
                <a:solidFill>
                  <a:srgbClr val="0099FF"/>
                </a:solidFill>
              </a:rPr>
              <a:t>USR2526AI03-83</a:t>
            </a:r>
          </a:p>
          <a:p>
            <a:pPr algn="l"/>
            <a:endParaRPr sz="1100" b="1" i="0" dirty="0">
              <a:solidFill>
                <a:srgbClr val="0099FF"/>
              </a:solidFill>
            </a:endParaRPr>
          </a:p>
        </p:txBody>
      </p:sp>
      <p:sp>
        <p:nvSpPr>
          <p:cNvPr id="141" name="TextBox 22">
            <a:extLst>
              <a:ext uri="{FF2B5EF4-FFF2-40B4-BE49-F238E27FC236}">
                <a16:creationId xmlns:a16="http://schemas.microsoft.com/office/drawing/2014/main" id="{A6FC7166-4B4E-A7A7-5BF9-F757C6552E4B}"/>
              </a:ext>
            </a:extLst>
          </p:cNvPr>
          <p:cNvSpPr txBox="1"/>
          <p:nvPr/>
        </p:nvSpPr>
        <p:spPr>
          <a:xfrm>
            <a:off x="1353184" y="3821373"/>
            <a:ext cx="1828800" cy="261610"/>
          </a:xfrm>
          <a:prstGeom prst="rect">
            <a:avLst/>
          </a:prstGeom>
          <a:noFill/>
        </p:spPr>
        <p:txBody>
          <a:bodyPr wrap="square">
            <a:spAutoFit/>
          </a:bodyPr>
          <a:lstStyle/>
          <a:p>
            <a:pPr algn="l"/>
            <a:r>
              <a:rPr lang="en-US" sz="1100" b="1" dirty="0" err="1">
                <a:solidFill>
                  <a:srgbClr val="FFFFFF"/>
                </a:solidFill>
              </a:rPr>
              <a:t>Simulatie</a:t>
            </a:r>
            <a:r>
              <a:rPr lang="en-US" sz="1100" b="1" dirty="0">
                <a:solidFill>
                  <a:srgbClr val="FFFFFF"/>
                </a:solidFill>
              </a:rPr>
              <a:t> </a:t>
            </a:r>
            <a:r>
              <a:rPr lang="en-US" sz="1100" b="1" dirty="0" err="1">
                <a:solidFill>
                  <a:srgbClr val="FFFFFF"/>
                </a:solidFill>
              </a:rPr>
              <a:t>besturing</a:t>
            </a:r>
            <a:endParaRPr sz="1100" b="1" i="0" dirty="0">
              <a:solidFill>
                <a:srgbClr val="FFFFFF"/>
              </a:solidFill>
            </a:endParaRPr>
          </a:p>
        </p:txBody>
      </p:sp>
      <p:sp>
        <p:nvSpPr>
          <p:cNvPr id="142" name="TextBox 23">
            <a:extLst>
              <a:ext uri="{FF2B5EF4-FFF2-40B4-BE49-F238E27FC236}">
                <a16:creationId xmlns:a16="http://schemas.microsoft.com/office/drawing/2014/main" id="{38232D6F-E92A-AF3C-817B-8B0E0BFBA944}"/>
              </a:ext>
            </a:extLst>
          </p:cNvPr>
          <p:cNvSpPr txBox="1"/>
          <p:nvPr/>
        </p:nvSpPr>
        <p:spPr>
          <a:xfrm>
            <a:off x="2788920" y="3803693"/>
            <a:ext cx="4937760" cy="415498"/>
          </a:xfrm>
          <a:prstGeom prst="rect">
            <a:avLst/>
          </a:prstGeom>
          <a:noFill/>
        </p:spPr>
        <p:txBody>
          <a:bodyPr wrap="square">
            <a:spAutoFit/>
          </a:bodyPr>
          <a:lstStyle/>
          <a:p>
            <a:r>
              <a:rPr lang="nl-BE" sz="1050" dirty="0">
                <a:solidFill>
                  <a:srgbClr val="B0C4D8"/>
                </a:solidFill>
              </a:rPr>
              <a:t>Als verkeersdeskundige of lid van het stadsbestuur wil ik een verkeersregelstrategie (Baseline of SAM) kunnen selecteren zodat ik hun prestaties kan vergelijken.</a:t>
            </a:r>
            <a:endParaRPr sz="1050" b="0" i="0" dirty="0">
              <a:solidFill>
                <a:srgbClr val="B0C4D8"/>
              </a:solidFill>
            </a:endParaRPr>
          </a:p>
        </p:txBody>
      </p:sp>
      <p:sp>
        <p:nvSpPr>
          <p:cNvPr id="143" name="TextBox 26">
            <a:extLst>
              <a:ext uri="{FF2B5EF4-FFF2-40B4-BE49-F238E27FC236}">
                <a16:creationId xmlns:a16="http://schemas.microsoft.com/office/drawing/2014/main" id="{53D92429-4C63-0E0F-31FC-8DEE943612FB}"/>
              </a:ext>
            </a:extLst>
          </p:cNvPr>
          <p:cNvSpPr txBox="1"/>
          <p:nvPr/>
        </p:nvSpPr>
        <p:spPr>
          <a:xfrm>
            <a:off x="9372600" y="3895133"/>
            <a:ext cx="1097280" cy="253916"/>
          </a:xfrm>
          <a:prstGeom prst="rect">
            <a:avLst/>
          </a:prstGeom>
          <a:noFill/>
        </p:spPr>
        <p:txBody>
          <a:bodyPr wrap="square">
            <a:spAutoFit/>
          </a:bodyPr>
          <a:lstStyle/>
          <a:p>
            <a:pPr algn="l"/>
            <a:r>
              <a:rPr sz="1050" b="1" i="0" dirty="0">
                <a:solidFill>
                  <a:srgbClr val="FFBF00"/>
                </a:solidFill>
              </a:rPr>
              <a:t>  </a:t>
            </a:r>
            <a:r>
              <a:rPr lang="nl-BE" sz="1050" b="1" dirty="0">
                <a:solidFill>
                  <a:srgbClr val="FFBF00"/>
                </a:solidFill>
              </a:rPr>
              <a:t>8</a:t>
            </a:r>
            <a:r>
              <a:rPr sz="1050" b="1" i="0" dirty="0">
                <a:solidFill>
                  <a:srgbClr val="FFBF00"/>
                </a:solidFill>
              </a:rPr>
              <a:t> SP</a:t>
            </a:r>
          </a:p>
        </p:txBody>
      </p:sp>
      <p:sp>
        <p:nvSpPr>
          <p:cNvPr id="144" name="TextBox 27">
            <a:extLst>
              <a:ext uri="{FF2B5EF4-FFF2-40B4-BE49-F238E27FC236}">
                <a16:creationId xmlns:a16="http://schemas.microsoft.com/office/drawing/2014/main" id="{50153533-1C42-4E06-2ECB-A8660A77BBB7}"/>
              </a:ext>
            </a:extLst>
          </p:cNvPr>
          <p:cNvSpPr txBox="1"/>
          <p:nvPr/>
        </p:nvSpPr>
        <p:spPr>
          <a:xfrm>
            <a:off x="10652760" y="3895133"/>
            <a:ext cx="640080" cy="261610"/>
          </a:xfrm>
          <a:prstGeom prst="rect">
            <a:avLst/>
          </a:prstGeom>
          <a:noFill/>
        </p:spPr>
        <p:txBody>
          <a:bodyPr wrap="square">
            <a:spAutoFit/>
          </a:bodyPr>
          <a:lstStyle/>
          <a:p>
            <a:pPr algn="ctr"/>
            <a:r>
              <a:rPr sz="1100" b="1" i="0" dirty="0">
                <a:solidFill>
                  <a:srgbClr val="00E596"/>
                </a:solidFill>
              </a:rPr>
              <a:t>S</a:t>
            </a:r>
            <a:r>
              <a:rPr lang="nl-BE" sz="1100" b="1" i="0" dirty="0">
                <a:solidFill>
                  <a:srgbClr val="00E596"/>
                </a:solidFill>
              </a:rPr>
              <a:t>2</a:t>
            </a:r>
            <a:endParaRPr sz="1100" b="1" i="0" dirty="0">
              <a:solidFill>
                <a:srgbClr val="00E596"/>
              </a:solidFill>
            </a:endParaRPr>
          </a:p>
        </p:txBody>
      </p:sp>
      <p:sp>
        <p:nvSpPr>
          <p:cNvPr id="145" name="Rectangle 28">
            <a:extLst>
              <a:ext uri="{FF2B5EF4-FFF2-40B4-BE49-F238E27FC236}">
                <a16:creationId xmlns:a16="http://schemas.microsoft.com/office/drawing/2014/main" id="{370C5D8D-8908-D911-7FCA-AB31BB3D98C9}"/>
              </a:ext>
            </a:extLst>
          </p:cNvPr>
          <p:cNvSpPr/>
          <p:nvPr/>
        </p:nvSpPr>
        <p:spPr>
          <a:xfrm>
            <a:off x="73152" y="4388909"/>
            <a:ext cx="11658600" cy="621792"/>
          </a:xfrm>
          <a:prstGeom prst="rect">
            <a:avLst/>
          </a:prstGeom>
          <a:solidFill>
            <a:srgbClr val="1628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TextBox 29">
            <a:extLst>
              <a:ext uri="{FF2B5EF4-FFF2-40B4-BE49-F238E27FC236}">
                <a16:creationId xmlns:a16="http://schemas.microsoft.com/office/drawing/2014/main" id="{E0B1E886-6D20-719E-A639-C7B988F752DB}"/>
              </a:ext>
            </a:extLst>
          </p:cNvPr>
          <p:cNvSpPr txBox="1"/>
          <p:nvPr/>
        </p:nvSpPr>
        <p:spPr>
          <a:xfrm>
            <a:off x="137160" y="4498637"/>
            <a:ext cx="1160756" cy="261610"/>
          </a:xfrm>
          <a:prstGeom prst="rect">
            <a:avLst/>
          </a:prstGeom>
          <a:noFill/>
        </p:spPr>
        <p:txBody>
          <a:bodyPr wrap="square">
            <a:spAutoFit/>
          </a:bodyPr>
          <a:lstStyle/>
          <a:p>
            <a:r>
              <a:rPr lang="nl-BE" sz="1100" b="1" dirty="0">
                <a:solidFill>
                  <a:srgbClr val="0099FF"/>
                </a:solidFill>
              </a:rPr>
              <a:t>USR2526AI03-25</a:t>
            </a:r>
          </a:p>
        </p:txBody>
      </p:sp>
      <p:sp>
        <p:nvSpPr>
          <p:cNvPr id="147" name="TextBox 30">
            <a:extLst>
              <a:ext uri="{FF2B5EF4-FFF2-40B4-BE49-F238E27FC236}">
                <a16:creationId xmlns:a16="http://schemas.microsoft.com/office/drawing/2014/main" id="{903180D5-8CBA-31FD-863C-17E89627B7F5}"/>
              </a:ext>
            </a:extLst>
          </p:cNvPr>
          <p:cNvSpPr txBox="1"/>
          <p:nvPr/>
        </p:nvSpPr>
        <p:spPr>
          <a:xfrm>
            <a:off x="1361924" y="4480571"/>
            <a:ext cx="1828800" cy="430887"/>
          </a:xfrm>
          <a:prstGeom prst="rect">
            <a:avLst/>
          </a:prstGeom>
          <a:noFill/>
        </p:spPr>
        <p:txBody>
          <a:bodyPr wrap="square">
            <a:spAutoFit/>
          </a:bodyPr>
          <a:lstStyle/>
          <a:p>
            <a:pPr algn="l"/>
            <a:r>
              <a:rPr lang="en-US" sz="1100" b="1" dirty="0" err="1">
                <a:solidFill>
                  <a:srgbClr val="FFFFFF"/>
                </a:solidFill>
              </a:rPr>
              <a:t>Waarschuwingen</a:t>
            </a:r>
            <a:r>
              <a:rPr lang="en-US" sz="1100" b="1" dirty="0">
                <a:solidFill>
                  <a:srgbClr val="FFFFFF"/>
                </a:solidFill>
              </a:rPr>
              <a:t> </a:t>
            </a:r>
            <a:r>
              <a:rPr lang="en-US" sz="1100" b="1" dirty="0" err="1">
                <a:solidFill>
                  <a:srgbClr val="FFFFFF"/>
                </a:solidFill>
              </a:rPr>
              <a:t>en</a:t>
            </a:r>
            <a:endParaRPr lang="en-US" sz="1100" b="1" dirty="0">
              <a:solidFill>
                <a:srgbClr val="FFFFFF"/>
              </a:solidFill>
            </a:endParaRPr>
          </a:p>
          <a:p>
            <a:pPr algn="l"/>
            <a:r>
              <a:rPr lang="en-US" sz="1100" b="1" i="0" dirty="0" err="1">
                <a:solidFill>
                  <a:srgbClr val="FFFFFF"/>
                </a:solidFill>
              </a:rPr>
              <a:t>meldingen</a:t>
            </a:r>
            <a:endParaRPr sz="1100" b="1" i="0" dirty="0">
              <a:solidFill>
                <a:srgbClr val="FFFFFF"/>
              </a:solidFill>
            </a:endParaRPr>
          </a:p>
        </p:txBody>
      </p:sp>
      <p:sp>
        <p:nvSpPr>
          <p:cNvPr id="148" name="TextBox 31">
            <a:extLst>
              <a:ext uri="{FF2B5EF4-FFF2-40B4-BE49-F238E27FC236}">
                <a16:creationId xmlns:a16="http://schemas.microsoft.com/office/drawing/2014/main" id="{D3088F58-4BCD-380D-9421-7F6177FC2879}"/>
              </a:ext>
            </a:extLst>
          </p:cNvPr>
          <p:cNvSpPr txBox="1"/>
          <p:nvPr/>
        </p:nvSpPr>
        <p:spPr>
          <a:xfrm>
            <a:off x="2788920" y="4462061"/>
            <a:ext cx="4937760" cy="415498"/>
          </a:xfrm>
          <a:prstGeom prst="rect">
            <a:avLst/>
          </a:prstGeom>
          <a:noFill/>
        </p:spPr>
        <p:txBody>
          <a:bodyPr wrap="square">
            <a:spAutoFit/>
          </a:bodyPr>
          <a:lstStyle/>
          <a:p>
            <a:r>
              <a:rPr lang="nl-BE" sz="1050" dirty="0">
                <a:solidFill>
                  <a:srgbClr val="B0C4D8"/>
                </a:solidFill>
              </a:rPr>
              <a:t>Als verkeersdeskundige of lid van het stadsbestuur wil ik een waarschuwing ontvangen als ik simulatie start zonder scenario zodat ik eerst een scenario selecteer.</a:t>
            </a:r>
            <a:endParaRPr sz="1050" b="0" i="0" dirty="0">
              <a:solidFill>
                <a:srgbClr val="B0C4D8"/>
              </a:solidFill>
            </a:endParaRPr>
          </a:p>
        </p:txBody>
      </p:sp>
      <p:sp>
        <p:nvSpPr>
          <p:cNvPr id="149" name="TextBox 34">
            <a:extLst>
              <a:ext uri="{FF2B5EF4-FFF2-40B4-BE49-F238E27FC236}">
                <a16:creationId xmlns:a16="http://schemas.microsoft.com/office/drawing/2014/main" id="{3799F268-2206-3FAB-A87E-0AD9F577E193}"/>
              </a:ext>
            </a:extLst>
          </p:cNvPr>
          <p:cNvSpPr txBox="1"/>
          <p:nvPr/>
        </p:nvSpPr>
        <p:spPr>
          <a:xfrm>
            <a:off x="9372600" y="4553501"/>
            <a:ext cx="1097280" cy="253916"/>
          </a:xfrm>
          <a:prstGeom prst="rect">
            <a:avLst/>
          </a:prstGeom>
          <a:noFill/>
        </p:spPr>
        <p:txBody>
          <a:bodyPr wrap="square">
            <a:spAutoFit/>
          </a:bodyPr>
          <a:lstStyle/>
          <a:p>
            <a:pPr algn="l"/>
            <a:r>
              <a:rPr sz="1050" b="1" i="0" dirty="0">
                <a:solidFill>
                  <a:srgbClr val="FFBF00"/>
                </a:solidFill>
              </a:rPr>
              <a:t>  </a:t>
            </a:r>
            <a:r>
              <a:rPr lang="nl-BE" sz="1050" b="1" i="0" dirty="0">
                <a:solidFill>
                  <a:srgbClr val="FFBF00"/>
                </a:solidFill>
              </a:rPr>
              <a:t>3</a:t>
            </a:r>
            <a:r>
              <a:rPr sz="1050" b="1" i="0" dirty="0">
                <a:solidFill>
                  <a:srgbClr val="FFBF00"/>
                </a:solidFill>
              </a:rPr>
              <a:t>SP</a:t>
            </a:r>
          </a:p>
        </p:txBody>
      </p:sp>
      <p:sp>
        <p:nvSpPr>
          <p:cNvPr id="150" name="TextBox 35">
            <a:extLst>
              <a:ext uri="{FF2B5EF4-FFF2-40B4-BE49-F238E27FC236}">
                <a16:creationId xmlns:a16="http://schemas.microsoft.com/office/drawing/2014/main" id="{CA41DBC8-CF3D-C492-3482-DF4A5010873E}"/>
              </a:ext>
            </a:extLst>
          </p:cNvPr>
          <p:cNvSpPr txBox="1"/>
          <p:nvPr/>
        </p:nvSpPr>
        <p:spPr>
          <a:xfrm>
            <a:off x="10652760" y="4553501"/>
            <a:ext cx="640080" cy="261610"/>
          </a:xfrm>
          <a:prstGeom prst="rect">
            <a:avLst/>
          </a:prstGeom>
          <a:noFill/>
        </p:spPr>
        <p:txBody>
          <a:bodyPr wrap="square">
            <a:spAutoFit/>
          </a:bodyPr>
          <a:lstStyle/>
          <a:p>
            <a:pPr algn="ctr"/>
            <a:r>
              <a:rPr sz="1100" b="1" i="0" dirty="0">
                <a:solidFill>
                  <a:srgbClr val="00E596"/>
                </a:solidFill>
              </a:rPr>
              <a:t>S</a:t>
            </a:r>
            <a:r>
              <a:rPr lang="nl-BE" sz="1100" b="1" i="0" dirty="0">
                <a:solidFill>
                  <a:srgbClr val="00E596"/>
                </a:solidFill>
              </a:rPr>
              <a:t>2</a:t>
            </a:r>
            <a:endParaRPr sz="1100" b="1" i="0" dirty="0">
              <a:solidFill>
                <a:srgbClr val="00E596"/>
              </a:solidFill>
            </a:endParaRPr>
          </a:p>
        </p:txBody>
      </p:sp>
      <p:sp>
        <p:nvSpPr>
          <p:cNvPr id="169" name="Rectangle 60">
            <a:extLst>
              <a:ext uri="{FF2B5EF4-FFF2-40B4-BE49-F238E27FC236}">
                <a16:creationId xmlns:a16="http://schemas.microsoft.com/office/drawing/2014/main" id="{34E6CD63-6D92-D178-B273-C14005133B3A}"/>
              </a:ext>
            </a:extLst>
          </p:cNvPr>
          <p:cNvSpPr/>
          <p:nvPr/>
        </p:nvSpPr>
        <p:spPr>
          <a:xfrm>
            <a:off x="73152" y="5050562"/>
            <a:ext cx="11658600" cy="621792"/>
          </a:xfrm>
          <a:prstGeom prst="rect">
            <a:avLst/>
          </a:prstGeom>
          <a:solidFill>
            <a:srgbClr val="1628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0" name="TextBox 61">
            <a:extLst>
              <a:ext uri="{FF2B5EF4-FFF2-40B4-BE49-F238E27FC236}">
                <a16:creationId xmlns:a16="http://schemas.microsoft.com/office/drawing/2014/main" id="{16C85713-58F9-7D85-44F8-2B14900C1982}"/>
              </a:ext>
            </a:extLst>
          </p:cNvPr>
          <p:cNvSpPr txBox="1"/>
          <p:nvPr/>
        </p:nvSpPr>
        <p:spPr>
          <a:xfrm>
            <a:off x="142930" y="5256105"/>
            <a:ext cx="1224764" cy="430887"/>
          </a:xfrm>
          <a:prstGeom prst="rect">
            <a:avLst/>
          </a:prstGeom>
          <a:noFill/>
        </p:spPr>
        <p:txBody>
          <a:bodyPr wrap="square">
            <a:spAutoFit/>
          </a:bodyPr>
          <a:lstStyle/>
          <a:p>
            <a:r>
              <a:rPr lang="nl-BE" sz="1100" b="1" dirty="0">
                <a:solidFill>
                  <a:srgbClr val="0099FF"/>
                </a:solidFill>
              </a:rPr>
              <a:t>USR2526AI03-27</a:t>
            </a:r>
          </a:p>
          <a:p>
            <a:pPr algn="l"/>
            <a:endParaRPr sz="1100" b="1" i="0" dirty="0">
              <a:solidFill>
                <a:srgbClr val="0099FF"/>
              </a:solidFill>
            </a:endParaRPr>
          </a:p>
        </p:txBody>
      </p:sp>
      <p:sp>
        <p:nvSpPr>
          <p:cNvPr id="171" name="TextBox 62">
            <a:extLst>
              <a:ext uri="{FF2B5EF4-FFF2-40B4-BE49-F238E27FC236}">
                <a16:creationId xmlns:a16="http://schemas.microsoft.com/office/drawing/2014/main" id="{E7B3E1DE-8E19-A8DF-FD7D-BFE2FD8D2C46}"/>
              </a:ext>
            </a:extLst>
          </p:cNvPr>
          <p:cNvSpPr txBox="1"/>
          <p:nvPr/>
        </p:nvSpPr>
        <p:spPr>
          <a:xfrm>
            <a:off x="1367694" y="5239479"/>
            <a:ext cx="1727254" cy="261610"/>
          </a:xfrm>
          <a:prstGeom prst="rect">
            <a:avLst/>
          </a:prstGeom>
          <a:noFill/>
        </p:spPr>
        <p:txBody>
          <a:bodyPr wrap="square">
            <a:spAutoFit/>
          </a:bodyPr>
          <a:lstStyle/>
          <a:p>
            <a:pPr algn="l"/>
            <a:r>
              <a:rPr lang="en-US" sz="1100" b="1" dirty="0" err="1">
                <a:solidFill>
                  <a:srgbClr val="FFFFFF"/>
                </a:solidFill>
              </a:rPr>
              <a:t>Simulatie</a:t>
            </a:r>
            <a:r>
              <a:rPr lang="en-US" sz="1100" b="1" dirty="0">
                <a:solidFill>
                  <a:srgbClr val="FFFFFF"/>
                </a:solidFill>
              </a:rPr>
              <a:t> </a:t>
            </a:r>
            <a:r>
              <a:rPr lang="en-US" sz="1100" b="1" dirty="0" err="1">
                <a:solidFill>
                  <a:srgbClr val="FFFFFF"/>
                </a:solidFill>
              </a:rPr>
              <a:t>besturing</a:t>
            </a:r>
            <a:endParaRPr sz="1100" b="1" i="0" dirty="0">
              <a:solidFill>
                <a:srgbClr val="FFFFFF"/>
              </a:solidFill>
            </a:endParaRPr>
          </a:p>
        </p:txBody>
      </p:sp>
      <p:sp>
        <p:nvSpPr>
          <p:cNvPr id="172" name="TextBox 63">
            <a:extLst>
              <a:ext uri="{FF2B5EF4-FFF2-40B4-BE49-F238E27FC236}">
                <a16:creationId xmlns:a16="http://schemas.microsoft.com/office/drawing/2014/main" id="{E9979294-A667-1F07-07AB-C1CF28AAC10C}"/>
              </a:ext>
            </a:extLst>
          </p:cNvPr>
          <p:cNvSpPr txBox="1"/>
          <p:nvPr/>
        </p:nvSpPr>
        <p:spPr>
          <a:xfrm>
            <a:off x="2794690" y="5184885"/>
            <a:ext cx="4937760" cy="415498"/>
          </a:xfrm>
          <a:prstGeom prst="rect">
            <a:avLst/>
          </a:prstGeom>
          <a:noFill/>
        </p:spPr>
        <p:txBody>
          <a:bodyPr wrap="square">
            <a:spAutoFit/>
          </a:bodyPr>
          <a:lstStyle/>
          <a:p>
            <a:r>
              <a:rPr lang="nl-BE" sz="1050" dirty="0">
                <a:solidFill>
                  <a:srgbClr val="B0C4D8"/>
                </a:solidFill>
              </a:rPr>
              <a:t>Als verkeersdeskundige of lid van het stadsbestuur wil ik een actieve simulatie kunnen stoppen zodat ik opnieuw kan starten of parameters kan wijzigen.</a:t>
            </a:r>
            <a:endParaRPr sz="1050" b="0" i="0" dirty="0">
              <a:solidFill>
                <a:srgbClr val="B0C4D8"/>
              </a:solidFill>
            </a:endParaRPr>
          </a:p>
        </p:txBody>
      </p:sp>
      <p:sp>
        <p:nvSpPr>
          <p:cNvPr id="173" name="TextBox 66">
            <a:extLst>
              <a:ext uri="{FF2B5EF4-FFF2-40B4-BE49-F238E27FC236}">
                <a16:creationId xmlns:a16="http://schemas.microsoft.com/office/drawing/2014/main" id="{8DE3F69B-D8EC-D42B-88ED-8ABF43FB2669}"/>
              </a:ext>
            </a:extLst>
          </p:cNvPr>
          <p:cNvSpPr txBox="1"/>
          <p:nvPr/>
        </p:nvSpPr>
        <p:spPr>
          <a:xfrm>
            <a:off x="9332650" y="5234500"/>
            <a:ext cx="1097280" cy="253916"/>
          </a:xfrm>
          <a:prstGeom prst="rect">
            <a:avLst/>
          </a:prstGeom>
          <a:noFill/>
        </p:spPr>
        <p:txBody>
          <a:bodyPr wrap="square">
            <a:spAutoFit/>
          </a:bodyPr>
          <a:lstStyle/>
          <a:p>
            <a:pPr algn="l"/>
            <a:r>
              <a:rPr sz="1050" b="1" i="0" dirty="0">
                <a:solidFill>
                  <a:srgbClr val="FFBF00"/>
                </a:solidFill>
              </a:rPr>
              <a:t> </a:t>
            </a:r>
            <a:r>
              <a:rPr lang="en-US" sz="1050" b="1" i="0" dirty="0">
                <a:solidFill>
                  <a:srgbClr val="FFBF00"/>
                </a:solidFill>
              </a:rPr>
              <a:t> </a:t>
            </a:r>
            <a:r>
              <a:rPr lang="en-US" sz="1050" b="1" dirty="0">
                <a:solidFill>
                  <a:srgbClr val="FFBF00"/>
                </a:solidFill>
              </a:rPr>
              <a:t>5</a:t>
            </a:r>
            <a:r>
              <a:rPr sz="1050" b="1" i="0" dirty="0">
                <a:solidFill>
                  <a:srgbClr val="FFBF00"/>
                </a:solidFill>
              </a:rPr>
              <a:t> SP</a:t>
            </a:r>
          </a:p>
        </p:txBody>
      </p:sp>
      <p:sp>
        <p:nvSpPr>
          <p:cNvPr id="174" name="TextBox 67">
            <a:extLst>
              <a:ext uri="{FF2B5EF4-FFF2-40B4-BE49-F238E27FC236}">
                <a16:creationId xmlns:a16="http://schemas.microsoft.com/office/drawing/2014/main" id="{D8F024C4-ADDB-57FA-9A66-41DDD0647DCC}"/>
              </a:ext>
            </a:extLst>
          </p:cNvPr>
          <p:cNvSpPr txBox="1"/>
          <p:nvPr/>
        </p:nvSpPr>
        <p:spPr>
          <a:xfrm>
            <a:off x="10662082" y="5230368"/>
            <a:ext cx="640080" cy="261610"/>
          </a:xfrm>
          <a:prstGeom prst="rect">
            <a:avLst/>
          </a:prstGeom>
          <a:noFill/>
        </p:spPr>
        <p:txBody>
          <a:bodyPr wrap="square">
            <a:spAutoFit/>
          </a:bodyPr>
          <a:lstStyle/>
          <a:p>
            <a:pPr algn="ctr"/>
            <a:r>
              <a:rPr sz="1100" b="1" i="0" dirty="0">
                <a:solidFill>
                  <a:srgbClr val="00E596"/>
                </a:solidFill>
              </a:rPr>
              <a:t>S</a:t>
            </a:r>
            <a:r>
              <a:rPr lang="nl-BE" sz="1100" b="1" i="0" dirty="0">
                <a:solidFill>
                  <a:srgbClr val="00E596"/>
                </a:solidFill>
              </a:rPr>
              <a:t>2</a:t>
            </a:r>
            <a:endParaRPr sz="1100" b="1" i="0" dirty="0">
              <a:solidFill>
                <a:srgbClr val="00E596"/>
              </a:solidFill>
            </a:endParaRPr>
          </a:p>
        </p:txBody>
      </p:sp>
      <p:pic>
        <p:nvPicPr>
          <p:cNvPr id="175" name="Graphic 174">
            <a:extLst>
              <a:ext uri="{FF2B5EF4-FFF2-40B4-BE49-F238E27FC236}">
                <a16:creationId xmlns:a16="http://schemas.microsoft.com/office/drawing/2014/main" id="{C202F51C-4E7C-CA36-A1C2-F1834209E4B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978806" y="3128020"/>
            <a:ext cx="525114" cy="525114"/>
          </a:xfrm>
          <a:prstGeom prst="rect">
            <a:avLst/>
          </a:prstGeom>
        </p:spPr>
      </p:pic>
      <p:pic>
        <p:nvPicPr>
          <p:cNvPr id="177" name="Graphic 176">
            <a:extLst>
              <a:ext uri="{FF2B5EF4-FFF2-40B4-BE49-F238E27FC236}">
                <a16:creationId xmlns:a16="http://schemas.microsoft.com/office/drawing/2014/main" id="{166916BF-22E0-CBA0-1ECD-243BF87CC08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054757" y="4498638"/>
            <a:ext cx="449430" cy="449430"/>
          </a:xfrm>
          <a:prstGeom prst="rect">
            <a:avLst/>
          </a:prstGeom>
        </p:spPr>
      </p:pic>
      <p:pic>
        <p:nvPicPr>
          <p:cNvPr id="181" name="Graphic 180">
            <a:extLst>
              <a:ext uri="{FF2B5EF4-FFF2-40B4-BE49-F238E27FC236}">
                <a16:creationId xmlns:a16="http://schemas.microsoft.com/office/drawing/2014/main" id="{6161C5CB-C75A-6C1B-8028-539F91D3FE4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039846" y="5107727"/>
            <a:ext cx="525114" cy="525114"/>
          </a:xfrm>
          <a:prstGeom prst="rect">
            <a:avLst/>
          </a:prstGeom>
        </p:spPr>
      </p:pic>
      <p:sp>
        <p:nvSpPr>
          <p:cNvPr id="182" name="Tekstvak 181">
            <a:extLst>
              <a:ext uri="{FF2B5EF4-FFF2-40B4-BE49-F238E27FC236}">
                <a16:creationId xmlns:a16="http://schemas.microsoft.com/office/drawing/2014/main" id="{9FE9022A-6F5D-84A5-7916-ADB32E73FE8C}"/>
              </a:ext>
            </a:extLst>
          </p:cNvPr>
          <p:cNvSpPr txBox="1"/>
          <p:nvPr/>
        </p:nvSpPr>
        <p:spPr>
          <a:xfrm>
            <a:off x="7909560" y="621792"/>
            <a:ext cx="3566160" cy="276999"/>
          </a:xfrm>
          <a:prstGeom prst="rect">
            <a:avLst/>
          </a:prstGeom>
          <a:noFill/>
        </p:spPr>
        <p:txBody>
          <a:bodyPr wrap="square" rtlCol="0">
            <a:spAutoFit/>
          </a:bodyPr>
          <a:lstStyle/>
          <a:p>
            <a:r>
              <a:rPr lang="nl-BE" sz="1200" dirty="0">
                <a:solidFill>
                  <a:srgbClr val="0099CC"/>
                </a:solidFill>
              </a:rPr>
              <a:t>druk </a:t>
            </a:r>
            <a:r>
              <a:rPr lang="nl-BE" sz="1200" dirty="0">
                <a:solidFill>
                  <a:srgbClr val="0099CC"/>
                </a:solidFill>
                <a:hlinkClick r:id="rId4"/>
              </a:rPr>
              <a:t>hier</a:t>
            </a:r>
            <a:r>
              <a:rPr lang="nl-BE" sz="1200" dirty="0">
                <a:solidFill>
                  <a:srgbClr val="0099CC"/>
                </a:solidFill>
              </a:rPr>
              <a:t> om alle user </a:t>
            </a:r>
            <a:r>
              <a:rPr lang="nl-BE" sz="1200" dirty="0" err="1">
                <a:solidFill>
                  <a:srgbClr val="0099CC"/>
                </a:solidFill>
              </a:rPr>
              <a:t>stories</a:t>
            </a:r>
            <a:r>
              <a:rPr lang="nl-BE" sz="1200" dirty="0">
                <a:solidFill>
                  <a:srgbClr val="0099CC"/>
                </a:solidFill>
              </a:rPr>
              <a:t> te zien</a:t>
            </a:r>
          </a:p>
        </p:txBody>
      </p:sp>
      <p:pic>
        <p:nvPicPr>
          <p:cNvPr id="11" name="Graphic 10">
            <a:extLst>
              <a:ext uri="{FF2B5EF4-FFF2-40B4-BE49-F238E27FC236}">
                <a16:creationId xmlns:a16="http://schemas.microsoft.com/office/drawing/2014/main" id="{D24A3808-EB5F-1568-E313-BAC0B2977C1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978806" y="3759534"/>
            <a:ext cx="525114" cy="52511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3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3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3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3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3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33"/>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75"/>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41"/>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42"/>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43"/>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44"/>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40"/>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39"/>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11"/>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146"/>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47"/>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49"/>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48"/>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145"/>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77"/>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150"/>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171"/>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172"/>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173"/>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174"/>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181"/>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169"/>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170"/>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67"/>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p:bldP spid="9" grpId="0"/>
      <p:bldP spid="67" grpId="0" animBg="1"/>
      <p:bldP spid="68" grpId="0"/>
      <p:bldP spid="126" grpId="0" animBg="1"/>
      <p:bldP spid="127" grpId="0"/>
      <p:bldP spid="128" grpId="0"/>
      <p:bldP spid="129" grpId="0"/>
      <p:bldP spid="130" grpId="0"/>
      <p:bldP spid="131" grpId="0"/>
      <p:bldP spid="132" grpId="0"/>
      <p:bldP spid="133" grpId="0" animBg="1"/>
      <p:bldP spid="134" grpId="0"/>
      <p:bldP spid="135" grpId="0"/>
      <p:bldP spid="136" grpId="0"/>
      <p:bldP spid="137" grpId="0"/>
      <p:bldP spid="138" grpId="0"/>
      <p:bldP spid="139" grpId="0" animBg="1"/>
      <p:bldP spid="140" grpId="0"/>
      <p:bldP spid="141" grpId="0"/>
      <p:bldP spid="142" grpId="0"/>
      <p:bldP spid="143" grpId="0"/>
      <p:bldP spid="144" grpId="0"/>
      <p:bldP spid="145" grpId="0" animBg="1"/>
      <p:bldP spid="146" grpId="0"/>
      <p:bldP spid="147" grpId="0"/>
      <p:bldP spid="148" grpId="0"/>
      <p:bldP spid="149" grpId="0"/>
      <p:bldP spid="150" grpId="0"/>
      <p:bldP spid="169" grpId="0" animBg="1"/>
      <p:bldP spid="170" grpId="0"/>
      <p:bldP spid="171" grpId="0"/>
      <p:bldP spid="172" grpId="0"/>
      <p:bldP spid="173" grpId="0"/>
      <p:bldP spid="174"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ectangle 1"/>
          <p:cNvSpPr/>
          <p:nvPr/>
        </p:nvSpPr>
        <p:spPr>
          <a:xfrm>
            <a:off x="0" y="0"/>
            <a:ext cx="91440" cy="6858000"/>
          </a:xfrm>
          <a:prstGeom prst="rect">
            <a:avLst/>
          </a:prstGeom>
          <a:solidFill>
            <a:srgbClr val="00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803136"/>
            <a:ext cx="12188952" cy="54864"/>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371600" y="1645920"/>
            <a:ext cx="9144000" cy="1200329"/>
          </a:xfrm>
          <a:prstGeom prst="rect">
            <a:avLst/>
          </a:prstGeom>
          <a:noFill/>
        </p:spPr>
        <p:txBody>
          <a:bodyPr wrap="square">
            <a:spAutoFit/>
          </a:bodyPr>
          <a:lstStyle/>
          <a:p>
            <a:pPr algn="ctr"/>
            <a:r>
              <a:rPr sz="7200" b="1" i="0" dirty="0" err="1">
                <a:solidFill>
                  <a:srgbClr val="0099FF"/>
                </a:solidFill>
              </a:rPr>
              <a:t>Vragen</a:t>
            </a:r>
            <a:r>
              <a:rPr sz="7200" b="1" i="0" dirty="0">
                <a:solidFill>
                  <a:srgbClr val="0099FF"/>
                </a:solidFill>
              </a:rPr>
              <a:t>?</a:t>
            </a:r>
          </a:p>
        </p:txBody>
      </p:sp>
      <p:sp>
        <p:nvSpPr>
          <p:cNvPr id="5" name="TextBox 4"/>
          <p:cNvSpPr txBox="1"/>
          <p:nvPr/>
        </p:nvSpPr>
        <p:spPr>
          <a:xfrm>
            <a:off x="1371600" y="3200400"/>
            <a:ext cx="9144000" cy="369332"/>
          </a:xfrm>
          <a:prstGeom prst="rect">
            <a:avLst/>
          </a:prstGeom>
          <a:noFill/>
        </p:spPr>
        <p:txBody>
          <a:bodyPr wrap="square">
            <a:spAutoFit/>
          </a:bodyPr>
          <a:lstStyle/>
          <a:p>
            <a:pPr algn="ctr"/>
            <a:r>
              <a:rPr sz="1800" b="0" i="0" dirty="0">
                <a:solidFill>
                  <a:srgbClr val="B0C4D8"/>
                </a:solidFill>
              </a:rPr>
              <a:t>VROOM – Sprint </a:t>
            </a:r>
            <a:r>
              <a:rPr lang="nl-BE" sz="1800" b="0" i="0" dirty="0">
                <a:solidFill>
                  <a:srgbClr val="B0C4D8"/>
                </a:solidFill>
              </a:rPr>
              <a:t>1</a:t>
            </a:r>
            <a:r>
              <a:rPr sz="1800" b="0" i="0" dirty="0">
                <a:solidFill>
                  <a:srgbClr val="B0C4D8"/>
                </a:solidFill>
              </a:rPr>
              <a:t> | Research Project AIN 2025-26</a:t>
            </a:r>
          </a:p>
        </p:txBody>
      </p:sp>
      <p:sp>
        <p:nvSpPr>
          <p:cNvPr id="6" name="Rectangle 5"/>
          <p:cNvSpPr/>
          <p:nvPr/>
        </p:nvSpPr>
        <p:spPr>
          <a:xfrm>
            <a:off x="4114800" y="3794760"/>
            <a:ext cx="3959352" cy="36576"/>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200400" y="4114800"/>
            <a:ext cx="1828800" cy="292388"/>
          </a:xfrm>
          <a:prstGeom prst="rect">
            <a:avLst/>
          </a:prstGeom>
          <a:noFill/>
        </p:spPr>
        <p:txBody>
          <a:bodyPr wrap="square">
            <a:spAutoFit/>
          </a:bodyPr>
          <a:lstStyle/>
          <a:p>
            <a:pPr algn="r"/>
            <a:r>
              <a:rPr lang="nl-BE" sz="1300" b="1" dirty="0">
                <a:solidFill>
                  <a:srgbClr val="B0C4D8"/>
                </a:solidFill>
              </a:rPr>
              <a:t>Team AIN3</a:t>
            </a:r>
            <a:r>
              <a:rPr sz="1300" b="1" i="0" dirty="0">
                <a:solidFill>
                  <a:srgbClr val="B0C4D8"/>
                </a:solidFill>
              </a:rPr>
              <a:t>:</a:t>
            </a:r>
          </a:p>
        </p:txBody>
      </p:sp>
      <p:sp>
        <p:nvSpPr>
          <p:cNvPr id="8" name="TextBox 7"/>
          <p:cNvSpPr txBox="1"/>
          <p:nvPr/>
        </p:nvSpPr>
        <p:spPr>
          <a:xfrm>
            <a:off x="5148072" y="4123944"/>
            <a:ext cx="5486400" cy="292388"/>
          </a:xfrm>
          <a:prstGeom prst="rect">
            <a:avLst/>
          </a:prstGeom>
          <a:noFill/>
        </p:spPr>
        <p:txBody>
          <a:bodyPr wrap="square">
            <a:spAutoFit/>
          </a:bodyPr>
          <a:lstStyle/>
          <a:p>
            <a:r>
              <a:rPr lang="nl-BE" sz="1300" dirty="0">
                <a:solidFill>
                  <a:srgbClr val="B0C4D8"/>
                </a:solidFill>
              </a:rPr>
              <a:t>Glenn Claes</a:t>
            </a:r>
            <a:r>
              <a:rPr sz="1300" b="0" i="0" dirty="0">
                <a:solidFill>
                  <a:srgbClr val="B0C4D8"/>
                </a:solidFill>
              </a:rPr>
              <a:t>  ·  </a:t>
            </a:r>
            <a:r>
              <a:rPr lang="nl-BE" sz="1300" dirty="0" err="1">
                <a:solidFill>
                  <a:srgbClr val="B0C4D8"/>
                </a:solidFill>
              </a:rPr>
              <a:t>Muhammed</a:t>
            </a:r>
            <a:r>
              <a:rPr lang="nl-BE" sz="1300" dirty="0">
                <a:solidFill>
                  <a:srgbClr val="B0C4D8"/>
                </a:solidFill>
              </a:rPr>
              <a:t> </a:t>
            </a:r>
            <a:r>
              <a:rPr lang="nl-BE" sz="1300" dirty="0" err="1">
                <a:solidFill>
                  <a:srgbClr val="B0C4D8"/>
                </a:solidFill>
              </a:rPr>
              <a:t>Kömürboga</a:t>
            </a:r>
            <a:r>
              <a:rPr lang="nl-BE" sz="1300" dirty="0">
                <a:solidFill>
                  <a:srgbClr val="B0C4D8"/>
                </a:solidFill>
              </a:rPr>
              <a:t> ·  Martijn </a:t>
            </a:r>
            <a:r>
              <a:rPr lang="nl-BE" sz="1300" dirty="0" err="1">
                <a:solidFill>
                  <a:srgbClr val="B0C4D8"/>
                </a:solidFill>
              </a:rPr>
              <a:t>Vanhengel</a:t>
            </a:r>
            <a:endParaRPr sz="1300" b="0" i="0" dirty="0">
              <a:solidFill>
                <a:srgbClr val="B0C4D8"/>
              </a:solidFill>
            </a:endParaRPr>
          </a:p>
        </p:txBody>
      </p:sp>
      <p:sp>
        <p:nvSpPr>
          <p:cNvPr id="9" name="TextBox 8"/>
          <p:cNvSpPr txBox="1"/>
          <p:nvPr/>
        </p:nvSpPr>
        <p:spPr>
          <a:xfrm>
            <a:off x="3200400" y="4617720"/>
            <a:ext cx="1828800" cy="365760"/>
          </a:xfrm>
          <a:prstGeom prst="rect">
            <a:avLst/>
          </a:prstGeom>
          <a:noFill/>
        </p:spPr>
        <p:txBody>
          <a:bodyPr wrap="square">
            <a:spAutoFit/>
          </a:bodyPr>
          <a:lstStyle/>
          <a:p>
            <a:pPr algn="r"/>
            <a:r>
              <a:rPr sz="1300" b="1" i="0">
                <a:solidFill>
                  <a:srgbClr val="B0C4D8"/>
                </a:solidFill>
              </a:rPr>
              <a:t>Platform:</a:t>
            </a:r>
          </a:p>
        </p:txBody>
      </p:sp>
      <p:sp>
        <p:nvSpPr>
          <p:cNvPr id="10" name="TextBox 9"/>
          <p:cNvSpPr txBox="1"/>
          <p:nvPr/>
        </p:nvSpPr>
        <p:spPr>
          <a:xfrm>
            <a:off x="5212080" y="4617720"/>
            <a:ext cx="5486400" cy="292388"/>
          </a:xfrm>
          <a:prstGeom prst="rect">
            <a:avLst/>
          </a:prstGeom>
          <a:noFill/>
        </p:spPr>
        <p:txBody>
          <a:bodyPr wrap="square">
            <a:spAutoFit/>
          </a:bodyPr>
          <a:lstStyle/>
          <a:p>
            <a:pPr algn="l"/>
            <a:r>
              <a:rPr sz="1300" b="0" i="0" dirty="0">
                <a:solidFill>
                  <a:srgbClr val="0099FF"/>
                </a:solidFill>
              </a:rPr>
              <a:t>JIRA  ·  Confluence  ·  GitHub  ·</a:t>
            </a:r>
            <a:r>
              <a:rPr lang="nl-BE" sz="1300" b="0" i="0" dirty="0">
                <a:solidFill>
                  <a:srgbClr val="0099FF"/>
                </a:solidFill>
              </a:rPr>
              <a:t> Docker Hub </a:t>
            </a:r>
            <a:endParaRPr sz="1300" b="0" i="0" dirty="0">
              <a:solidFill>
                <a:srgbClr val="0099FF"/>
              </a:solidFill>
            </a:endParaRPr>
          </a:p>
        </p:txBody>
      </p:sp>
      <p:sp>
        <p:nvSpPr>
          <p:cNvPr id="11" name="TextBox 10"/>
          <p:cNvSpPr txBox="1"/>
          <p:nvPr/>
        </p:nvSpPr>
        <p:spPr>
          <a:xfrm>
            <a:off x="3200400" y="5120640"/>
            <a:ext cx="1828800" cy="365760"/>
          </a:xfrm>
          <a:prstGeom prst="rect">
            <a:avLst/>
          </a:prstGeom>
          <a:noFill/>
        </p:spPr>
        <p:txBody>
          <a:bodyPr wrap="square">
            <a:spAutoFit/>
          </a:bodyPr>
          <a:lstStyle/>
          <a:p>
            <a:pPr algn="r"/>
            <a:r>
              <a:rPr sz="1300" b="1" i="0">
                <a:solidFill>
                  <a:srgbClr val="B0C4D8"/>
                </a:solidFill>
              </a:rPr>
              <a:t>Vak:</a:t>
            </a:r>
          </a:p>
        </p:txBody>
      </p:sp>
      <p:sp>
        <p:nvSpPr>
          <p:cNvPr id="12" name="TextBox 11"/>
          <p:cNvSpPr txBox="1"/>
          <p:nvPr/>
        </p:nvSpPr>
        <p:spPr>
          <a:xfrm>
            <a:off x="5212080" y="5120640"/>
            <a:ext cx="5486400" cy="365760"/>
          </a:xfrm>
          <a:prstGeom prst="rect">
            <a:avLst/>
          </a:prstGeom>
          <a:noFill/>
        </p:spPr>
        <p:txBody>
          <a:bodyPr wrap="square">
            <a:spAutoFit/>
          </a:bodyPr>
          <a:lstStyle/>
          <a:p>
            <a:pPr algn="l"/>
            <a:r>
              <a:rPr sz="1300" b="0" i="0">
                <a:solidFill>
                  <a:srgbClr val="00E596"/>
                </a:solidFill>
              </a:rPr>
              <a:t>42TIN2150 – Research Project AIN</a:t>
            </a:r>
          </a:p>
        </p:txBody>
      </p:sp>
      <p:sp>
        <p:nvSpPr>
          <p:cNvPr id="13" name="Tijdelijke aanduiding voor dianummer 12">
            <a:extLst>
              <a:ext uri="{FF2B5EF4-FFF2-40B4-BE49-F238E27FC236}">
                <a16:creationId xmlns:a16="http://schemas.microsoft.com/office/drawing/2014/main" id="{43A93B8A-927D-C9C1-3999-30A9814DCDFF}"/>
              </a:ext>
            </a:extLst>
          </p:cNvPr>
          <p:cNvSpPr>
            <a:spLocks noGrp="1"/>
          </p:cNvSpPr>
          <p:nvPr>
            <p:ph type="sldNum" sz="quarter" idx="12"/>
          </p:nvPr>
        </p:nvSpPr>
        <p:spPr>
          <a:xfrm>
            <a:off x="10055225" y="6483731"/>
            <a:ext cx="2133600" cy="365125"/>
          </a:xfrm>
        </p:spPr>
        <p:txBody>
          <a:bodyPr/>
          <a:lstStyle/>
          <a:p>
            <a:fld id="{C1FF6DA9-008F-8B48-92A6-B652298478BF}" type="slidenum">
              <a:rPr lang="en-US" smtClean="0"/>
              <a:t>19</a:t>
            </a:fld>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978</TotalTime>
  <Words>603</Words>
  <Application>Microsoft Office PowerPoint</Application>
  <PresentationFormat>Aangepast</PresentationFormat>
  <Paragraphs>172</Paragraphs>
  <Slides>19</Slides>
  <Notes>1</Notes>
  <HiddenSlides>0</HiddenSlides>
  <MMClips>0</MMClips>
  <ScaleCrop>false</ScaleCrop>
  <HeadingPairs>
    <vt:vector size="6" baseType="variant">
      <vt:variant>
        <vt:lpstr>Gebruikte lettertypen</vt:lpstr>
      </vt:variant>
      <vt:variant>
        <vt:i4>3</vt:i4>
      </vt:variant>
      <vt:variant>
        <vt:lpstr>Thema</vt:lpstr>
      </vt:variant>
      <vt:variant>
        <vt:i4>1</vt:i4>
      </vt:variant>
      <vt:variant>
        <vt:lpstr>Diatitels</vt:lpstr>
      </vt:variant>
      <vt:variant>
        <vt:i4>19</vt:i4>
      </vt:variant>
    </vt:vector>
  </HeadingPairs>
  <TitlesOfParts>
    <vt:vector size="23" baseType="lpstr">
      <vt:lpstr>Aptos</vt:lpstr>
      <vt:lpstr>Arial</vt:lpstr>
      <vt:lpstr>Calibri</vt:lpstr>
      <vt:lpstr>Office Theme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Glenn Claes</dc:creator>
  <cp:keywords/>
  <dc:description>generated using python-pptx</dc:description>
  <cp:lastModifiedBy>Glenn Claes</cp:lastModifiedBy>
  <cp:revision>32</cp:revision>
  <dcterms:created xsi:type="dcterms:W3CDTF">2013-01-27T09:14:16Z</dcterms:created>
  <dcterms:modified xsi:type="dcterms:W3CDTF">2026-03-29T16:29:29Z</dcterms:modified>
  <cp:category/>
</cp:coreProperties>
</file>